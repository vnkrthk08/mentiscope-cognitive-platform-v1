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image" Target="../media/image-10-1.png"/><Relationship Id="rId6" Type="http://schemas.openxmlformats.org/officeDocument/2006/relationships/image" Target="../media/image-10-1.png"/><Relationship Id="rId7" Type="http://schemas.openxmlformats.org/officeDocument/2006/relationships/image" Target="../media/image-10-1.png"/><Relationship Id="rId8" Type="http://schemas.openxmlformats.org/officeDocument/2006/relationships/image" Target="../media/image-10-1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21D33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MENTISCOPE  •  AI-DRIVEN COGNITIVE ASSESSMENT PLATFORM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Quantitative Ability (Gq)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Engine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7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Blueprint: Item Generation, Difficulty Calibration, Adaptive Routing,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7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Control, Behavioral Analytics &amp; Assessment SDK Design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914400" cy="0"/>
          </a:xfrm>
          <a:prstGeom prst="line">
            <a:avLst/>
          </a:prstGeom>
          <a:noFill/>
          <a:ln w="38100">
            <a:solidFill>
              <a:srgbClr val="00B8A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074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SAGAR R</a:t>
            </a:r>
            <a:pPr indent="0" marL="0">
              <a:buNone/>
            </a:pPr>
            <a:r>
              <a:rPr lang="en-US" sz="125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Construct: Quantitative Ability (Gq)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Building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AI-ready adaptive cognitive assessment engine centered on CHC Quantitative Ability (Gq) — combining a scalable item-generation framework, adaptive routing, exposure control, behavioral analytics, and SDK-compliant data structures into a single MVP-ready pipeline.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2048256" cy="1554480"/>
          </a:xfrm>
          <a:prstGeom prst="roundRect">
            <a:avLst>
              <a:gd name="adj" fmla="val 4706"/>
            </a:avLst>
          </a:prstGeom>
          <a:solidFill>
            <a:srgbClr val="E8EEF7"/>
          </a:solidFill>
          <a:ln/>
          <a:effectLst>
            <a:outerShdw sx="100000" sy="100000" kx="0" ky="0" algn="bl" rotWithShape="0" blurRad="1270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624328"/>
            <a:ext cx="2048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49808" y="34472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Questions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89504" y="2423160"/>
            <a:ext cx="2048256" cy="1554480"/>
          </a:xfrm>
          <a:prstGeom prst="roundRect">
            <a:avLst>
              <a:gd name="adj" fmla="val 4706"/>
            </a:avLst>
          </a:prstGeom>
          <a:solidFill>
            <a:srgbClr val="E8EEF7"/>
          </a:solidFill>
          <a:ln/>
          <a:effectLst>
            <a:outerShdw sx="100000" sy="100000" kx="0" ky="0" algn="bl" rotWithShape="0" blurRad="127000" dist="38100" dir="5400000">
              <a:srgbClr val="0B122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89504" y="2624328"/>
            <a:ext cx="2048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999232" y="34472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Templates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38928" y="2423160"/>
            <a:ext cx="2048256" cy="1554480"/>
          </a:xfrm>
          <a:prstGeom prst="roundRect">
            <a:avLst>
              <a:gd name="adj" fmla="val 4706"/>
            </a:avLst>
          </a:prstGeom>
          <a:solidFill>
            <a:srgbClr val="E8EEF7"/>
          </a:solidFill>
          <a:ln/>
          <a:effectLst>
            <a:outerShdw sx="100000" sy="100000" kx="0" ky="0" algn="bl" rotWithShape="0" blurRad="127000" dist="38100" dir="5400000">
              <a:srgbClr val="0B122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38928" y="2624328"/>
            <a:ext cx="2048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5248656" y="34472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Modules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88352" y="2423160"/>
            <a:ext cx="2048256" cy="1554480"/>
          </a:xfrm>
          <a:prstGeom prst="roundRect">
            <a:avLst>
              <a:gd name="adj" fmla="val 4706"/>
            </a:avLst>
          </a:prstGeom>
          <a:solidFill>
            <a:srgbClr val="E8EEF7"/>
          </a:solidFill>
          <a:ln/>
          <a:effectLst>
            <a:outerShdw sx="100000" sy="100000" kx="0" ky="0" algn="bl" rotWithShape="0" blurRad="127000" dist="38100" dir="5400000">
              <a:srgbClr val="0B122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88352" y="2624328"/>
            <a:ext cx="2048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7498080" y="34472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Levels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637776" y="2423160"/>
            <a:ext cx="2048256" cy="1554480"/>
          </a:xfrm>
          <a:prstGeom prst="roundRect">
            <a:avLst>
              <a:gd name="adj" fmla="val 4706"/>
            </a:avLst>
          </a:prstGeom>
          <a:solidFill>
            <a:srgbClr val="E8EEF7"/>
          </a:solidFill>
          <a:ln/>
          <a:effectLst>
            <a:outerShdw sx="100000" sy="100000" kx="0" ky="0" algn="bl" rotWithShape="0" blurRad="127000" dist="38100" dir="5400000">
              <a:srgbClr val="0B122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37776" y="2624328"/>
            <a:ext cx="2048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9747504" y="34472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Deliverables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" y="4800600"/>
            <a:ext cx="1600200" cy="777240"/>
          </a:xfrm>
          <a:prstGeom prst="roundRect">
            <a:avLst>
              <a:gd name="adj" fmla="val 7059"/>
            </a:avLst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80060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Items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194560" y="480060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546A"/>
                </a:solidFill>
              </a:rPr>
              <a:t>→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468880" y="4800600"/>
            <a:ext cx="1600200" cy="777240"/>
          </a:xfrm>
          <a:prstGeom prst="roundRect">
            <a:avLst>
              <a:gd name="adj" fmla="val 7059"/>
            </a:avLst>
          </a:prstGeom>
          <a:solidFill>
            <a:srgbClr val="00B8A9"/>
          </a:solidFill>
          <a:ln/>
        </p:spPr>
      </p:sp>
      <p:sp>
        <p:nvSpPr>
          <p:cNvPr id="25" name="Text 23"/>
          <p:cNvSpPr/>
          <p:nvPr/>
        </p:nvSpPr>
        <p:spPr>
          <a:xfrm>
            <a:off x="2514600" y="480060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Difficulty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069080" y="480060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546A"/>
                </a:solidFill>
              </a:rPr>
              <a:t>→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343400" y="4800600"/>
            <a:ext cx="1600200" cy="777240"/>
          </a:xfrm>
          <a:prstGeom prst="roundRect">
            <a:avLst>
              <a:gd name="adj" fmla="val 7059"/>
            </a:avLst>
          </a:prstGeom>
          <a:solidFill>
            <a:srgbClr val="1B2A4A"/>
          </a:solidFill>
          <a:ln/>
        </p:spPr>
      </p:sp>
      <p:sp>
        <p:nvSpPr>
          <p:cNvPr id="28" name="Text 26"/>
          <p:cNvSpPr/>
          <p:nvPr/>
        </p:nvSpPr>
        <p:spPr>
          <a:xfrm>
            <a:off x="4389120" y="480060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Adaptively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943600" y="480060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546A"/>
                </a:solidFill>
              </a:rPr>
              <a:t>→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17920" y="4800600"/>
            <a:ext cx="1600200" cy="777240"/>
          </a:xfrm>
          <a:prstGeom prst="roundRect">
            <a:avLst>
              <a:gd name="adj" fmla="val 7059"/>
            </a:avLst>
          </a:prstGeom>
          <a:solidFill>
            <a:srgbClr val="00B8A9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480060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Exposure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818120" y="480060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546A"/>
                </a:solidFill>
              </a:rPr>
              <a:t>→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092440" y="4800600"/>
            <a:ext cx="1600200" cy="777240"/>
          </a:xfrm>
          <a:prstGeom prst="roundRect">
            <a:avLst>
              <a:gd name="adj" fmla="val 7059"/>
            </a:avLst>
          </a:prstGeom>
          <a:solidFill>
            <a:srgbClr val="1B2A4A"/>
          </a:solidFill>
          <a:ln/>
        </p:spPr>
      </p:sp>
      <p:sp>
        <p:nvSpPr>
          <p:cNvPr id="34" name="Text 32"/>
          <p:cNvSpPr/>
          <p:nvPr/>
        </p:nvSpPr>
        <p:spPr>
          <a:xfrm>
            <a:off x="8138160" y="480060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Behavior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692640" y="480060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546A"/>
                </a:solidFill>
              </a:rPr>
              <a:t>→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9966960" y="4800600"/>
            <a:ext cx="1600200" cy="777240"/>
          </a:xfrm>
          <a:prstGeom prst="roundRect">
            <a:avLst>
              <a:gd name="adj" fmla="val 7059"/>
            </a:avLst>
          </a:prstGeom>
          <a:solidFill>
            <a:srgbClr val="00B8A9"/>
          </a:solidFill>
          <a:ln/>
        </p:spPr>
      </p:sp>
      <p:sp>
        <p:nvSpPr>
          <p:cNvPr id="37" name="Text 35"/>
          <p:cNvSpPr/>
          <p:nvPr/>
        </p:nvSpPr>
        <p:spPr>
          <a:xfrm>
            <a:off x="10012680" y="480060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&amp; Recommend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 Item Generation Matrix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 300 questions traces back to one of 40 templates across four generator modules.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670048" cy="3429000"/>
          </a:xfrm>
          <a:prstGeom prst="roundRect">
            <a:avLst>
              <a:gd name="adj" fmla="val 2740"/>
            </a:avLst>
          </a:prstGeom>
          <a:solidFill>
            <a:srgbClr val="E8EEF7"/>
          </a:solidFill>
          <a:ln/>
          <a:effectLst>
            <a:outerShdw sx="100000" sy="100000" kx="0" ky="0" algn="bl" rotWithShape="0" blurRad="1270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55064" y="228600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7" name="Image 0" descr="./icons/puzzle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1485" y="245242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06324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PatternBot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341071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templates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41248" y="3840480"/>
            <a:ext cx="22677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series &amp; pattern recognition — arithmetic and geometric progressions, recursive rules.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74720" y="1965960"/>
            <a:ext cx="2670048" cy="3429000"/>
          </a:xfrm>
          <a:prstGeom prst="roundRect">
            <a:avLst>
              <a:gd name="adj" fmla="val 2740"/>
            </a:avLst>
          </a:prstGeom>
          <a:solidFill>
            <a:srgbClr val="E8EEF7"/>
          </a:solidFill>
          <a:ln/>
          <a:effectLst>
            <a:outerShdw sx="100000" sy="100000" kx="0" ky="0" algn="bl" rotWithShape="0" blurRad="127000" dist="38100" dir="5400000">
              <a:srgbClr val="0B122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89704" y="228600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3" name="Image 1" descr="./icons/balance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6125" y="245242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66160" y="306324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CompareBot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566160" y="341071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templates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675888" y="3840480"/>
            <a:ext cx="22677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comparison — magnitude, percentage, ratio, and fraction judgments.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309360" y="1965960"/>
            <a:ext cx="2670048" cy="3429000"/>
          </a:xfrm>
          <a:prstGeom prst="roundRect">
            <a:avLst>
              <a:gd name="adj" fmla="val 2740"/>
            </a:avLst>
          </a:prstGeom>
          <a:solidFill>
            <a:srgbClr val="E8EEF7"/>
          </a:solidFill>
          <a:ln/>
          <a:effectLst>
            <a:outerShdw sx="100000" sy="100000" kx="0" ky="0" algn="bl" rotWithShape="0" blurRad="127000" dist="38100" dir="5400000">
              <a:srgbClr val="0B122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324344" y="228600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9" name="Image 2" descr="./icons/eye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0765" y="2452421"/>
            <a:ext cx="307238" cy="30723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00800" y="306324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VisionBot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400800" y="341071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templates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510528" y="3840480"/>
            <a:ext cx="22677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interpretation — bar graphs, tables, line charts, dashboards, heat maps.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9144000" y="1965960"/>
            <a:ext cx="2670048" cy="3429000"/>
          </a:xfrm>
          <a:prstGeom prst="roundRect">
            <a:avLst>
              <a:gd name="adj" fmla="val 2740"/>
            </a:avLst>
          </a:prstGeom>
          <a:solidFill>
            <a:srgbClr val="E8EEF7"/>
          </a:solidFill>
          <a:ln/>
          <a:effectLst>
            <a:outerShdw sx="100000" sy="100000" kx="0" ky="0" algn="bl" rotWithShape="0" blurRad="127000" dist="38100" dir="5400000">
              <a:srgbClr val="0B1220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10158984" y="228600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5" name="Image 3" descr="./icons/calculator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5405" y="2452421"/>
            <a:ext cx="307238" cy="30723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235440" y="306324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SolverBot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9235440" y="341071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templates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9345168" y="3840480"/>
            <a:ext cx="22677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problem solving — budgeting, constraints, routing, and optimization.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640080" y="5715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templates  ×  planned variants per template  =  </a:t>
            </a:r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300-item calibrated question bank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Difficulty Calibration Framework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Difficulty Score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Complexity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4114800" y="1993392"/>
            <a:ext cx="1737360" cy="164592"/>
          </a:xfrm>
          <a:prstGeom prst="rect">
            <a:avLst/>
          </a:prstGeom>
          <a:solidFill>
            <a:srgbClr val="CFDCEF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0" y="1993392"/>
            <a:ext cx="1737360" cy="16459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8" name="Text 6"/>
          <p:cNvSpPr/>
          <p:nvPr/>
        </p:nvSpPr>
        <p:spPr>
          <a:xfrm>
            <a:off x="5989320" y="192024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224942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Steps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114800" y="2322576"/>
            <a:ext cx="1737360" cy="164592"/>
          </a:xfrm>
          <a:prstGeom prst="rect">
            <a:avLst/>
          </a:prstGeom>
          <a:solidFill>
            <a:srgbClr val="CFDCEF"/>
          </a:solidFill>
          <a:ln/>
        </p:spPr>
      </p:sp>
      <p:sp>
        <p:nvSpPr>
          <p:cNvPr id="11" name="Shape 9"/>
          <p:cNvSpPr/>
          <p:nvPr/>
        </p:nvSpPr>
        <p:spPr>
          <a:xfrm>
            <a:off x="4114800" y="2322576"/>
            <a:ext cx="1389888" cy="16459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2" name="Text 10"/>
          <p:cNvSpPr/>
          <p:nvPr/>
        </p:nvSpPr>
        <p:spPr>
          <a:xfrm>
            <a:off x="5989320" y="2249424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257860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Path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4114800" y="2651760"/>
            <a:ext cx="1737360" cy="164592"/>
          </a:xfrm>
          <a:prstGeom prst="rect">
            <a:avLst/>
          </a:prstGeom>
          <a:solidFill>
            <a:srgbClr val="CFDCEF"/>
          </a:solidFill>
          <a:ln/>
        </p:spPr>
      </p:sp>
      <p:sp>
        <p:nvSpPr>
          <p:cNvPr id="15" name="Shape 13"/>
          <p:cNvSpPr/>
          <p:nvPr/>
        </p:nvSpPr>
        <p:spPr>
          <a:xfrm>
            <a:off x="4114800" y="2651760"/>
            <a:ext cx="1042416" cy="16459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6" name="Text 14"/>
          <p:cNvSpPr/>
          <p:nvPr/>
        </p:nvSpPr>
        <p:spPr>
          <a:xfrm>
            <a:off x="5989320" y="257860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290779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Memory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4114800" y="2980944"/>
            <a:ext cx="1737360" cy="164592"/>
          </a:xfrm>
          <a:prstGeom prst="rect">
            <a:avLst/>
          </a:prstGeom>
          <a:solidFill>
            <a:srgbClr val="CFDCEF"/>
          </a:solidFill>
          <a:ln/>
        </p:spPr>
      </p:sp>
      <p:sp>
        <p:nvSpPr>
          <p:cNvPr id="19" name="Shape 17"/>
          <p:cNvSpPr/>
          <p:nvPr/>
        </p:nvSpPr>
        <p:spPr>
          <a:xfrm>
            <a:off x="4114800" y="2980944"/>
            <a:ext cx="694944" cy="16459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20" name="Text 18"/>
          <p:cNvSpPr/>
          <p:nvPr/>
        </p:nvSpPr>
        <p:spPr>
          <a:xfrm>
            <a:off x="5989320" y="290779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323697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Distractor Closeness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4114800" y="3310128"/>
            <a:ext cx="1737360" cy="164592"/>
          </a:xfrm>
          <a:prstGeom prst="rect">
            <a:avLst/>
          </a:prstGeom>
          <a:solidFill>
            <a:srgbClr val="CFDCEF"/>
          </a:solidFill>
          <a:ln/>
        </p:spPr>
      </p:sp>
      <p:sp>
        <p:nvSpPr>
          <p:cNvPr id="23" name="Shape 21"/>
          <p:cNvSpPr/>
          <p:nvPr/>
        </p:nvSpPr>
        <p:spPr>
          <a:xfrm>
            <a:off x="4114800" y="3310128"/>
            <a:ext cx="694944" cy="16459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24" name="Text 22"/>
          <p:cNvSpPr/>
          <p:nvPr/>
        </p:nvSpPr>
        <p:spPr>
          <a:xfrm>
            <a:off x="5989320" y="323697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" y="356616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Processing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4114800" y="3639312"/>
            <a:ext cx="1737360" cy="164592"/>
          </a:xfrm>
          <a:prstGeom prst="rect">
            <a:avLst/>
          </a:prstGeom>
          <a:solidFill>
            <a:srgbClr val="CFDCEF"/>
          </a:solidFill>
          <a:ln/>
        </p:spPr>
      </p:sp>
      <p:sp>
        <p:nvSpPr>
          <p:cNvPr id="27" name="Shape 25"/>
          <p:cNvSpPr/>
          <p:nvPr/>
        </p:nvSpPr>
        <p:spPr>
          <a:xfrm>
            <a:off x="4114800" y="3639312"/>
            <a:ext cx="347472" cy="16459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28" name="Text 26"/>
          <p:cNvSpPr/>
          <p:nvPr/>
        </p:nvSpPr>
        <p:spPr>
          <a:xfrm>
            <a:off x="5989320" y="356616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0080" y="389534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 Load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4114800" y="3968496"/>
            <a:ext cx="1737360" cy="164592"/>
          </a:xfrm>
          <a:prstGeom prst="rect">
            <a:avLst/>
          </a:prstGeom>
          <a:solidFill>
            <a:srgbClr val="CFDCEF"/>
          </a:solidFill>
          <a:ln/>
        </p:spPr>
      </p:sp>
      <p:sp>
        <p:nvSpPr>
          <p:cNvPr id="31" name="Shape 29"/>
          <p:cNvSpPr/>
          <p:nvPr/>
        </p:nvSpPr>
        <p:spPr>
          <a:xfrm>
            <a:off x="4114800" y="3968496"/>
            <a:ext cx="694944" cy="16459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2" name="Text 30"/>
          <p:cNvSpPr/>
          <p:nvPr/>
        </p:nvSpPr>
        <p:spPr>
          <a:xfrm>
            <a:off x="5989320" y="3895344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0080" y="422452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Pressure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4114800" y="4297680"/>
            <a:ext cx="1737360" cy="164592"/>
          </a:xfrm>
          <a:prstGeom prst="rect">
            <a:avLst/>
          </a:prstGeom>
          <a:solidFill>
            <a:srgbClr val="CFDCEF"/>
          </a:solidFill>
          <a:ln/>
        </p:spPr>
      </p:sp>
      <p:sp>
        <p:nvSpPr>
          <p:cNvPr id="35" name="Shape 33"/>
          <p:cNvSpPr/>
          <p:nvPr/>
        </p:nvSpPr>
        <p:spPr>
          <a:xfrm>
            <a:off x="4114800" y="4297680"/>
            <a:ext cx="347472" cy="16459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6" name="Text 34"/>
          <p:cNvSpPr/>
          <p:nvPr/>
        </p:nvSpPr>
        <p:spPr>
          <a:xfrm>
            <a:off x="5989320" y="422452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903720" y="15087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Difficulty Scale (L1–L5)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6903720" y="1920240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9" name="Text 37"/>
          <p:cNvSpPr/>
          <p:nvPr/>
        </p:nvSpPr>
        <p:spPr>
          <a:xfrm>
            <a:off x="690372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406640" y="189280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screening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0287000" y="18928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qs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903720" y="2450592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3" name="Text 41"/>
          <p:cNvSpPr/>
          <p:nvPr/>
        </p:nvSpPr>
        <p:spPr>
          <a:xfrm>
            <a:off x="6903720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406640" y="24231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reasoning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0287000" y="2423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qs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903720" y="2980944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7" name="Text 45"/>
          <p:cNvSpPr/>
          <p:nvPr/>
        </p:nvSpPr>
        <p:spPr>
          <a:xfrm>
            <a:off x="6903720" y="2980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406640" y="295351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discrimination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0287000" y="29535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qs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903720" y="3511296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1" name="Text 49"/>
          <p:cNvSpPr/>
          <p:nvPr/>
        </p:nvSpPr>
        <p:spPr>
          <a:xfrm>
            <a:off x="6903720" y="3511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7406640" y="348386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reasoning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10287000" y="34838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qs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903720" y="4041648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5" name="Text 53"/>
          <p:cNvSpPr/>
          <p:nvPr/>
        </p:nvSpPr>
        <p:spPr>
          <a:xfrm>
            <a:off x="6903720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7406640" y="401421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High-ability discrimination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10287000" y="40142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qs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903720" y="4892040"/>
            <a:ext cx="4617720" cy="960120"/>
          </a:xfrm>
          <a:prstGeom prst="roundRect">
            <a:avLst>
              <a:gd name="adj" fmla="val 7619"/>
            </a:avLst>
          </a:prstGeom>
          <a:solidFill>
            <a:srgbClr val="E8EEF7"/>
          </a:solidFill>
          <a:ln/>
        </p:spPr>
      </p:sp>
      <p:sp>
        <p:nvSpPr>
          <p:cNvPr id="59" name="Text 57"/>
          <p:cNvSpPr/>
          <p:nvPr/>
        </p:nvSpPr>
        <p:spPr>
          <a:xfrm>
            <a:off x="7178040" y="498348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total questions 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to give richer discrimination near each student's ability estimate at higher levels.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Routing Engine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delivered follows the same real-time routing pipeline, re-estimating ability after each response.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49808" y="214884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121D33"/>
          </a:solidFill>
          <a:ln w="12700">
            <a:solidFill>
              <a:srgbClr val="2C40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2286000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7" name="Text 5"/>
          <p:cNvSpPr/>
          <p:nvPr/>
        </p:nvSpPr>
        <p:spPr>
          <a:xfrm>
            <a:off x="886968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86968" y="271576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Assessment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64408" y="2148840"/>
            <a:ext cx="2011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FE0D3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65576" y="214884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121D33"/>
          </a:solidFill>
          <a:ln w="12700">
            <a:solidFill>
              <a:srgbClr val="2C40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02736" y="2286000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2" name="Text 10"/>
          <p:cNvSpPr/>
          <p:nvPr/>
        </p:nvSpPr>
        <p:spPr>
          <a:xfrm>
            <a:off x="3602736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02736" y="271576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Module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80176" y="2148840"/>
            <a:ext cx="2011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FE0D3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81344" y="214884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121D33"/>
          </a:solidFill>
          <a:ln w="12700">
            <a:solidFill>
              <a:srgbClr val="2C40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18504" y="2286000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7" name="Text 15"/>
          <p:cNvSpPr/>
          <p:nvPr/>
        </p:nvSpPr>
        <p:spPr>
          <a:xfrm>
            <a:off x="6318504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18504" y="271576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Ability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695944" y="2148840"/>
            <a:ext cx="2011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FE0D3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897112" y="214884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121D33"/>
          </a:solidFill>
          <a:ln w="12700">
            <a:solidFill>
              <a:srgbClr val="2C40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34272" y="2286000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22" name="Text 20"/>
          <p:cNvSpPr/>
          <p:nvPr/>
        </p:nvSpPr>
        <p:spPr>
          <a:xfrm>
            <a:off x="9034272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034272" y="271576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Difficulty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49808" y="38404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121D33"/>
          </a:solidFill>
          <a:ln w="12700">
            <a:solidFill>
              <a:srgbClr val="2C40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6968" y="3977640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26" name="Text 24"/>
          <p:cNvSpPr/>
          <p:nvPr/>
        </p:nvSpPr>
        <p:spPr>
          <a:xfrm>
            <a:off x="886968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86968" y="440740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Eligible Templates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264408" y="3840480"/>
            <a:ext cx="2011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FE0D3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465576" y="38404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121D33"/>
          </a:solidFill>
          <a:ln w="12700">
            <a:solidFill>
              <a:srgbClr val="2C40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02736" y="3977640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31" name="Text 29"/>
          <p:cNvSpPr/>
          <p:nvPr/>
        </p:nvSpPr>
        <p:spPr>
          <a:xfrm>
            <a:off x="3602736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602736" y="440740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Seen Variants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980176" y="3840480"/>
            <a:ext cx="2011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FE0D3"/>
                </a:solidFill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181344" y="38404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121D33"/>
          </a:solidFill>
          <a:ln w="12700">
            <a:solidFill>
              <a:srgbClr val="2C40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18504" y="3977640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36" name="Text 34"/>
          <p:cNvSpPr/>
          <p:nvPr/>
        </p:nvSpPr>
        <p:spPr>
          <a:xfrm>
            <a:off x="6318504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318504" y="440740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Question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695944" y="3840480"/>
            <a:ext cx="2011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FE0D3"/>
                </a:solidFill>
              </a:rPr>
              <a:t>→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8897112" y="38404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121D33"/>
          </a:solidFill>
          <a:ln w="12700">
            <a:solidFill>
              <a:srgbClr val="2C406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034272" y="3977640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41" name="Text 39"/>
          <p:cNvSpPr/>
          <p:nvPr/>
        </p:nvSpPr>
        <p:spPr>
          <a:xfrm>
            <a:off x="9034272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034272" y="440740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Ability Estimate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749808" y="5669280"/>
            <a:ext cx="1066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Loop: </a:t>
            </a:r>
            <a:pPr indent="0" marL="0">
              <a:buNone/>
            </a:pPr>
            <a:r>
              <a:rPr lang="en-US" sz="1150" dirty="0">
                <a:solidFill>
                  <a:srgbClr val="C7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ability estimate updates after every response, so difficulty, module mix, and exposure priority all shift in real time.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Item Exposure Control Mechanism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nested levels of exposure tracking keep the question bank fresh and prevent memorization effects.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E8EEF7"/>
          </a:solidFill>
          <a:ln/>
          <a:effectLst>
            <a:outerShdw sx="100000" sy="100000" kx="0" ky="0" algn="bl" rotWithShape="0" blurRad="1270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19456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7" name="Image 0" descr="./icons/layers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81" y="234196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22199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— Variant Exposure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8680" y="288036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how often each specific question variant has been shown across all sessions.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97680" y="196596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E8EEF7"/>
          </a:solidFill>
          <a:ln/>
          <a:effectLst>
            <a:outerShdw sx="100000" sy="100000" kx="0" ky="0" algn="bl" rotWithShape="0" blurRad="127000" dist="38100" dir="5400000">
              <a:srgbClr val="0B122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26280" y="219456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2" name="Image 1" descr="./icons/diagram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681" y="2341961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57800" y="222199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— Template Exposure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26280" y="288036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usage at the template level so no single generation pattern is over-relied on.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955280" y="196596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E8EEF7"/>
          </a:solidFill>
          <a:ln/>
          <a:effectLst>
            <a:outerShdw sx="100000" sy="100000" kx="0" ky="0" algn="bl" rotWithShape="0" blurRad="127000" dist="38100" dir="5400000">
              <a:srgbClr val="0B122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183880" y="219456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7" name="Image 2" descr="./icons/balance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1281" y="2341961"/>
            <a:ext cx="272125" cy="2721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15400" y="222199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— Module Balance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183880" y="288036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fair rotation across PatternBot, CompareBot, VisionBot, and SolverBot.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40080" y="434340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1B2A4A"/>
          </a:solidFill>
          <a:ln/>
        </p:spPr>
      </p:sp>
      <p:sp>
        <p:nvSpPr>
          <p:cNvPr id="21" name="Text 16"/>
          <p:cNvSpPr/>
          <p:nvPr/>
        </p:nvSpPr>
        <p:spPr>
          <a:xfrm>
            <a:off x="914400" y="4526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F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Score Formula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914400" y="4892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Exposure Score  =  Times Used  ÷  Total Sessions</a:t>
            </a:r>
            <a:endParaRPr lang="en-US" sz="1900" dirty="0"/>
          </a:p>
        </p:txBody>
      </p:sp>
      <p:sp>
        <p:nvSpPr>
          <p:cNvPr id="23" name="Text 18"/>
          <p:cNvSpPr/>
          <p:nvPr/>
        </p:nvSpPr>
        <p:spPr>
          <a:xfrm>
            <a:off x="914400" y="534924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with the lowest exposure score are prioritized for delivery — keeping the bank balanced automatically.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Logger &amp; Behavioral Event Capture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interaction is captured as an SDK-compliant event — the raw material behind every downstream analytic.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Event Schema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5760720" cy="2606040"/>
          </a:xfrm>
          <a:prstGeom prst="roundRect">
            <a:avLst>
              <a:gd name="adj" fmla="val 2807"/>
            </a:avLst>
          </a:prstGeom>
          <a:solidFill>
            <a:srgbClr val="121D33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50592"/>
            <a:ext cx="5349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E0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event_id, student_id, session_id, construct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926080"/>
            <a:ext cx="5349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E0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module, template_id, variant_id, item_id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3401568"/>
            <a:ext cx="5349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E0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event_type, response, correct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3877056"/>
            <a:ext cx="5349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E0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reaction_time_ms, attempt_number, hint_used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4352544"/>
            <a:ext cx="5349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E0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difficulty_level, timestamp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76656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Categories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766560" y="2386584"/>
            <a:ext cx="128016" cy="12801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7022592" y="2331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events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766560" y="2843784"/>
            <a:ext cx="128016" cy="12801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7022592" y="27889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attempt events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766560" y="3300984"/>
            <a:ext cx="128016" cy="12801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7022592" y="32461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 &amp; difficulty-change events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766560" y="3758184"/>
            <a:ext cx="128016" cy="12801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7022592" y="37033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Module-specific interaction events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766560" y="4343400"/>
            <a:ext cx="4754880" cy="1463040"/>
          </a:xfrm>
          <a:prstGeom prst="roundRect">
            <a:avLst>
              <a:gd name="adj" fmla="val 5000"/>
            </a:avLst>
          </a:prstGeom>
          <a:solidFill>
            <a:srgbClr val="E8EEF7"/>
          </a:solidFill>
          <a:ln/>
        </p:spPr>
      </p:sp>
      <p:sp>
        <p:nvSpPr>
          <p:cNvPr id="22" name="Shape 20"/>
          <p:cNvSpPr/>
          <p:nvPr/>
        </p:nvSpPr>
        <p:spPr>
          <a:xfrm>
            <a:off x="6995160" y="4553712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3" name="Image 0" descr="./icons/loc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4032" y="4672584"/>
            <a:ext cx="219456" cy="219456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589520" y="45537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995160" y="502920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assessment behavior is stored — no keystroke logging, no screen recording, no personal content.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Analytics &amp; Scoring Intelligence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logs are converted into behavioral metrics, sub-scores, a confidence score, and actionable recommendations.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Metrics Captured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2788920" cy="457200"/>
          </a:xfrm>
          <a:prstGeom prst="roundRect">
            <a:avLst>
              <a:gd name="adj" fmla="val 12000"/>
            </a:avLst>
          </a:prstGeom>
          <a:solidFill>
            <a:srgbClr val="E8EEF7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2860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accuracy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11880" y="2286000"/>
            <a:ext cx="2788920" cy="457200"/>
          </a:xfrm>
          <a:prstGeom prst="roundRect">
            <a:avLst>
              <a:gd name="adj" fmla="val 12000"/>
            </a:avLst>
          </a:prstGeom>
          <a:solidFill>
            <a:srgbClr val="E8EEF7"/>
          </a:solidFill>
          <a:ln/>
        </p:spPr>
      </p:sp>
      <p:sp>
        <p:nvSpPr>
          <p:cNvPr id="9" name="Text 7"/>
          <p:cNvSpPr/>
          <p:nvPr/>
        </p:nvSpPr>
        <p:spPr>
          <a:xfrm>
            <a:off x="3749040" y="22860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2852928"/>
            <a:ext cx="2788920" cy="457200"/>
          </a:xfrm>
          <a:prstGeom prst="roundRect">
            <a:avLst>
              <a:gd name="adj" fmla="val 12000"/>
            </a:avLst>
          </a:prstGeom>
          <a:solidFill>
            <a:srgbClr val="E8EEF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5292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patterns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11880" y="2852928"/>
            <a:ext cx="2788920" cy="457200"/>
          </a:xfrm>
          <a:prstGeom prst="roundRect">
            <a:avLst>
              <a:gd name="adj" fmla="val 12000"/>
            </a:avLst>
          </a:prstGeom>
          <a:solidFill>
            <a:srgbClr val="E8EEF7"/>
          </a:solidFill>
          <a:ln/>
        </p:spPr>
      </p:sp>
      <p:sp>
        <p:nvSpPr>
          <p:cNvPr id="13" name="Text 11"/>
          <p:cNvSpPr/>
          <p:nvPr/>
        </p:nvSpPr>
        <p:spPr>
          <a:xfrm>
            <a:off x="3749040" y="285292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 dependency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419856"/>
            <a:ext cx="2788920" cy="457200"/>
          </a:xfrm>
          <a:prstGeom prst="roundRect">
            <a:avLst>
              <a:gd name="adj" fmla="val 12000"/>
            </a:avLst>
          </a:prstGeom>
          <a:solidFill>
            <a:srgbClr val="E8EEF7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41985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shifts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11880" y="3419856"/>
            <a:ext cx="2788920" cy="457200"/>
          </a:xfrm>
          <a:prstGeom prst="roundRect">
            <a:avLst>
              <a:gd name="adj" fmla="val 12000"/>
            </a:avLst>
          </a:prstGeom>
          <a:solidFill>
            <a:srgbClr val="E8EEF7"/>
          </a:solidFill>
          <a:ln/>
        </p:spPr>
      </p:sp>
      <p:sp>
        <p:nvSpPr>
          <p:cNvPr id="17" name="Text 15"/>
          <p:cNvSpPr/>
          <p:nvPr/>
        </p:nvSpPr>
        <p:spPr>
          <a:xfrm>
            <a:off x="3749040" y="341985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score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3986784"/>
            <a:ext cx="2788920" cy="457200"/>
          </a:xfrm>
          <a:prstGeom prst="roundRect">
            <a:avLst>
              <a:gd name="adj" fmla="val 12000"/>
            </a:avLst>
          </a:prstGeom>
          <a:solidFill>
            <a:srgbClr val="E8EEF7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98678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interpretation efficiency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11880" y="3986784"/>
            <a:ext cx="2788920" cy="457200"/>
          </a:xfrm>
          <a:prstGeom prst="roundRect">
            <a:avLst>
              <a:gd name="adj" fmla="val 12000"/>
            </a:avLst>
          </a:prstGeom>
          <a:solidFill>
            <a:srgbClr val="E8EEF7"/>
          </a:solidFill>
          <a:ln/>
        </p:spPr>
      </p:sp>
      <p:sp>
        <p:nvSpPr>
          <p:cNvPr id="21" name="Text 19"/>
          <p:cNvSpPr/>
          <p:nvPr/>
        </p:nvSpPr>
        <p:spPr>
          <a:xfrm>
            <a:off x="3749040" y="398678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learning curve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76656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Pipeline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766560" y="2331720"/>
            <a:ext cx="4754880" cy="43891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0" y="233172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Score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766560" y="2770632"/>
            <a:ext cx="4754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46A"/>
                </a:solidFill>
              </a:rPr>
              <a:t>↓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66560" y="2898648"/>
            <a:ext cx="4754880" cy="43891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7" name="Text 25"/>
          <p:cNvSpPr/>
          <p:nvPr/>
        </p:nvSpPr>
        <p:spPr>
          <a:xfrm>
            <a:off x="6949440" y="2898648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Score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766560" y="3337560"/>
            <a:ext cx="4754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46A"/>
                </a:solidFill>
              </a:rPr>
              <a:t>↓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766560" y="3465576"/>
            <a:ext cx="4754880" cy="43891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0" name="Text 28"/>
          <p:cNvSpPr/>
          <p:nvPr/>
        </p:nvSpPr>
        <p:spPr>
          <a:xfrm>
            <a:off x="6949440" y="3465576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Sub-Scores by Skill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766560" y="3904488"/>
            <a:ext cx="4754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46A"/>
                </a:solidFill>
              </a:rPr>
              <a:t>↓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66560" y="4032504"/>
            <a:ext cx="4754880" cy="43891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3" name="Text 31"/>
          <p:cNvSpPr/>
          <p:nvPr/>
        </p:nvSpPr>
        <p:spPr>
          <a:xfrm>
            <a:off x="6949440" y="4032504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766560" y="4471416"/>
            <a:ext cx="4754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46A"/>
                </a:solidFill>
              </a:rPr>
              <a:t>↓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766560" y="4599432"/>
            <a:ext cx="4754880" cy="438912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6" name="Text 34"/>
          <p:cNvSpPr/>
          <p:nvPr/>
        </p:nvSpPr>
        <p:spPr>
          <a:xfrm>
            <a:off x="6949440" y="4599432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7 &amp; 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Dashboard, Pilot Dataset &amp; Documentation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349240" cy="4251960"/>
          </a:xfrm>
          <a:prstGeom prst="roundRect">
            <a:avLst>
              <a:gd name="adj" fmla="val 1720"/>
            </a:avLst>
          </a:prstGeom>
          <a:solidFill>
            <a:srgbClr val="E8EEF7"/>
          </a:solidFill>
          <a:ln/>
          <a:effectLst>
            <a:outerShdw sx="100000" sy="100000" kx="0" ky="0" algn="bl" rotWithShape="0" blurRad="127000" dist="38100" dir="5400000">
              <a:srgbClr val="0B122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78308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./icons/gauge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04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830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14400" y="2569464"/>
            <a:ext cx="128016" cy="12801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9" name="Text 6"/>
          <p:cNvSpPr/>
          <p:nvPr/>
        </p:nvSpPr>
        <p:spPr>
          <a:xfrm>
            <a:off x="1170432" y="2514600"/>
            <a:ext cx="4617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Item-level performance &amp; difficulty drift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914400" y="3136392"/>
            <a:ext cx="128016" cy="12801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8"/>
          <p:cNvSpPr/>
          <p:nvPr/>
        </p:nvSpPr>
        <p:spPr>
          <a:xfrm>
            <a:off x="1170432" y="3081528"/>
            <a:ext cx="4617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ability trajectories over time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914400" y="3703320"/>
            <a:ext cx="128016" cy="12801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3" name="Text 10"/>
          <p:cNvSpPr/>
          <p:nvPr/>
        </p:nvSpPr>
        <p:spPr>
          <a:xfrm>
            <a:off x="1170432" y="3648456"/>
            <a:ext cx="4617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balance across modules &amp; templates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914400" y="4270248"/>
            <a:ext cx="128016" cy="12801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2"/>
          <p:cNvSpPr/>
          <p:nvPr/>
        </p:nvSpPr>
        <p:spPr>
          <a:xfrm>
            <a:off x="1170432" y="4215384"/>
            <a:ext cx="4617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analytics for developers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172200" y="1508760"/>
            <a:ext cx="5349240" cy="4251960"/>
          </a:xfrm>
          <a:prstGeom prst="roundRect">
            <a:avLst>
              <a:gd name="adj" fmla="val 172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27000" dist="38100" dir="5400000">
              <a:srgbClr val="0B122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46520" y="1783080"/>
            <a:ext cx="548640" cy="548640"/>
          </a:xfrm>
          <a:prstGeom prst="ellipse">
            <a:avLst/>
          </a:prstGeom>
          <a:solidFill>
            <a:srgbClr val="00B8A9"/>
          </a:solidFill>
          <a:ln/>
        </p:spPr>
      </p:sp>
      <p:pic>
        <p:nvPicPr>
          <p:cNvPr id="18" name="Image 1" descr="./icons/flas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9166" y="1925726"/>
            <a:ext cx="263347" cy="263347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132320" y="1783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Pilot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446520" y="2514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9052560" y="2514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30–50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446520" y="30449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Level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9052560" y="30449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11–12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446520" y="357530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/ Student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9052560" y="357530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6446520" y="410565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/ Session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9052560" y="41056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(20–40)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6446520" y="46360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Duration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9052560" y="46360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 minutes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114800"/>
            <a:ext cx="4572000" cy="4572000"/>
          </a:xfrm>
          <a:prstGeom prst="ellipse">
            <a:avLst/>
          </a:prstGeom>
          <a:solidFill>
            <a:srgbClr val="121D3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STATUS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Deliverables. One Adaptive Engine.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257800" cy="566928"/>
          </a:xfrm>
          <a:prstGeom prst="roundRect">
            <a:avLst>
              <a:gd name="adj" fmla="val 9677"/>
            </a:avLst>
          </a:prstGeom>
          <a:solidFill>
            <a:srgbClr val="121D33"/>
          </a:solidFill>
          <a:ln/>
        </p:spPr>
      </p:sp>
      <p:pic>
        <p:nvPicPr>
          <p:cNvPr id="6" name="Image 0" descr="./icons/chec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72821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60020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300-Item Question Bank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72200" y="1600200"/>
            <a:ext cx="5257800" cy="566928"/>
          </a:xfrm>
          <a:prstGeom prst="roundRect">
            <a:avLst>
              <a:gd name="adj" fmla="val 9677"/>
            </a:avLst>
          </a:prstGeom>
          <a:solidFill>
            <a:srgbClr val="121D33"/>
          </a:solidFill>
          <a:ln/>
        </p:spPr>
      </p:sp>
      <p:pic>
        <p:nvPicPr>
          <p:cNvPr id="9" name="Image 1" descr="./icons/chec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1728216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766560" y="160020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Calibration Framework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0080" y="2313432"/>
            <a:ext cx="5257800" cy="566928"/>
          </a:xfrm>
          <a:prstGeom prst="roundRect">
            <a:avLst>
              <a:gd name="adj" fmla="val 9677"/>
            </a:avLst>
          </a:prstGeom>
          <a:solidFill>
            <a:srgbClr val="121D33"/>
          </a:solidFill>
          <a:ln/>
        </p:spPr>
      </p:sp>
      <p:pic>
        <p:nvPicPr>
          <p:cNvPr id="12" name="Image 2" descr="./icons/check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441448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2313432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Routing Engine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6172200" y="2313432"/>
            <a:ext cx="5257800" cy="566928"/>
          </a:xfrm>
          <a:prstGeom prst="roundRect">
            <a:avLst>
              <a:gd name="adj" fmla="val 9677"/>
            </a:avLst>
          </a:prstGeom>
          <a:solidFill>
            <a:srgbClr val="121D33"/>
          </a:solidFill>
          <a:ln/>
        </p:spPr>
      </p:sp>
      <p:pic>
        <p:nvPicPr>
          <p:cNvPr id="15" name="Image 3" descr="./icons/check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2441448"/>
            <a:ext cx="310896" cy="31089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766560" y="2313432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Exposure Control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640080" y="3026664"/>
            <a:ext cx="5257800" cy="566928"/>
          </a:xfrm>
          <a:prstGeom prst="roundRect">
            <a:avLst>
              <a:gd name="adj" fmla="val 9677"/>
            </a:avLst>
          </a:prstGeom>
          <a:solidFill>
            <a:srgbClr val="121D33"/>
          </a:solidFill>
          <a:ln/>
        </p:spPr>
      </p:sp>
      <p:pic>
        <p:nvPicPr>
          <p:cNvPr id="18" name="Image 4" descr="./icons/check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3154680"/>
            <a:ext cx="310896" cy="31089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34440" y="3026664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Logger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6172200" y="3026664"/>
            <a:ext cx="5257800" cy="566928"/>
          </a:xfrm>
          <a:prstGeom prst="roundRect">
            <a:avLst>
              <a:gd name="adj" fmla="val 9677"/>
            </a:avLst>
          </a:prstGeom>
          <a:solidFill>
            <a:srgbClr val="121D33"/>
          </a:solidFill>
          <a:ln/>
        </p:spPr>
      </p:sp>
      <p:pic>
        <p:nvPicPr>
          <p:cNvPr id="21" name="Image 5" descr="./icons/check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6792" y="3154680"/>
            <a:ext cx="310896" cy="31089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766560" y="3026664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Analytics + SDK</a:t>
            </a:r>
            <a:endParaRPr lang="en-US" sz="1250" dirty="0"/>
          </a:p>
        </p:txBody>
      </p:sp>
      <p:sp>
        <p:nvSpPr>
          <p:cNvPr id="23" name="Shape 15"/>
          <p:cNvSpPr/>
          <p:nvPr/>
        </p:nvSpPr>
        <p:spPr>
          <a:xfrm>
            <a:off x="640080" y="3739896"/>
            <a:ext cx="5257800" cy="566928"/>
          </a:xfrm>
          <a:prstGeom prst="roundRect">
            <a:avLst>
              <a:gd name="adj" fmla="val 9677"/>
            </a:avLst>
          </a:prstGeom>
          <a:solidFill>
            <a:srgbClr val="121D33"/>
          </a:solidFill>
          <a:ln/>
        </p:spPr>
      </p:sp>
      <p:pic>
        <p:nvPicPr>
          <p:cNvPr id="24" name="Image 6" descr="./icons/check_te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" y="3867912"/>
            <a:ext cx="310896" cy="310896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234440" y="3739896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250" dirty="0"/>
          </a:p>
        </p:txBody>
      </p:sp>
      <p:sp>
        <p:nvSpPr>
          <p:cNvPr id="26" name="Shape 17"/>
          <p:cNvSpPr/>
          <p:nvPr/>
        </p:nvSpPr>
        <p:spPr>
          <a:xfrm>
            <a:off x="6172200" y="3739896"/>
            <a:ext cx="5257800" cy="566928"/>
          </a:xfrm>
          <a:prstGeom prst="roundRect">
            <a:avLst>
              <a:gd name="adj" fmla="val 9677"/>
            </a:avLst>
          </a:prstGeom>
          <a:solidFill>
            <a:srgbClr val="121D33"/>
          </a:solidFill>
          <a:ln/>
        </p:spPr>
      </p:sp>
      <p:pic>
        <p:nvPicPr>
          <p:cNvPr id="27" name="Image 7" descr="./icons/check_te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6792" y="3867912"/>
            <a:ext cx="310896" cy="310896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6766560" y="3739896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Dataset &amp; Documentation</a:t>
            </a:r>
            <a:endParaRPr lang="en-US" sz="1250" dirty="0"/>
          </a:p>
        </p:txBody>
      </p:sp>
      <p:sp>
        <p:nvSpPr>
          <p:cNvPr id="29" name="Shape 19"/>
          <p:cNvSpPr/>
          <p:nvPr/>
        </p:nvSpPr>
        <p:spPr>
          <a:xfrm>
            <a:off x="640080" y="507492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00B8A9"/>
          </a:solidFill>
          <a:ln/>
        </p:spPr>
      </p:sp>
      <p:sp>
        <p:nvSpPr>
          <p:cNvPr id="30" name="Text 20"/>
          <p:cNvSpPr/>
          <p:nvPr/>
        </p:nvSpPr>
        <p:spPr>
          <a:xfrm>
            <a:off x="914400" y="5074920"/>
            <a:ext cx="10332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psychometric calibration (IRT), richer AI-driven feedback, and expansion to additional cognitive constructs beyond Gq.</a:t>
            </a:r>
            <a:endParaRPr lang="en-US" sz="1350" dirty="0"/>
          </a:p>
        </p:txBody>
      </p:sp>
      <p:sp>
        <p:nvSpPr>
          <p:cNvPr id="31" name="Text 21"/>
          <p:cNvSpPr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MentiScope — Gq Assessment Engine Blueprint</dc:title>
  <dc:subject>PptxGenJS Presentation</dc:subject>
  <dc:creator>SAGAR R</dc:creator>
  <cp:lastModifiedBy>SAGAR R</cp:lastModifiedBy>
  <cp:revision>1</cp:revision>
  <dcterms:created xsi:type="dcterms:W3CDTF">2026-07-05T17:12:20Z</dcterms:created>
  <dcterms:modified xsi:type="dcterms:W3CDTF">2026-07-05T17:12:20Z</dcterms:modified>
</cp:coreProperties>
</file>