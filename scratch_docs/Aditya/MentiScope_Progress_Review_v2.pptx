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6858000" cx="12191350"/>
  <p:notesSz cx="6858000" cy="9144000"/>
  <p:embeddedFontLst>
    <p:embeddedFont>
      <p:font typeface="Quattrocento Sans"/>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7" roundtripDataSignature="AMtx7mhLdic7S+s2e3M1XQ1YklHxVbII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QuattrocentoSans-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QuattrocentoSans-italic.fntdata"/><Relationship Id="rId14" Type="http://schemas.openxmlformats.org/officeDocument/2006/relationships/font" Target="fonts/QuattrocentoSans-bold.fntdata"/><Relationship Id="rId17" Type="http://customschemas.google.com/relationships/presentationmetadata" Target="metadata"/><Relationship Id="rId16" Type="http://schemas.openxmlformats.org/officeDocument/2006/relationships/font" Target="fonts/Quattrocento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83" name="Shape 83"/>
        <p:cNvGrpSpPr/>
        <p:nvPr/>
      </p:nvGrpSpPr>
      <p:grpSpPr>
        <a:xfrm>
          <a:off x="0" y="0"/>
          <a:ext cx="0" cy="0"/>
          <a:chOff x="0" y="0"/>
          <a:chExt cx="0" cy="0"/>
        </a:xfrm>
      </p:grpSpPr>
      <p:sp>
        <p:nvSpPr>
          <p:cNvPr id="84" name="Google Shape;84;p1"/>
          <p:cNvSpPr/>
          <p:nvPr/>
        </p:nvSpPr>
        <p:spPr>
          <a:xfrm>
            <a:off x="0" y="0"/>
            <a:ext cx="12191695" cy="73152"/>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p:nvPr/>
        </p:nvSpPr>
        <p:spPr>
          <a:xfrm>
            <a:off x="0" y="0"/>
            <a:ext cx="54864" cy="6858000"/>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1371600" y="1097280"/>
            <a:ext cx="9601200" cy="5029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INTERNSHIP PROGRESS REVIEW</a:t>
            </a:r>
            <a:endParaRPr/>
          </a:p>
          <a:p>
            <a:pPr indent="0" lvl="0" marL="0" marR="0" rtl="0" algn="ctr">
              <a:spcBef>
                <a:spcPts val="800"/>
              </a:spcBef>
              <a:spcAft>
                <a:spcPts val="0"/>
              </a:spcAft>
              <a:buNone/>
            </a:pPr>
            <a:r>
              <a:t/>
            </a:r>
            <a:endParaRPr b="1" i="0" sz="1600" u="none" cap="none" strike="noStrike">
              <a:solidFill>
                <a:srgbClr val="2196F3"/>
              </a:solidFill>
              <a:latin typeface="Calibri"/>
              <a:ea typeface="Calibri"/>
              <a:cs typeface="Calibri"/>
              <a:sym typeface="Calibri"/>
            </a:endParaRPr>
          </a:p>
          <a:p>
            <a:pPr indent="0" lvl="0" marL="0" marR="0" rtl="0" algn="ctr">
              <a:spcBef>
                <a:spcPts val="400"/>
              </a:spcBef>
              <a:spcAft>
                <a:spcPts val="0"/>
              </a:spcAft>
              <a:buNone/>
            </a:pPr>
            <a:r>
              <a:rPr b="1" i="0" lang="en-US" sz="4800" u="none" cap="none" strike="noStrike">
                <a:solidFill>
                  <a:srgbClr val="FFFFFF"/>
                </a:solidFill>
                <a:latin typeface="Calibri"/>
                <a:ea typeface="Calibri"/>
                <a:cs typeface="Calibri"/>
                <a:sym typeface="Calibri"/>
              </a:rPr>
              <a:t>MentiScope</a:t>
            </a:r>
            <a:endParaRPr/>
          </a:p>
          <a:p>
            <a:pPr indent="0" lvl="0" marL="0" marR="0" rtl="0" algn="ctr">
              <a:spcBef>
                <a:spcPts val="400"/>
              </a:spcBef>
              <a:spcAft>
                <a:spcPts val="0"/>
              </a:spcAft>
              <a:buNone/>
            </a:pPr>
            <a:r>
              <a:rPr b="0" i="0" lang="en-US" sz="2800" u="none" cap="none" strike="noStrike">
                <a:solidFill>
                  <a:srgbClr val="BBDEFB"/>
                </a:solidFill>
                <a:latin typeface="Calibri"/>
                <a:ea typeface="Calibri"/>
                <a:cs typeface="Calibri"/>
                <a:sym typeface="Calibri"/>
              </a:rPr>
              <a:t>Gc Micro Assessment Engine</a:t>
            </a:r>
            <a:endParaRPr/>
          </a:p>
          <a:p>
            <a:pPr indent="0" lvl="0" marL="0" marR="0" rtl="0" algn="ctr">
              <a:spcBef>
                <a:spcPts val="2000"/>
              </a:spcBef>
              <a:spcAft>
                <a:spcPts val="0"/>
              </a:spcAft>
              <a:buNone/>
            </a:pPr>
            <a:r>
              <a:t/>
            </a:r>
            <a:endParaRPr b="0" i="0" sz="2800" u="none" cap="none" strike="noStrike">
              <a:solidFill>
                <a:srgbClr val="BBDEFB"/>
              </a:solidFill>
              <a:latin typeface="Calibri"/>
              <a:ea typeface="Calibri"/>
              <a:cs typeface="Calibri"/>
              <a:sym typeface="Calibri"/>
            </a:endParaRPr>
          </a:p>
          <a:p>
            <a:pPr indent="0" lvl="0" marL="0" marR="0" rtl="0" algn="ctr">
              <a:spcBef>
                <a:spcPts val="800"/>
              </a:spcBef>
              <a:spcAft>
                <a:spcPts val="0"/>
              </a:spcAft>
              <a:buNone/>
            </a:pPr>
            <a:r>
              <a:rPr b="0" i="0" lang="en-US" sz="1600" u="none" cap="none" strike="noStrike">
                <a:solidFill>
                  <a:srgbClr val="90A4AE"/>
                </a:solidFill>
                <a:latin typeface="Calibri"/>
                <a:ea typeface="Calibri"/>
                <a:cs typeface="Calibri"/>
                <a:sym typeface="Calibri"/>
              </a:rPr>
              <a:t>Crystallised Intelligence Assessment Platform</a:t>
            </a:r>
            <a:endParaRPr/>
          </a:p>
          <a:p>
            <a:pPr indent="0" lvl="0" marL="0" marR="0" rtl="0" algn="ctr">
              <a:spcBef>
                <a:spcPts val="3000"/>
              </a:spcBef>
              <a:spcAft>
                <a:spcPts val="0"/>
              </a:spcAft>
              <a:buNone/>
            </a:pPr>
            <a:r>
              <a:t/>
            </a:r>
            <a:endParaRPr b="0" i="0" sz="1600" u="none" cap="none" strike="noStrike">
              <a:solidFill>
                <a:srgbClr val="90A4AE"/>
              </a:solidFill>
              <a:latin typeface="Calibri"/>
              <a:ea typeface="Calibri"/>
              <a:cs typeface="Calibri"/>
              <a:sym typeface="Calibri"/>
            </a:endParaRPr>
          </a:p>
          <a:p>
            <a:pPr indent="0" lvl="0" marL="0" marR="0" rtl="0" algn="ctr">
              <a:spcBef>
                <a:spcPts val="800"/>
              </a:spcBef>
              <a:spcAft>
                <a:spcPts val="0"/>
              </a:spcAft>
              <a:buNone/>
            </a:pPr>
            <a:r>
              <a:rPr b="1" i="0" lang="en-US" sz="2000" u="none" cap="none" strike="noStrike">
                <a:solidFill>
                  <a:srgbClr val="FFFFFF"/>
                </a:solidFill>
                <a:latin typeface="Calibri"/>
                <a:ea typeface="Calibri"/>
                <a:cs typeface="Calibri"/>
                <a:sym typeface="Calibri"/>
              </a:rPr>
              <a:t>Aditya</a:t>
            </a:r>
            <a:endParaRPr/>
          </a:p>
          <a:p>
            <a:pPr indent="0" lvl="0" marL="0" marR="0" rtl="0" algn="ctr">
              <a:spcBef>
                <a:spcPts val="600"/>
              </a:spcBef>
              <a:spcAft>
                <a:spcPts val="0"/>
              </a:spcAft>
              <a:buNone/>
            </a:pPr>
            <a:r>
              <a:rPr b="0" i="0" lang="en-US" sz="1400" u="none" cap="none" strike="noStrike">
                <a:solidFill>
                  <a:srgbClr val="90A4AE"/>
                </a:solidFill>
                <a:latin typeface="Calibri"/>
                <a:ea typeface="Calibri"/>
                <a:cs typeface="Calibri"/>
                <a:sym typeface="Calibri"/>
              </a:rPr>
              <a:t>July 07, 2026</a:t>
            </a:r>
            <a:endParaRPr/>
          </a:p>
        </p:txBody>
      </p:sp>
      <p:sp>
        <p:nvSpPr>
          <p:cNvPr id="87" name="Google Shape;87;p1"/>
          <p:cNvSpPr/>
          <p:nvPr/>
        </p:nvSpPr>
        <p:spPr>
          <a:xfrm>
            <a:off x="0" y="6784848"/>
            <a:ext cx="12191695" cy="73152"/>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9601200" y="6309360"/>
            <a:ext cx="22860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000" u="none" cap="none" strike="noStrike">
                <a:solidFill>
                  <a:srgbClr val="90A4AE"/>
                </a:solidFill>
                <a:latin typeface="Calibri"/>
                <a:ea typeface="Calibri"/>
                <a:cs typeface="Calibri"/>
                <a:sym typeface="Calibri"/>
              </a:rPr>
              <a:t>v1.0.0 - MVP Progress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2" name="Shape 92"/>
        <p:cNvGrpSpPr/>
        <p:nvPr/>
      </p:nvGrpSpPr>
      <p:grpSpPr>
        <a:xfrm>
          <a:off x="0" y="0"/>
          <a:ext cx="0" cy="0"/>
          <a:chOff x="0" y="0"/>
          <a:chExt cx="0" cy="0"/>
        </a:xfrm>
      </p:grpSpPr>
      <p:sp>
        <p:nvSpPr>
          <p:cNvPr id="93" name="Google Shape;93;p2"/>
          <p:cNvSpPr/>
          <p:nvPr/>
        </p:nvSpPr>
        <p:spPr>
          <a:xfrm>
            <a:off x="0" y="0"/>
            <a:ext cx="12191695" cy="54864"/>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2"/>
          <p:cNvSpPr txBox="1"/>
          <p:nvPr/>
        </p:nvSpPr>
        <p:spPr>
          <a:xfrm>
            <a:off x="731520" y="320040"/>
            <a:ext cx="100584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rgbClr val="1B4F72"/>
                </a:solidFill>
                <a:latin typeface="Calibri"/>
                <a:ea typeface="Calibri"/>
                <a:cs typeface="Calibri"/>
                <a:sym typeface="Calibri"/>
              </a:rPr>
              <a:t>PROJECT OVERVIEW</a:t>
            </a:r>
            <a:endParaRPr/>
          </a:p>
        </p:txBody>
      </p:sp>
      <p:sp>
        <p:nvSpPr>
          <p:cNvPr id="95" name="Google Shape;95;p2"/>
          <p:cNvSpPr/>
          <p:nvPr/>
        </p:nvSpPr>
        <p:spPr>
          <a:xfrm>
            <a:off x="731520" y="868680"/>
            <a:ext cx="2286000" cy="25400"/>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2"/>
          <p:cNvSpPr/>
          <p:nvPr/>
        </p:nvSpPr>
        <p:spPr>
          <a:xfrm>
            <a:off x="502920" y="1280160"/>
            <a:ext cx="2560320" cy="3840480"/>
          </a:xfrm>
          <a:prstGeom prst="roundRect">
            <a:avLst>
              <a:gd fmla="val 16667" name="adj"/>
            </a:avLst>
          </a:prstGeom>
          <a:solidFill>
            <a:srgbClr val="FFFFFF"/>
          </a:solidFill>
          <a:ln cap="flat" cmpd="sng" w="1905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p:nvPr/>
        </p:nvSpPr>
        <p:spPr>
          <a:xfrm>
            <a:off x="502920" y="1280160"/>
            <a:ext cx="2560320" cy="54864"/>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2"/>
          <p:cNvSpPr/>
          <p:nvPr/>
        </p:nvSpPr>
        <p:spPr>
          <a:xfrm>
            <a:off x="1417320" y="1508760"/>
            <a:ext cx="640080" cy="64008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a:t>
            </a:r>
            <a:endParaRPr/>
          </a:p>
        </p:txBody>
      </p:sp>
      <p:sp>
        <p:nvSpPr>
          <p:cNvPr id="99" name="Google Shape;99;p2"/>
          <p:cNvSpPr txBox="1"/>
          <p:nvPr/>
        </p:nvSpPr>
        <p:spPr>
          <a:xfrm>
            <a:off x="640080" y="2286000"/>
            <a:ext cx="22860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00" u="none" cap="none" strike="noStrike">
                <a:solidFill>
                  <a:srgbClr val="1B4F72"/>
                </a:solidFill>
                <a:latin typeface="Calibri"/>
                <a:ea typeface="Calibri"/>
                <a:cs typeface="Calibri"/>
                <a:sym typeface="Calibri"/>
              </a:rPr>
              <a:t>Problem Statement</a:t>
            </a:r>
            <a:endParaRPr/>
          </a:p>
        </p:txBody>
      </p:sp>
      <p:sp>
        <p:nvSpPr>
          <p:cNvPr id="100" name="Google Shape;100;p2"/>
          <p:cNvSpPr txBox="1"/>
          <p:nvPr/>
        </p:nvSpPr>
        <p:spPr>
          <a:xfrm>
            <a:off x="685800" y="2743200"/>
            <a:ext cx="2194560" cy="2194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546E7A"/>
                </a:solidFill>
                <a:latin typeface="Calibri"/>
                <a:ea typeface="Calibri"/>
                <a:cs typeface="Calibri"/>
                <a:sym typeface="Calibri"/>
              </a:rPr>
              <a:t>Traditional assessments mainly measure memorization rather than real-world knowledge application.</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100" u="none" cap="none" strike="noStrike">
                <a:solidFill>
                  <a:srgbClr val="546E7A"/>
                </a:solidFill>
                <a:latin typeface="Calibri"/>
                <a:ea typeface="Calibri"/>
                <a:cs typeface="Calibri"/>
                <a:sym typeface="Calibri"/>
              </a:rPr>
              <a:t>Long-form essays are costly to evaluate at scale.</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No structured micro-assessment tools exist for</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measuring Crystallised Intelligence (Gc).</a:t>
            </a:r>
            <a:endParaRPr/>
          </a:p>
        </p:txBody>
      </p:sp>
      <p:sp>
        <p:nvSpPr>
          <p:cNvPr id="101" name="Google Shape;101;p2"/>
          <p:cNvSpPr/>
          <p:nvPr/>
        </p:nvSpPr>
        <p:spPr>
          <a:xfrm>
            <a:off x="3337560" y="1280160"/>
            <a:ext cx="2560320" cy="3840480"/>
          </a:xfrm>
          <a:prstGeom prst="roundRect">
            <a:avLst>
              <a:gd fmla="val 16667" name="adj"/>
            </a:avLst>
          </a:prstGeom>
          <a:solidFill>
            <a:srgbClr val="FFFFFF"/>
          </a:solidFill>
          <a:ln cap="flat" cmpd="sng" w="1905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2"/>
          <p:cNvSpPr/>
          <p:nvPr/>
        </p:nvSpPr>
        <p:spPr>
          <a:xfrm>
            <a:off x="3337560" y="1280160"/>
            <a:ext cx="2560320" cy="54864"/>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p:nvPr/>
        </p:nvSpPr>
        <p:spPr>
          <a:xfrm>
            <a:off x="4251960" y="1508760"/>
            <a:ext cx="640080" cy="64008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a:t>
            </a:r>
            <a:endParaRPr/>
          </a:p>
        </p:txBody>
      </p:sp>
      <p:sp>
        <p:nvSpPr>
          <p:cNvPr id="104" name="Google Shape;104;p2"/>
          <p:cNvSpPr txBox="1"/>
          <p:nvPr/>
        </p:nvSpPr>
        <p:spPr>
          <a:xfrm>
            <a:off x="3474720" y="2286000"/>
            <a:ext cx="22860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00" u="none" cap="none" strike="noStrike">
                <a:solidFill>
                  <a:srgbClr val="1B4F72"/>
                </a:solidFill>
                <a:latin typeface="Calibri"/>
                <a:ea typeface="Calibri"/>
                <a:cs typeface="Calibri"/>
                <a:sym typeface="Calibri"/>
              </a:rPr>
              <a:t>Project Objective</a:t>
            </a:r>
            <a:endParaRPr/>
          </a:p>
        </p:txBody>
      </p:sp>
      <p:sp>
        <p:nvSpPr>
          <p:cNvPr id="105" name="Google Shape;105;p2"/>
          <p:cNvSpPr txBox="1"/>
          <p:nvPr/>
        </p:nvSpPr>
        <p:spPr>
          <a:xfrm>
            <a:off x="3520440" y="2743200"/>
            <a:ext cx="2194560" cy="2194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546E7A"/>
                </a:solidFill>
                <a:latin typeface="Calibri"/>
                <a:ea typeface="Calibri"/>
                <a:cs typeface="Calibri"/>
                <a:sym typeface="Calibri"/>
              </a:rPr>
              <a:t>Build a data-driven, 3-stage cognitive assessment</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engine that evaluates knowledge activation,</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systems thinking, and verbal reasoning through</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a stateless processing pipeline.</a:t>
            </a:r>
            <a:endParaRPr/>
          </a:p>
        </p:txBody>
      </p:sp>
      <p:sp>
        <p:nvSpPr>
          <p:cNvPr id="106" name="Google Shape;106;p2"/>
          <p:cNvSpPr/>
          <p:nvPr/>
        </p:nvSpPr>
        <p:spPr>
          <a:xfrm>
            <a:off x="6172200" y="1280160"/>
            <a:ext cx="2560320" cy="3840480"/>
          </a:xfrm>
          <a:prstGeom prst="roundRect">
            <a:avLst>
              <a:gd fmla="val 16667" name="adj"/>
            </a:avLst>
          </a:prstGeom>
          <a:solidFill>
            <a:srgbClr val="FFFFFF"/>
          </a:solidFill>
          <a:ln cap="flat" cmpd="sng" w="1905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2"/>
          <p:cNvSpPr/>
          <p:nvPr/>
        </p:nvSpPr>
        <p:spPr>
          <a:xfrm>
            <a:off x="6172200" y="1280160"/>
            <a:ext cx="2560320" cy="54864"/>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2"/>
          <p:cNvSpPr/>
          <p:nvPr/>
        </p:nvSpPr>
        <p:spPr>
          <a:xfrm>
            <a:off x="7086600" y="1508760"/>
            <a:ext cx="640080" cy="64008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a:t>
            </a:r>
            <a:endParaRPr/>
          </a:p>
        </p:txBody>
      </p:sp>
      <p:sp>
        <p:nvSpPr>
          <p:cNvPr id="109" name="Google Shape;109;p2"/>
          <p:cNvSpPr txBox="1"/>
          <p:nvPr/>
        </p:nvSpPr>
        <p:spPr>
          <a:xfrm>
            <a:off x="6309360" y="2286000"/>
            <a:ext cx="22860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00" u="none" cap="none" strike="noStrike">
                <a:solidFill>
                  <a:srgbClr val="1B4F72"/>
                </a:solidFill>
                <a:latin typeface="Calibri"/>
                <a:ea typeface="Calibri"/>
                <a:cs typeface="Calibri"/>
                <a:sym typeface="Calibri"/>
              </a:rPr>
              <a:t>Target Users</a:t>
            </a:r>
            <a:endParaRPr/>
          </a:p>
        </p:txBody>
      </p:sp>
      <p:sp>
        <p:nvSpPr>
          <p:cNvPr id="110" name="Google Shape;110;p2"/>
          <p:cNvSpPr txBox="1"/>
          <p:nvPr/>
        </p:nvSpPr>
        <p:spPr>
          <a:xfrm>
            <a:off x="6355080" y="2743200"/>
            <a:ext cx="2194560" cy="2194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546E7A"/>
                </a:solidFill>
                <a:latin typeface="Calibri"/>
                <a:ea typeface="Calibri"/>
                <a:cs typeface="Calibri"/>
                <a:sym typeface="Calibri"/>
              </a:rPr>
              <a:t>Students: Taking structured assessments</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Educators: Analyzing cognitive profiles</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Administrators: Viewing cohort performance</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metrics and analytics dashboards</a:t>
            </a:r>
            <a:endParaRPr/>
          </a:p>
        </p:txBody>
      </p:sp>
      <p:sp>
        <p:nvSpPr>
          <p:cNvPr id="111" name="Google Shape;111;p2"/>
          <p:cNvSpPr/>
          <p:nvPr/>
        </p:nvSpPr>
        <p:spPr>
          <a:xfrm>
            <a:off x="9006840" y="1280160"/>
            <a:ext cx="2560320" cy="3840480"/>
          </a:xfrm>
          <a:prstGeom prst="roundRect">
            <a:avLst>
              <a:gd fmla="val 16667" name="adj"/>
            </a:avLst>
          </a:prstGeom>
          <a:solidFill>
            <a:srgbClr val="FFFFFF"/>
          </a:solidFill>
          <a:ln cap="flat" cmpd="sng" w="1905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p:nvPr/>
        </p:nvSpPr>
        <p:spPr>
          <a:xfrm>
            <a:off x="9006840" y="1280160"/>
            <a:ext cx="2560320" cy="54864"/>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2"/>
          <p:cNvSpPr/>
          <p:nvPr/>
        </p:nvSpPr>
        <p:spPr>
          <a:xfrm>
            <a:off x="9921240" y="1508760"/>
            <a:ext cx="640080" cy="64008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a:t>
            </a:r>
            <a:endParaRPr/>
          </a:p>
        </p:txBody>
      </p:sp>
      <p:sp>
        <p:nvSpPr>
          <p:cNvPr id="114" name="Google Shape;114;p2"/>
          <p:cNvSpPr txBox="1"/>
          <p:nvPr/>
        </p:nvSpPr>
        <p:spPr>
          <a:xfrm>
            <a:off x="9144000" y="2286000"/>
            <a:ext cx="22860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00" u="none" cap="none" strike="noStrike">
                <a:solidFill>
                  <a:srgbClr val="1B4F72"/>
                </a:solidFill>
                <a:latin typeface="Calibri"/>
                <a:ea typeface="Calibri"/>
                <a:cs typeface="Calibri"/>
                <a:sym typeface="Calibri"/>
              </a:rPr>
              <a:t>Expected Outcome</a:t>
            </a:r>
            <a:endParaRPr/>
          </a:p>
        </p:txBody>
      </p:sp>
      <p:sp>
        <p:nvSpPr>
          <p:cNvPr id="115" name="Google Shape;115;p2"/>
          <p:cNvSpPr txBox="1"/>
          <p:nvPr/>
        </p:nvSpPr>
        <p:spPr>
          <a:xfrm>
            <a:off x="9189720" y="2743200"/>
            <a:ext cx="2194560" cy="2194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546E7A"/>
                </a:solidFill>
                <a:latin typeface="Calibri"/>
                <a:ea typeface="Calibri"/>
                <a:cs typeface="Calibri"/>
                <a:sym typeface="Calibri"/>
              </a:rPr>
              <a:t>Detailed downloadable cognitive evaluation</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profiles in SDK-compliant JSON format,</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real-time analytics dashboards, and</a:t>
            </a:r>
            <a:br>
              <a:rPr b="0" i="0" lang="en-US" sz="1100" u="none" cap="none" strike="noStrike">
                <a:solidFill>
                  <a:srgbClr val="546E7A"/>
                </a:solidFill>
                <a:latin typeface="Calibri"/>
                <a:ea typeface="Calibri"/>
                <a:cs typeface="Calibri"/>
                <a:sym typeface="Calibri"/>
              </a:rPr>
            </a:br>
            <a:r>
              <a:rPr b="0" i="0" lang="en-US" sz="1100" u="none" cap="none" strike="noStrike">
                <a:solidFill>
                  <a:srgbClr val="546E7A"/>
                </a:solidFill>
                <a:latin typeface="Calibri"/>
                <a:ea typeface="Calibri"/>
                <a:cs typeface="Calibri"/>
                <a:sym typeface="Calibri"/>
              </a:rPr>
              <a:t>configurable rubric-based scoring.</a:t>
            </a:r>
            <a:endParaRPr/>
          </a:p>
        </p:txBody>
      </p:sp>
      <p:sp>
        <p:nvSpPr>
          <p:cNvPr id="116" name="Google Shape;116;p2"/>
          <p:cNvSpPr txBox="1"/>
          <p:nvPr/>
        </p:nvSpPr>
        <p:spPr>
          <a:xfrm>
            <a:off x="731520" y="5486400"/>
            <a:ext cx="1051560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1B4F72"/>
                </a:solidFill>
                <a:latin typeface="Calibri"/>
                <a:ea typeface="Calibri"/>
                <a:cs typeface="Calibri"/>
                <a:sym typeface="Calibri"/>
              </a:rPr>
              <a:t>Three Assessment Stages:   (1) Knowledge Activation (MCQ)   -&gt;   (2) Concept Systems Mapping   -&gt;   (3) Short Written Justification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20" name="Shape 120"/>
        <p:cNvGrpSpPr/>
        <p:nvPr/>
      </p:nvGrpSpPr>
      <p:grpSpPr>
        <a:xfrm>
          <a:off x="0" y="0"/>
          <a:ext cx="0" cy="0"/>
          <a:chOff x="0" y="0"/>
          <a:chExt cx="0" cy="0"/>
        </a:xfrm>
      </p:grpSpPr>
      <p:sp>
        <p:nvSpPr>
          <p:cNvPr id="121" name="Google Shape;121;p3"/>
          <p:cNvSpPr/>
          <p:nvPr/>
        </p:nvSpPr>
        <p:spPr>
          <a:xfrm>
            <a:off x="0" y="0"/>
            <a:ext cx="12191695" cy="54864"/>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3"/>
          <p:cNvSpPr txBox="1"/>
          <p:nvPr/>
        </p:nvSpPr>
        <p:spPr>
          <a:xfrm>
            <a:off x="731520" y="320040"/>
            <a:ext cx="100584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rgbClr val="1B4F72"/>
                </a:solidFill>
                <a:latin typeface="Calibri"/>
                <a:ea typeface="Calibri"/>
                <a:cs typeface="Calibri"/>
                <a:sym typeface="Calibri"/>
              </a:rPr>
              <a:t>SYSTEM ARCHITECTURE</a:t>
            </a:r>
            <a:endParaRPr/>
          </a:p>
        </p:txBody>
      </p:sp>
      <p:sp>
        <p:nvSpPr>
          <p:cNvPr id="123" name="Google Shape;123;p3"/>
          <p:cNvSpPr/>
          <p:nvPr/>
        </p:nvSpPr>
        <p:spPr>
          <a:xfrm>
            <a:off x="731520" y="868680"/>
            <a:ext cx="2560320" cy="25400"/>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3"/>
          <p:cNvSpPr/>
          <p:nvPr/>
        </p:nvSpPr>
        <p:spPr>
          <a:xfrm>
            <a:off x="365760" y="1234440"/>
            <a:ext cx="1554480" cy="640080"/>
          </a:xfrm>
          <a:prstGeom prst="roundRect">
            <a:avLst>
              <a:gd fmla="val 16667" name="adj"/>
            </a:avLst>
          </a:prstGeom>
          <a:solidFill>
            <a:srgbClr val="1B4F7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3"/>
          <p:cNvSpPr txBox="1"/>
          <p:nvPr/>
        </p:nvSpPr>
        <p:spPr>
          <a:xfrm>
            <a:off x="365760" y="1344168"/>
            <a:ext cx="15544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PRESENTATION</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LAYER</a:t>
            </a:r>
            <a:endParaRPr/>
          </a:p>
        </p:txBody>
      </p:sp>
      <p:sp>
        <p:nvSpPr>
          <p:cNvPr id="126" name="Google Shape;126;p3"/>
          <p:cNvSpPr/>
          <p:nvPr/>
        </p:nvSpPr>
        <p:spPr>
          <a:xfrm>
            <a:off x="2194560" y="1307592"/>
            <a:ext cx="1737360" cy="493776"/>
          </a:xfrm>
          <a:prstGeom prst="roundRect">
            <a:avLst>
              <a:gd fmla="val 16667" name="adj"/>
            </a:avLst>
          </a:prstGeom>
          <a:solidFill>
            <a:srgbClr val="E3F2FD"/>
          </a:solidFill>
          <a:ln cap="flat" cmpd="sng" w="1270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3"/>
          <p:cNvSpPr txBox="1"/>
          <p:nvPr/>
        </p:nvSpPr>
        <p:spPr>
          <a:xfrm>
            <a:off x="2194560" y="1399032"/>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React + Vite</a:t>
            </a:r>
            <a:endParaRPr/>
          </a:p>
        </p:txBody>
      </p:sp>
      <p:sp>
        <p:nvSpPr>
          <p:cNvPr id="128" name="Google Shape;128;p3"/>
          <p:cNvSpPr/>
          <p:nvPr/>
        </p:nvSpPr>
        <p:spPr>
          <a:xfrm>
            <a:off x="4114800" y="1307592"/>
            <a:ext cx="1737360" cy="493776"/>
          </a:xfrm>
          <a:prstGeom prst="roundRect">
            <a:avLst>
              <a:gd fmla="val 16667" name="adj"/>
            </a:avLst>
          </a:prstGeom>
          <a:solidFill>
            <a:srgbClr val="E3F2FD"/>
          </a:solidFill>
          <a:ln cap="flat" cmpd="sng" w="1270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3"/>
          <p:cNvSpPr txBox="1"/>
          <p:nvPr/>
        </p:nvSpPr>
        <p:spPr>
          <a:xfrm>
            <a:off x="4114800" y="1399032"/>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Home Page</a:t>
            </a:r>
            <a:endParaRPr/>
          </a:p>
        </p:txBody>
      </p:sp>
      <p:sp>
        <p:nvSpPr>
          <p:cNvPr id="130" name="Google Shape;130;p3"/>
          <p:cNvSpPr/>
          <p:nvPr/>
        </p:nvSpPr>
        <p:spPr>
          <a:xfrm>
            <a:off x="6035040" y="1307592"/>
            <a:ext cx="1737360" cy="493776"/>
          </a:xfrm>
          <a:prstGeom prst="roundRect">
            <a:avLst>
              <a:gd fmla="val 16667" name="adj"/>
            </a:avLst>
          </a:prstGeom>
          <a:solidFill>
            <a:srgbClr val="E3F2FD"/>
          </a:solidFill>
          <a:ln cap="flat" cmpd="sng" w="1270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3"/>
          <p:cNvSpPr txBox="1"/>
          <p:nvPr/>
        </p:nvSpPr>
        <p:spPr>
          <a:xfrm>
            <a:off x="6035040" y="1399032"/>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Assessment Page</a:t>
            </a:r>
            <a:endParaRPr/>
          </a:p>
        </p:txBody>
      </p:sp>
      <p:sp>
        <p:nvSpPr>
          <p:cNvPr id="132" name="Google Shape;132;p3"/>
          <p:cNvSpPr/>
          <p:nvPr/>
        </p:nvSpPr>
        <p:spPr>
          <a:xfrm>
            <a:off x="7955280" y="1307592"/>
            <a:ext cx="1737360" cy="493776"/>
          </a:xfrm>
          <a:prstGeom prst="roundRect">
            <a:avLst>
              <a:gd fmla="val 16667" name="adj"/>
            </a:avLst>
          </a:prstGeom>
          <a:solidFill>
            <a:srgbClr val="E3F2FD"/>
          </a:solidFill>
          <a:ln cap="flat" cmpd="sng" w="1270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3"/>
          <p:cNvSpPr txBox="1"/>
          <p:nvPr/>
        </p:nvSpPr>
        <p:spPr>
          <a:xfrm>
            <a:off x="7955280" y="1399032"/>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Result Page</a:t>
            </a:r>
            <a:endParaRPr/>
          </a:p>
        </p:txBody>
      </p:sp>
      <p:sp>
        <p:nvSpPr>
          <p:cNvPr id="134" name="Google Shape;134;p3"/>
          <p:cNvSpPr/>
          <p:nvPr/>
        </p:nvSpPr>
        <p:spPr>
          <a:xfrm>
            <a:off x="9875520" y="1307592"/>
            <a:ext cx="1737360" cy="493776"/>
          </a:xfrm>
          <a:prstGeom prst="roundRect">
            <a:avLst>
              <a:gd fmla="val 16667" name="adj"/>
            </a:avLst>
          </a:prstGeom>
          <a:solidFill>
            <a:srgbClr val="E3F2FD"/>
          </a:solidFill>
          <a:ln cap="flat" cmpd="sng" w="1270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3"/>
          <p:cNvSpPr txBox="1"/>
          <p:nvPr/>
        </p:nvSpPr>
        <p:spPr>
          <a:xfrm>
            <a:off x="9875520" y="1399032"/>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Analytics Page</a:t>
            </a:r>
            <a:endParaRPr/>
          </a:p>
        </p:txBody>
      </p:sp>
      <p:sp>
        <p:nvSpPr>
          <p:cNvPr id="136" name="Google Shape;136;p3"/>
          <p:cNvSpPr/>
          <p:nvPr/>
        </p:nvSpPr>
        <p:spPr>
          <a:xfrm>
            <a:off x="5760720" y="1920240"/>
            <a:ext cx="320040" cy="320040"/>
          </a:xfrm>
          <a:prstGeom prst="downArrow">
            <a:avLst>
              <a:gd fmla="val 50000" name="adj1"/>
              <a:gd fmla="val 50000" name="adj2"/>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3"/>
          <p:cNvSpPr/>
          <p:nvPr/>
        </p:nvSpPr>
        <p:spPr>
          <a:xfrm>
            <a:off x="365760" y="2286000"/>
            <a:ext cx="1554480" cy="640080"/>
          </a:xfrm>
          <a:prstGeom prst="roundRect">
            <a:avLst>
              <a:gd fmla="val 16667" name="adj"/>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3"/>
          <p:cNvSpPr txBox="1"/>
          <p:nvPr/>
        </p:nvSpPr>
        <p:spPr>
          <a:xfrm>
            <a:off x="365760" y="2395728"/>
            <a:ext cx="15544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API</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LAYER</a:t>
            </a:r>
            <a:endParaRPr/>
          </a:p>
        </p:txBody>
      </p:sp>
      <p:sp>
        <p:nvSpPr>
          <p:cNvPr id="139" name="Google Shape;139;p3"/>
          <p:cNvSpPr/>
          <p:nvPr/>
        </p:nvSpPr>
        <p:spPr>
          <a:xfrm>
            <a:off x="2194560" y="2359152"/>
            <a:ext cx="1737360" cy="493776"/>
          </a:xfrm>
          <a:prstGeom prst="roundRect">
            <a:avLst>
              <a:gd fmla="val 16667" name="adj"/>
            </a:avLst>
          </a:prstGeom>
          <a:solidFill>
            <a:srgbClr val="E1F5FE"/>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3"/>
          <p:cNvSpPr txBox="1"/>
          <p:nvPr/>
        </p:nvSpPr>
        <p:spPr>
          <a:xfrm>
            <a:off x="2194560" y="2450592"/>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FastAPI Server</a:t>
            </a:r>
            <a:endParaRPr/>
          </a:p>
        </p:txBody>
      </p:sp>
      <p:sp>
        <p:nvSpPr>
          <p:cNvPr id="141" name="Google Shape;141;p3"/>
          <p:cNvSpPr/>
          <p:nvPr/>
        </p:nvSpPr>
        <p:spPr>
          <a:xfrm>
            <a:off x="4114800" y="2359152"/>
            <a:ext cx="1737360" cy="493776"/>
          </a:xfrm>
          <a:prstGeom prst="roundRect">
            <a:avLst>
              <a:gd fmla="val 16667" name="adj"/>
            </a:avLst>
          </a:prstGeom>
          <a:solidFill>
            <a:srgbClr val="E1F5FE"/>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3"/>
          <p:cNvSpPr txBox="1"/>
          <p:nvPr/>
        </p:nvSpPr>
        <p:spPr>
          <a:xfrm>
            <a:off x="4114800" y="2450592"/>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REST Endpoints</a:t>
            </a:r>
            <a:endParaRPr/>
          </a:p>
        </p:txBody>
      </p:sp>
      <p:sp>
        <p:nvSpPr>
          <p:cNvPr id="143" name="Google Shape;143;p3"/>
          <p:cNvSpPr/>
          <p:nvPr/>
        </p:nvSpPr>
        <p:spPr>
          <a:xfrm>
            <a:off x="6035040" y="2359152"/>
            <a:ext cx="1737360" cy="493776"/>
          </a:xfrm>
          <a:prstGeom prst="roundRect">
            <a:avLst>
              <a:gd fmla="val 16667" name="adj"/>
            </a:avLst>
          </a:prstGeom>
          <a:solidFill>
            <a:srgbClr val="E1F5FE"/>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3"/>
          <p:cNvSpPr txBox="1"/>
          <p:nvPr/>
        </p:nvSpPr>
        <p:spPr>
          <a:xfrm>
            <a:off x="6035040" y="2450592"/>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Pydantic Schemas</a:t>
            </a:r>
            <a:endParaRPr/>
          </a:p>
        </p:txBody>
      </p:sp>
      <p:sp>
        <p:nvSpPr>
          <p:cNvPr id="145" name="Google Shape;145;p3"/>
          <p:cNvSpPr/>
          <p:nvPr/>
        </p:nvSpPr>
        <p:spPr>
          <a:xfrm>
            <a:off x="7955280" y="2359152"/>
            <a:ext cx="1737360" cy="493776"/>
          </a:xfrm>
          <a:prstGeom prst="roundRect">
            <a:avLst>
              <a:gd fmla="val 16667" name="adj"/>
            </a:avLst>
          </a:prstGeom>
          <a:solidFill>
            <a:srgbClr val="E1F5FE"/>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3"/>
          <p:cNvSpPr txBox="1"/>
          <p:nvPr/>
        </p:nvSpPr>
        <p:spPr>
          <a:xfrm>
            <a:off x="7955280" y="2450592"/>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CORS Middleware</a:t>
            </a:r>
            <a:endParaRPr/>
          </a:p>
        </p:txBody>
      </p:sp>
      <p:sp>
        <p:nvSpPr>
          <p:cNvPr id="147" name="Google Shape;147;p3"/>
          <p:cNvSpPr/>
          <p:nvPr/>
        </p:nvSpPr>
        <p:spPr>
          <a:xfrm>
            <a:off x="9875520" y="2359152"/>
            <a:ext cx="1737360" cy="493776"/>
          </a:xfrm>
          <a:prstGeom prst="roundRect">
            <a:avLst>
              <a:gd fmla="val 16667" name="adj"/>
            </a:avLst>
          </a:prstGeom>
          <a:solidFill>
            <a:srgbClr val="E1F5FE"/>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3"/>
          <p:cNvSpPr txBox="1"/>
          <p:nvPr/>
        </p:nvSpPr>
        <p:spPr>
          <a:xfrm>
            <a:off x="9875520" y="2450592"/>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Exception Handlers</a:t>
            </a:r>
            <a:endParaRPr/>
          </a:p>
        </p:txBody>
      </p:sp>
      <p:sp>
        <p:nvSpPr>
          <p:cNvPr id="149" name="Google Shape;149;p3"/>
          <p:cNvSpPr/>
          <p:nvPr/>
        </p:nvSpPr>
        <p:spPr>
          <a:xfrm>
            <a:off x="5760720" y="2971800"/>
            <a:ext cx="320040" cy="320040"/>
          </a:xfrm>
          <a:prstGeom prst="downArrow">
            <a:avLst>
              <a:gd fmla="val 50000" name="adj1"/>
              <a:gd fmla="val 50000" name="adj2"/>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3"/>
          <p:cNvSpPr/>
          <p:nvPr/>
        </p:nvSpPr>
        <p:spPr>
          <a:xfrm>
            <a:off x="274320" y="3291840"/>
            <a:ext cx="11612880" cy="868680"/>
          </a:xfrm>
          <a:prstGeom prst="roundRect">
            <a:avLst>
              <a:gd fmla="val 16667" name="adj"/>
            </a:avLst>
          </a:prstGeom>
          <a:solidFill>
            <a:srgbClr val="C5CAE9"/>
          </a:solidFill>
          <a:ln cap="flat" cmpd="sng" w="31750">
            <a:solidFill>
              <a:srgbClr val="303F9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3"/>
          <p:cNvSpPr/>
          <p:nvPr/>
        </p:nvSpPr>
        <p:spPr>
          <a:xfrm>
            <a:off x="365760" y="3337560"/>
            <a:ext cx="1554480" cy="777240"/>
          </a:xfrm>
          <a:prstGeom prst="roundRect">
            <a:avLst>
              <a:gd fmla="val 16667" name="adj"/>
            </a:avLst>
          </a:prstGeom>
          <a:solidFill>
            <a:srgbClr val="0D47A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3"/>
          <p:cNvSpPr txBox="1"/>
          <p:nvPr/>
        </p:nvSpPr>
        <p:spPr>
          <a:xfrm>
            <a:off x="365760" y="3410712"/>
            <a:ext cx="1554480" cy="7772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ASSESSMENT</a:t>
            </a:r>
            <a:endParaRPr/>
          </a:p>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ENGINE</a:t>
            </a:r>
            <a:endParaRPr/>
          </a:p>
          <a:p>
            <a:pPr indent="0" lvl="0" marL="0" marR="0" rtl="0" algn="ctr">
              <a:spcBef>
                <a:spcPts val="0"/>
              </a:spcBef>
              <a:spcAft>
                <a:spcPts val="0"/>
              </a:spcAft>
              <a:buNone/>
            </a:pPr>
            <a:r>
              <a:rPr b="0" i="0" lang="en-US" sz="900" u="none" cap="none" strike="noStrike">
                <a:solidFill>
                  <a:srgbClr val="BBDEFB"/>
                </a:solidFill>
                <a:latin typeface="Calibri"/>
                <a:ea typeface="Calibri"/>
                <a:cs typeface="Calibri"/>
                <a:sym typeface="Calibri"/>
              </a:rPr>
              <a:t>(Core)</a:t>
            </a:r>
            <a:endParaRPr/>
          </a:p>
        </p:txBody>
      </p:sp>
      <p:sp>
        <p:nvSpPr>
          <p:cNvPr id="153" name="Google Shape;153;p3"/>
          <p:cNvSpPr/>
          <p:nvPr/>
        </p:nvSpPr>
        <p:spPr>
          <a:xfrm>
            <a:off x="2194560" y="3447288"/>
            <a:ext cx="1737360" cy="548640"/>
          </a:xfrm>
          <a:prstGeom prst="roundRect">
            <a:avLst>
              <a:gd fmla="val 16667" name="adj"/>
            </a:avLst>
          </a:prstGeom>
          <a:solidFill>
            <a:srgbClr val="E8EAF6"/>
          </a:solidFill>
          <a:ln cap="flat" cmpd="sng" w="19050">
            <a:solidFill>
              <a:srgbClr val="303F9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3"/>
          <p:cNvSpPr txBox="1"/>
          <p:nvPr/>
        </p:nvSpPr>
        <p:spPr>
          <a:xfrm>
            <a:off x="2194560" y="3557016"/>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A237E"/>
                </a:solidFill>
                <a:latin typeface="Calibri"/>
                <a:ea typeface="Calibri"/>
                <a:cs typeface="Calibri"/>
                <a:sym typeface="Calibri"/>
              </a:rPr>
              <a:t>Scenario Loader</a:t>
            </a:r>
            <a:endParaRPr/>
          </a:p>
        </p:txBody>
      </p:sp>
      <p:sp>
        <p:nvSpPr>
          <p:cNvPr id="155" name="Google Shape;155;p3"/>
          <p:cNvSpPr/>
          <p:nvPr/>
        </p:nvSpPr>
        <p:spPr>
          <a:xfrm>
            <a:off x="4114800" y="3447288"/>
            <a:ext cx="1737360" cy="548640"/>
          </a:xfrm>
          <a:prstGeom prst="roundRect">
            <a:avLst>
              <a:gd fmla="val 16667" name="adj"/>
            </a:avLst>
          </a:prstGeom>
          <a:solidFill>
            <a:srgbClr val="E8EAF6"/>
          </a:solidFill>
          <a:ln cap="flat" cmpd="sng" w="19050">
            <a:solidFill>
              <a:srgbClr val="303F9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3"/>
          <p:cNvSpPr txBox="1"/>
          <p:nvPr/>
        </p:nvSpPr>
        <p:spPr>
          <a:xfrm>
            <a:off x="4114800" y="3557016"/>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A237E"/>
                </a:solidFill>
                <a:latin typeface="Calibri"/>
                <a:ea typeface="Calibri"/>
                <a:cs typeface="Calibri"/>
                <a:sym typeface="Calibri"/>
              </a:rPr>
              <a:t>Response Evaluator</a:t>
            </a:r>
            <a:endParaRPr/>
          </a:p>
        </p:txBody>
      </p:sp>
      <p:sp>
        <p:nvSpPr>
          <p:cNvPr id="157" name="Google Shape;157;p3"/>
          <p:cNvSpPr/>
          <p:nvPr/>
        </p:nvSpPr>
        <p:spPr>
          <a:xfrm>
            <a:off x="6035040" y="3447288"/>
            <a:ext cx="1737360" cy="548640"/>
          </a:xfrm>
          <a:prstGeom prst="roundRect">
            <a:avLst>
              <a:gd fmla="val 16667" name="adj"/>
            </a:avLst>
          </a:prstGeom>
          <a:solidFill>
            <a:srgbClr val="E8EAF6"/>
          </a:solidFill>
          <a:ln cap="flat" cmpd="sng" w="19050">
            <a:solidFill>
              <a:srgbClr val="303F9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3"/>
          <p:cNvSpPr txBox="1"/>
          <p:nvPr/>
        </p:nvSpPr>
        <p:spPr>
          <a:xfrm>
            <a:off x="6035040" y="3557016"/>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A237E"/>
                </a:solidFill>
                <a:latin typeface="Calibri"/>
                <a:ea typeface="Calibri"/>
                <a:cs typeface="Calibri"/>
                <a:sym typeface="Calibri"/>
              </a:rPr>
              <a:t>Rubric Engine</a:t>
            </a:r>
            <a:endParaRPr/>
          </a:p>
        </p:txBody>
      </p:sp>
      <p:sp>
        <p:nvSpPr>
          <p:cNvPr id="159" name="Google Shape;159;p3"/>
          <p:cNvSpPr/>
          <p:nvPr/>
        </p:nvSpPr>
        <p:spPr>
          <a:xfrm>
            <a:off x="7955280" y="3447288"/>
            <a:ext cx="1737360" cy="548640"/>
          </a:xfrm>
          <a:prstGeom prst="roundRect">
            <a:avLst>
              <a:gd fmla="val 16667" name="adj"/>
            </a:avLst>
          </a:prstGeom>
          <a:solidFill>
            <a:srgbClr val="E8EAF6"/>
          </a:solidFill>
          <a:ln cap="flat" cmpd="sng" w="19050">
            <a:solidFill>
              <a:srgbClr val="303F9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3"/>
          <p:cNvSpPr txBox="1"/>
          <p:nvPr/>
        </p:nvSpPr>
        <p:spPr>
          <a:xfrm>
            <a:off x="7955280" y="3557016"/>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A237E"/>
                </a:solidFill>
                <a:latin typeface="Calibri"/>
                <a:ea typeface="Calibri"/>
                <a:cs typeface="Calibri"/>
                <a:sym typeface="Calibri"/>
              </a:rPr>
              <a:t>Event Logger</a:t>
            </a:r>
            <a:endParaRPr/>
          </a:p>
        </p:txBody>
      </p:sp>
      <p:sp>
        <p:nvSpPr>
          <p:cNvPr id="161" name="Google Shape;161;p3"/>
          <p:cNvSpPr/>
          <p:nvPr/>
        </p:nvSpPr>
        <p:spPr>
          <a:xfrm>
            <a:off x="9875520" y="3447288"/>
            <a:ext cx="1737360" cy="548640"/>
          </a:xfrm>
          <a:prstGeom prst="roundRect">
            <a:avLst>
              <a:gd fmla="val 16667" name="adj"/>
            </a:avLst>
          </a:prstGeom>
          <a:solidFill>
            <a:srgbClr val="E8EAF6"/>
          </a:solidFill>
          <a:ln cap="flat" cmpd="sng" w="19050">
            <a:solidFill>
              <a:srgbClr val="303F9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3"/>
          <p:cNvSpPr txBox="1"/>
          <p:nvPr/>
        </p:nvSpPr>
        <p:spPr>
          <a:xfrm>
            <a:off x="9875520" y="3557016"/>
            <a:ext cx="173736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1A237E"/>
                </a:solidFill>
                <a:latin typeface="Calibri"/>
                <a:ea typeface="Calibri"/>
                <a:cs typeface="Calibri"/>
                <a:sym typeface="Calibri"/>
              </a:rPr>
              <a:t>Analytics Service</a:t>
            </a:r>
            <a:endParaRPr/>
          </a:p>
        </p:txBody>
      </p:sp>
      <p:sp>
        <p:nvSpPr>
          <p:cNvPr id="163" name="Google Shape;163;p3"/>
          <p:cNvSpPr/>
          <p:nvPr/>
        </p:nvSpPr>
        <p:spPr>
          <a:xfrm>
            <a:off x="5760720" y="4187952"/>
            <a:ext cx="320040" cy="320040"/>
          </a:xfrm>
          <a:prstGeom prst="downArrow">
            <a:avLst>
              <a:gd fmla="val 50000" name="adj1"/>
              <a:gd fmla="val 50000" name="adj2"/>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3"/>
          <p:cNvSpPr/>
          <p:nvPr/>
        </p:nvSpPr>
        <p:spPr>
          <a:xfrm>
            <a:off x="365760" y="4553712"/>
            <a:ext cx="1554480" cy="640080"/>
          </a:xfrm>
          <a:prstGeom prst="roundRect">
            <a:avLst>
              <a:gd fmla="val 16667" name="adj"/>
            </a:avLst>
          </a:prstGeom>
          <a:solidFill>
            <a:srgbClr val="01579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3"/>
          <p:cNvSpPr txBox="1"/>
          <p:nvPr/>
        </p:nvSpPr>
        <p:spPr>
          <a:xfrm>
            <a:off x="365760" y="4663440"/>
            <a:ext cx="15544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DATA</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LAYER</a:t>
            </a:r>
            <a:endParaRPr/>
          </a:p>
        </p:txBody>
      </p:sp>
      <p:sp>
        <p:nvSpPr>
          <p:cNvPr id="166" name="Google Shape;166;p3"/>
          <p:cNvSpPr/>
          <p:nvPr/>
        </p:nvSpPr>
        <p:spPr>
          <a:xfrm>
            <a:off x="2194560" y="4626864"/>
            <a:ext cx="1737360" cy="493776"/>
          </a:xfrm>
          <a:prstGeom prst="roundRect">
            <a:avLst>
              <a:gd fmla="val 16667" name="adj"/>
            </a:avLst>
          </a:prstGeom>
          <a:solidFill>
            <a:srgbClr val="E0F2F1"/>
          </a:solidFill>
          <a:ln cap="flat" cmpd="sng" w="12700">
            <a:solidFill>
              <a:srgbClr val="0097A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3"/>
          <p:cNvSpPr txBox="1"/>
          <p:nvPr/>
        </p:nvSpPr>
        <p:spPr>
          <a:xfrm>
            <a:off x="2194560" y="4663440"/>
            <a:ext cx="17373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004D40"/>
                </a:solidFill>
                <a:latin typeface="Calibri"/>
                <a:ea typeface="Calibri"/>
                <a:cs typeface="Calibri"/>
                <a:sym typeface="Calibri"/>
              </a:rPr>
              <a:t>Scenario Bank</a:t>
            </a:r>
            <a:br>
              <a:rPr b="1" i="0" lang="en-US" sz="900" u="none" cap="none" strike="noStrike">
                <a:solidFill>
                  <a:srgbClr val="004D40"/>
                </a:solidFill>
                <a:latin typeface="Calibri"/>
                <a:ea typeface="Calibri"/>
                <a:cs typeface="Calibri"/>
                <a:sym typeface="Calibri"/>
              </a:rPr>
            </a:br>
            <a:r>
              <a:rPr b="1" i="0" lang="en-US" sz="900" u="none" cap="none" strike="noStrike">
                <a:solidFill>
                  <a:srgbClr val="004D40"/>
                </a:solidFill>
                <a:latin typeface="Calibri"/>
                <a:ea typeface="Calibri"/>
                <a:cs typeface="Calibri"/>
                <a:sym typeface="Calibri"/>
              </a:rPr>
              <a:t>(Initial Dataset)</a:t>
            </a:r>
            <a:endParaRPr/>
          </a:p>
        </p:txBody>
      </p:sp>
      <p:sp>
        <p:nvSpPr>
          <p:cNvPr id="168" name="Google Shape;168;p3"/>
          <p:cNvSpPr/>
          <p:nvPr/>
        </p:nvSpPr>
        <p:spPr>
          <a:xfrm>
            <a:off x="4114800" y="4626864"/>
            <a:ext cx="1737360" cy="493776"/>
          </a:xfrm>
          <a:prstGeom prst="roundRect">
            <a:avLst>
              <a:gd fmla="val 16667" name="adj"/>
            </a:avLst>
          </a:prstGeom>
          <a:solidFill>
            <a:srgbClr val="E0F2F1"/>
          </a:solidFill>
          <a:ln cap="flat" cmpd="sng" w="12700">
            <a:solidFill>
              <a:srgbClr val="0097A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3"/>
          <p:cNvSpPr txBox="1"/>
          <p:nvPr/>
        </p:nvSpPr>
        <p:spPr>
          <a:xfrm>
            <a:off x="4114800" y="4663440"/>
            <a:ext cx="17373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004D40"/>
                </a:solidFill>
                <a:latin typeface="Calibri"/>
                <a:ea typeface="Calibri"/>
                <a:cs typeface="Calibri"/>
                <a:sym typeface="Calibri"/>
              </a:rPr>
              <a:t>Gc Rubric</a:t>
            </a:r>
            <a:br>
              <a:rPr b="1" i="0" lang="en-US" sz="900" u="none" cap="none" strike="noStrike">
                <a:solidFill>
                  <a:srgbClr val="004D40"/>
                </a:solidFill>
                <a:latin typeface="Calibri"/>
                <a:ea typeface="Calibri"/>
                <a:cs typeface="Calibri"/>
                <a:sym typeface="Calibri"/>
              </a:rPr>
            </a:br>
            <a:r>
              <a:rPr b="1" i="0" lang="en-US" sz="900" u="none" cap="none" strike="noStrike">
                <a:solidFill>
                  <a:srgbClr val="004D40"/>
                </a:solidFill>
                <a:latin typeface="Calibri"/>
                <a:ea typeface="Calibri"/>
                <a:cs typeface="Calibri"/>
                <a:sym typeface="Calibri"/>
              </a:rPr>
              <a:t>(JSON)</a:t>
            </a:r>
            <a:endParaRPr/>
          </a:p>
        </p:txBody>
      </p:sp>
      <p:sp>
        <p:nvSpPr>
          <p:cNvPr id="170" name="Google Shape;170;p3"/>
          <p:cNvSpPr/>
          <p:nvPr/>
        </p:nvSpPr>
        <p:spPr>
          <a:xfrm>
            <a:off x="6035040" y="4626864"/>
            <a:ext cx="1737360" cy="493776"/>
          </a:xfrm>
          <a:prstGeom prst="roundRect">
            <a:avLst>
              <a:gd fmla="val 16667" name="adj"/>
            </a:avLst>
          </a:prstGeom>
          <a:solidFill>
            <a:srgbClr val="E0F2F1"/>
          </a:solidFill>
          <a:ln cap="flat" cmpd="sng" w="12700">
            <a:solidFill>
              <a:srgbClr val="0097A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3"/>
          <p:cNvSpPr txBox="1"/>
          <p:nvPr/>
        </p:nvSpPr>
        <p:spPr>
          <a:xfrm>
            <a:off x="6035040" y="4663440"/>
            <a:ext cx="17373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004D40"/>
                </a:solidFill>
                <a:latin typeface="Calibri"/>
                <a:ea typeface="Calibri"/>
                <a:cs typeface="Calibri"/>
                <a:sym typeface="Calibri"/>
              </a:rPr>
              <a:t>Scoring Rules</a:t>
            </a:r>
            <a:br>
              <a:rPr b="1" i="0" lang="en-US" sz="900" u="none" cap="none" strike="noStrike">
                <a:solidFill>
                  <a:srgbClr val="004D40"/>
                </a:solidFill>
                <a:latin typeface="Calibri"/>
                <a:ea typeface="Calibri"/>
                <a:cs typeface="Calibri"/>
                <a:sym typeface="Calibri"/>
              </a:rPr>
            </a:br>
            <a:r>
              <a:rPr b="1" i="0" lang="en-US" sz="900" u="none" cap="none" strike="noStrike">
                <a:solidFill>
                  <a:srgbClr val="004D40"/>
                </a:solidFill>
                <a:latin typeface="Calibri"/>
                <a:ea typeface="Calibri"/>
                <a:cs typeface="Calibri"/>
                <a:sym typeface="Calibri"/>
              </a:rPr>
              <a:t>(JSON)</a:t>
            </a:r>
            <a:endParaRPr/>
          </a:p>
        </p:txBody>
      </p:sp>
      <p:sp>
        <p:nvSpPr>
          <p:cNvPr id="172" name="Google Shape;172;p3"/>
          <p:cNvSpPr/>
          <p:nvPr/>
        </p:nvSpPr>
        <p:spPr>
          <a:xfrm>
            <a:off x="7955280" y="4626864"/>
            <a:ext cx="1737360" cy="493776"/>
          </a:xfrm>
          <a:prstGeom prst="roundRect">
            <a:avLst>
              <a:gd fmla="val 16667" name="adj"/>
            </a:avLst>
          </a:prstGeom>
          <a:solidFill>
            <a:srgbClr val="E0F2F1"/>
          </a:solidFill>
          <a:ln cap="flat" cmpd="sng" w="12700">
            <a:solidFill>
              <a:srgbClr val="0097A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3"/>
          <p:cNvSpPr txBox="1"/>
          <p:nvPr/>
        </p:nvSpPr>
        <p:spPr>
          <a:xfrm>
            <a:off x="7955280" y="4663440"/>
            <a:ext cx="17373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004D40"/>
                </a:solidFill>
                <a:latin typeface="Calibri"/>
                <a:ea typeface="Calibri"/>
                <a:cs typeface="Calibri"/>
                <a:sym typeface="Calibri"/>
              </a:rPr>
              <a:t>Export Manager</a:t>
            </a:r>
            <a:br>
              <a:rPr b="1" i="0" lang="en-US" sz="900" u="none" cap="none" strike="noStrike">
                <a:solidFill>
                  <a:srgbClr val="004D40"/>
                </a:solidFill>
                <a:latin typeface="Calibri"/>
                <a:ea typeface="Calibri"/>
                <a:cs typeface="Calibri"/>
                <a:sym typeface="Calibri"/>
              </a:rPr>
            </a:br>
            <a:r>
              <a:rPr b="1" i="0" lang="en-US" sz="900" u="none" cap="none" strike="noStrike">
                <a:solidFill>
                  <a:srgbClr val="004D40"/>
                </a:solidFill>
                <a:latin typeface="Calibri"/>
                <a:ea typeface="Calibri"/>
                <a:cs typeface="Calibri"/>
                <a:sym typeface="Calibri"/>
              </a:rPr>
              <a:t>(SDK Envelopes)</a:t>
            </a:r>
            <a:endParaRPr/>
          </a:p>
        </p:txBody>
      </p:sp>
      <p:sp>
        <p:nvSpPr>
          <p:cNvPr id="174" name="Google Shape;174;p3"/>
          <p:cNvSpPr/>
          <p:nvPr/>
        </p:nvSpPr>
        <p:spPr>
          <a:xfrm>
            <a:off x="9875520" y="4626864"/>
            <a:ext cx="1737360" cy="493776"/>
          </a:xfrm>
          <a:prstGeom prst="roundRect">
            <a:avLst>
              <a:gd fmla="val 16667" name="adj"/>
            </a:avLst>
          </a:prstGeom>
          <a:solidFill>
            <a:srgbClr val="E0F2F1"/>
          </a:solidFill>
          <a:ln cap="flat" cmpd="sng" w="12700">
            <a:solidFill>
              <a:srgbClr val="0097A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3"/>
          <p:cNvSpPr txBox="1"/>
          <p:nvPr/>
        </p:nvSpPr>
        <p:spPr>
          <a:xfrm>
            <a:off x="9875520" y="4663440"/>
            <a:ext cx="17373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004D40"/>
                </a:solidFill>
                <a:latin typeface="Calibri"/>
                <a:ea typeface="Calibri"/>
                <a:cs typeface="Calibri"/>
                <a:sym typeface="Calibri"/>
              </a:rPr>
              <a:t>In-Memory Store</a:t>
            </a:r>
            <a:br>
              <a:rPr b="1" i="0" lang="en-US" sz="900" u="none" cap="none" strike="noStrike">
                <a:solidFill>
                  <a:srgbClr val="004D40"/>
                </a:solidFill>
                <a:latin typeface="Calibri"/>
                <a:ea typeface="Calibri"/>
                <a:cs typeface="Calibri"/>
                <a:sym typeface="Calibri"/>
              </a:rPr>
            </a:br>
            <a:r>
              <a:rPr b="1" i="0" lang="en-US" sz="900" u="none" cap="none" strike="noStrike">
                <a:solidFill>
                  <a:srgbClr val="004D40"/>
                </a:solidFill>
                <a:latin typeface="Calibri"/>
                <a:ea typeface="Calibri"/>
                <a:cs typeface="Calibri"/>
                <a:sym typeface="Calibri"/>
              </a:rPr>
              <a:t>(Telemetry)</a:t>
            </a:r>
            <a:endParaRPr/>
          </a:p>
        </p:txBody>
      </p:sp>
      <p:sp>
        <p:nvSpPr>
          <p:cNvPr id="176" name="Google Shape;176;p3"/>
          <p:cNvSpPr txBox="1"/>
          <p:nvPr/>
        </p:nvSpPr>
        <p:spPr>
          <a:xfrm>
            <a:off x="457200" y="5468112"/>
            <a:ext cx="18288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1B4F72"/>
                </a:solidFill>
                <a:latin typeface="Calibri"/>
                <a:ea typeface="Calibri"/>
                <a:cs typeface="Calibri"/>
                <a:sym typeface="Calibri"/>
              </a:rPr>
              <a:t>TECHNOLOGY STACK</a:t>
            </a:r>
            <a:endParaRPr/>
          </a:p>
        </p:txBody>
      </p:sp>
      <p:sp>
        <p:nvSpPr>
          <p:cNvPr id="177" name="Google Shape;177;p3"/>
          <p:cNvSpPr txBox="1"/>
          <p:nvPr/>
        </p:nvSpPr>
        <p:spPr>
          <a:xfrm>
            <a:off x="548640" y="5788152"/>
            <a:ext cx="10972800" cy="2011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546E7A"/>
                </a:solidFill>
                <a:latin typeface="Calibri"/>
                <a:ea typeface="Calibri"/>
                <a:cs typeface="Calibri"/>
                <a:sym typeface="Calibri"/>
              </a:rPr>
              <a:t>Frontend:  React 18, Vite, Axios, Tailwind CSS, React Router</a:t>
            </a:r>
            <a:endParaRPr/>
          </a:p>
        </p:txBody>
      </p:sp>
      <p:sp>
        <p:nvSpPr>
          <p:cNvPr id="178" name="Google Shape;178;p3"/>
          <p:cNvSpPr txBox="1"/>
          <p:nvPr/>
        </p:nvSpPr>
        <p:spPr>
          <a:xfrm>
            <a:off x="548640" y="5989320"/>
            <a:ext cx="10972800" cy="2011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546E7A"/>
                </a:solidFill>
                <a:latin typeface="Calibri"/>
                <a:ea typeface="Calibri"/>
                <a:cs typeface="Calibri"/>
                <a:sym typeface="Calibri"/>
              </a:rPr>
              <a:t>Backend:  Python 3.11, FastAPI, Pydantic, Uvicorn</a:t>
            </a:r>
            <a:endParaRPr/>
          </a:p>
        </p:txBody>
      </p:sp>
      <p:sp>
        <p:nvSpPr>
          <p:cNvPr id="179" name="Google Shape;179;p3"/>
          <p:cNvSpPr txBox="1"/>
          <p:nvPr/>
        </p:nvSpPr>
        <p:spPr>
          <a:xfrm>
            <a:off x="548640" y="6190488"/>
            <a:ext cx="10972800" cy="2011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546E7A"/>
                </a:solidFill>
                <a:latin typeface="Calibri"/>
                <a:ea typeface="Calibri"/>
                <a:cs typeface="Calibri"/>
                <a:sym typeface="Calibri"/>
              </a:rPr>
              <a:t>Data:  JSON (Scenario Bank, Rubrics, Scoring Rules, JSON Schema Draft-07)</a:t>
            </a:r>
            <a:endParaRPr/>
          </a:p>
        </p:txBody>
      </p:sp>
      <p:sp>
        <p:nvSpPr>
          <p:cNvPr id="180" name="Google Shape;180;p3"/>
          <p:cNvSpPr txBox="1"/>
          <p:nvPr/>
        </p:nvSpPr>
        <p:spPr>
          <a:xfrm>
            <a:off x="548640" y="6391656"/>
            <a:ext cx="10972800" cy="2011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546E7A"/>
                </a:solidFill>
                <a:latin typeface="Calibri"/>
                <a:ea typeface="Calibri"/>
                <a:cs typeface="Calibri"/>
                <a:sym typeface="Calibri"/>
              </a:rPr>
              <a:t>DevOps:  Node.js, npm, pip, Vite proxy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84" name="Shape 184"/>
        <p:cNvGrpSpPr/>
        <p:nvPr/>
      </p:nvGrpSpPr>
      <p:grpSpPr>
        <a:xfrm>
          <a:off x="0" y="0"/>
          <a:ext cx="0" cy="0"/>
          <a:chOff x="0" y="0"/>
          <a:chExt cx="0" cy="0"/>
        </a:xfrm>
      </p:grpSpPr>
      <p:sp>
        <p:nvSpPr>
          <p:cNvPr id="185" name="Google Shape;185;p4"/>
          <p:cNvSpPr/>
          <p:nvPr/>
        </p:nvSpPr>
        <p:spPr>
          <a:xfrm>
            <a:off x="0" y="0"/>
            <a:ext cx="12191695" cy="54864"/>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4"/>
          <p:cNvSpPr txBox="1"/>
          <p:nvPr/>
        </p:nvSpPr>
        <p:spPr>
          <a:xfrm>
            <a:off x="731520" y="320040"/>
            <a:ext cx="100584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rgbClr val="1B4F72"/>
                </a:solidFill>
                <a:latin typeface="Calibri"/>
                <a:ea typeface="Calibri"/>
                <a:cs typeface="Calibri"/>
                <a:sym typeface="Calibri"/>
              </a:rPr>
              <a:t>CURRENT PROGRESS DASHBOARD</a:t>
            </a:r>
            <a:endParaRPr/>
          </a:p>
        </p:txBody>
      </p:sp>
      <p:sp>
        <p:nvSpPr>
          <p:cNvPr id="187" name="Google Shape;187;p4"/>
          <p:cNvSpPr/>
          <p:nvPr/>
        </p:nvSpPr>
        <p:spPr>
          <a:xfrm>
            <a:off x="731520" y="868680"/>
            <a:ext cx="3291840" cy="25400"/>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4"/>
          <p:cNvSpPr/>
          <p:nvPr/>
        </p:nvSpPr>
        <p:spPr>
          <a:xfrm>
            <a:off x="9998710" y="603885"/>
            <a:ext cx="905510" cy="679450"/>
          </a:xfrm>
          <a:prstGeom prst="ellipse">
            <a:avLst/>
          </a:prstGeom>
          <a:solidFill>
            <a:srgbClr val="1B4F7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~70%</a:t>
            </a:r>
            <a:endParaRPr b="0" i="0" sz="1800" u="none" cap="none" strike="noStrike">
              <a:solidFill>
                <a:schemeClr val="lt1"/>
              </a:solidFill>
              <a:latin typeface="Calibri"/>
              <a:ea typeface="Calibri"/>
              <a:cs typeface="Calibri"/>
              <a:sym typeface="Calibri"/>
            </a:endParaRPr>
          </a:p>
        </p:txBody>
      </p:sp>
      <p:sp>
        <p:nvSpPr>
          <p:cNvPr id="189" name="Google Shape;189;p4"/>
          <p:cNvSpPr txBox="1"/>
          <p:nvPr/>
        </p:nvSpPr>
        <p:spPr>
          <a:xfrm>
            <a:off x="9345295" y="320040"/>
            <a:ext cx="1828800" cy="274320"/>
          </a:xfrm>
          <a:prstGeom prst="rect">
            <a:avLst/>
          </a:prstGeom>
          <a:noFill/>
          <a:ln>
            <a:noFill/>
          </a:ln>
        </p:spPr>
        <p:txBody>
          <a:bodyPr anchorCtr="0" anchor="t" bIns="45700" lIns="91425" spcFirstLastPara="1" rIns="91425" wrap="square" tIns="45700">
            <a:noAutofit/>
          </a:bodyPr>
          <a:lstStyle/>
          <a:p>
            <a:pPr indent="0" lvl="1" marL="457200" marR="0" rtl="0" algn="ctr">
              <a:spcBef>
                <a:spcPts val="0"/>
              </a:spcBef>
              <a:spcAft>
                <a:spcPts val="0"/>
              </a:spcAft>
              <a:buNone/>
            </a:pPr>
            <a:r>
              <a:rPr b="1" i="0" lang="en-US" sz="1000" u="none" cap="none" strike="noStrike">
                <a:solidFill>
                  <a:srgbClr val="1B4F72"/>
                </a:solidFill>
                <a:latin typeface="Calibri"/>
                <a:ea typeface="Calibri"/>
                <a:cs typeface="Calibri"/>
                <a:sym typeface="Calibri"/>
              </a:rPr>
              <a:t>Overall Progress</a:t>
            </a:r>
            <a:endParaRPr/>
          </a:p>
        </p:txBody>
      </p:sp>
      <p:sp>
        <p:nvSpPr>
          <p:cNvPr id="190" name="Google Shape;190;p4"/>
          <p:cNvSpPr/>
          <p:nvPr/>
        </p:nvSpPr>
        <p:spPr>
          <a:xfrm>
            <a:off x="365760" y="1463040"/>
            <a:ext cx="3566160" cy="4754880"/>
          </a:xfrm>
          <a:prstGeom prst="roundRect">
            <a:avLst>
              <a:gd fmla="val 16667" name="adj"/>
            </a:avLst>
          </a:prstGeom>
          <a:solidFill>
            <a:srgbClr val="FFFFFF"/>
          </a:solidFill>
          <a:ln cap="flat" cmpd="sng" w="25400">
            <a:solidFill>
              <a:srgbClr val="4CAF5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4"/>
          <p:cNvSpPr txBox="1"/>
          <p:nvPr/>
        </p:nvSpPr>
        <p:spPr>
          <a:xfrm>
            <a:off x="548640" y="1572768"/>
            <a:ext cx="356616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u="none" cap="none" strike="noStrike">
                <a:solidFill>
                  <a:srgbClr val="4CAF50"/>
                </a:solidFill>
                <a:latin typeface="Calibri"/>
                <a:ea typeface="Calibri"/>
                <a:cs typeface="Calibri"/>
                <a:sym typeface="Calibri"/>
              </a:rPr>
              <a:t>COMPLETED</a:t>
            </a:r>
            <a:endParaRPr/>
          </a:p>
        </p:txBody>
      </p:sp>
      <p:sp>
        <p:nvSpPr>
          <p:cNvPr id="192" name="Google Shape;192;p4"/>
          <p:cNvSpPr/>
          <p:nvPr/>
        </p:nvSpPr>
        <p:spPr>
          <a:xfrm>
            <a:off x="548640" y="1938528"/>
            <a:ext cx="3200400" cy="12700"/>
          </a:xfrm>
          <a:prstGeom prst="rect">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4"/>
          <p:cNvSpPr txBox="1"/>
          <p:nvPr/>
        </p:nvSpPr>
        <p:spPr>
          <a:xfrm>
            <a:off x="548640" y="198424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Backend Core Modules</a:t>
            </a:r>
            <a:endParaRPr/>
          </a:p>
        </p:txBody>
      </p:sp>
      <p:sp>
        <p:nvSpPr>
          <p:cNvPr id="194" name="Google Shape;194;p4"/>
          <p:cNvSpPr/>
          <p:nvPr/>
        </p:nvSpPr>
        <p:spPr>
          <a:xfrm>
            <a:off x="548640" y="224028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4"/>
          <p:cNvSpPr/>
          <p:nvPr/>
        </p:nvSpPr>
        <p:spPr>
          <a:xfrm>
            <a:off x="548640" y="2240280"/>
            <a:ext cx="2286000" cy="128016"/>
          </a:xfrm>
          <a:prstGeom prst="roundRect">
            <a:avLst>
              <a:gd fmla="val 16667" name="adj"/>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4"/>
          <p:cNvSpPr txBox="1"/>
          <p:nvPr/>
        </p:nvSpPr>
        <p:spPr>
          <a:xfrm>
            <a:off x="2944368" y="220370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100%</a:t>
            </a:r>
            <a:endParaRPr/>
          </a:p>
        </p:txBody>
      </p:sp>
      <p:sp>
        <p:nvSpPr>
          <p:cNvPr id="197" name="Google Shape;197;p4"/>
          <p:cNvSpPr txBox="1"/>
          <p:nvPr/>
        </p:nvSpPr>
        <p:spPr>
          <a:xfrm>
            <a:off x="548640" y="2459736"/>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REST API (6 Endpoints)</a:t>
            </a:r>
            <a:endParaRPr/>
          </a:p>
        </p:txBody>
      </p:sp>
      <p:sp>
        <p:nvSpPr>
          <p:cNvPr id="198" name="Google Shape;198;p4"/>
          <p:cNvSpPr/>
          <p:nvPr/>
        </p:nvSpPr>
        <p:spPr>
          <a:xfrm>
            <a:off x="548640" y="2715768"/>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4"/>
          <p:cNvSpPr/>
          <p:nvPr/>
        </p:nvSpPr>
        <p:spPr>
          <a:xfrm>
            <a:off x="548640" y="2715768"/>
            <a:ext cx="2286000" cy="128016"/>
          </a:xfrm>
          <a:prstGeom prst="roundRect">
            <a:avLst>
              <a:gd fmla="val 16667" name="adj"/>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4"/>
          <p:cNvSpPr txBox="1"/>
          <p:nvPr/>
        </p:nvSpPr>
        <p:spPr>
          <a:xfrm>
            <a:off x="2944368" y="2679192"/>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100%</a:t>
            </a:r>
            <a:endParaRPr/>
          </a:p>
        </p:txBody>
      </p:sp>
      <p:sp>
        <p:nvSpPr>
          <p:cNvPr id="201" name="Google Shape;201;p4"/>
          <p:cNvSpPr txBox="1"/>
          <p:nvPr/>
        </p:nvSpPr>
        <p:spPr>
          <a:xfrm>
            <a:off x="548640" y="2935224"/>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Modular Architecture</a:t>
            </a:r>
            <a:endParaRPr/>
          </a:p>
        </p:txBody>
      </p:sp>
      <p:sp>
        <p:nvSpPr>
          <p:cNvPr id="202" name="Google Shape;202;p4"/>
          <p:cNvSpPr/>
          <p:nvPr/>
        </p:nvSpPr>
        <p:spPr>
          <a:xfrm>
            <a:off x="548640" y="3191256"/>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4"/>
          <p:cNvSpPr/>
          <p:nvPr/>
        </p:nvSpPr>
        <p:spPr>
          <a:xfrm>
            <a:off x="548640" y="3191256"/>
            <a:ext cx="2286000" cy="128016"/>
          </a:xfrm>
          <a:prstGeom prst="roundRect">
            <a:avLst>
              <a:gd fmla="val 16667" name="adj"/>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4"/>
          <p:cNvSpPr txBox="1"/>
          <p:nvPr/>
        </p:nvSpPr>
        <p:spPr>
          <a:xfrm>
            <a:off x="2944368" y="3154680"/>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100%</a:t>
            </a:r>
            <a:endParaRPr/>
          </a:p>
        </p:txBody>
      </p:sp>
      <p:sp>
        <p:nvSpPr>
          <p:cNvPr id="205" name="Google Shape;205;p4"/>
          <p:cNvSpPr txBox="1"/>
          <p:nvPr/>
        </p:nvSpPr>
        <p:spPr>
          <a:xfrm>
            <a:off x="548640" y="3410712"/>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Assessment Engine Pipeline</a:t>
            </a:r>
            <a:endParaRPr/>
          </a:p>
        </p:txBody>
      </p:sp>
      <p:sp>
        <p:nvSpPr>
          <p:cNvPr id="206" name="Google Shape;206;p4"/>
          <p:cNvSpPr/>
          <p:nvPr/>
        </p:nvSpPr>
        <p:spPr>
          <a:xfrm>
            <a:off x="548640" y="3666744"/>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4"/>
          <p:cNvSpPr/>
          <p:nvPr/>
        </p:nvSpPr>
        <p:spPr>
          <a:xfrm>
            <a:off x="548640" y="3666744"/>
            <a:ext cx="2286000" cy="128016"/>
          </a:xfrm>
          <a:prstGeom prst="roundRect">
            <a:avLst>
              <a:gd fmla="val 16667" name="adj"/>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4"/>
          <p:cNvSpPr txBox="1"/>
          <p:nvPr/>
        </p:nvSpPr>
        <p:spPr>
          <a:xfrm>
            <a:off x="2944368" y="3630168"/>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100%</a:t>
            </a:r>
            <a:endParaRPr/>
          </a:p>
        </p:txBody>
      </p:sp>
      <p:sp>
        <p:nvSpPr>
          <p:cNvPr id="209" name="Google Shape;209;p4"/>
          <p:cNvSpPr txBox="1"/>
          <p:nvPr/>
        </p:nvSpPr>
        <p:spPr>
          <a:xfrm>
            <a:off x="548640" y="3886200"/>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Rubric-Based Scoring</a:t>
            </a:r>
            <a:endParaRPr/>
          </a:p>
        </p:txBody>
      </p:sp>
      <p:sp>
        <p:nvSpPr>
          <p:cNvPr id="210" name="Google Shape;210;p4"/>
          <p:cNvSpPr/>
          <p:nvPr/>
        </p:nvSpPr>
        <p:spPr>
          <a:xfrm>
            <a:off x="548640" y="4142232"/>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4"/>
          <p:cNvSpPr/>
          <p:nvPr/>
        </p:nvSpPr>
        <p:spPr>
          <a:xfrm>
            <a:off x="548640" y="4142232"/>
            <a:ext cx="2286000" cy="128016"/>
          </a:xfrm>
          <a:prstGeom prst="roundRect">
            <a:avLst>
              <a:gd fmla="val 16667" name="adj"/>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4"/>
          <p:cNvSpPr txBox="1"/>
          <p:nvPr/>
        </p:nvSpPr>
        <p:spPr>
          <a:xfrm>
            <a:off x="2944368" y="4105656"/>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100%</a:t>
            </a:r>
            <a:endParaRPr/>
          </a:p>
        </p:txBody>
      </p:sp>
      <p:sp>
        <p:nvSpPr>
          <p:cNvPr id="213" name="Google Shape;213;p4"/>
          <p:cNvSpPr txBox="1"/>
          <p:nvPr/>
        </p:nvSpPr>
        <p:spPr>
          <a:xfrm>
            <a:off x="548640" y="436168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Event Logger &amp; Analytics</a:t>
            </a:r>
            <a:endParaRPr/>
          </a:p>
        </p:txBody>
      </p:sp>
      <p:sp>
        <p:nvSpPr>
          <p:cNvPr id="214" name="Google Shape;214;p4"/>
          <p:cNvSpPr/>
          <p:nvPr/>
        </p:nvSpPr>
        <p:spPr>
          <a:xfrm>
            <a:off x="548640" y="461772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4"/>
          <p:cNvSpPr/>
          <p:nvPr/>
        </p:nvSpPr>
        <p:spPr>
          <a:xfrm>
            <a:off x="548640" y="4617720"/>
            <a:ext cx="2286000" cy="128016"/>
          </a:xfrm>
          <a:prstGeom prst="roundRect">
            <a:avLst>
              <a:gd fmla="val 16667" name="adj"/>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4"/>
          <p:cNvSpPr txBox="1"/>
          <p:nvPr/>
        </p:nvSpPr>
        <p:spPr>
          <a:xfrm>
            <a:off x="2944368" y="458114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100%</a:t>
            </a:r>
            <a:endParaRPr/>
          </a:p>
        </p:txBody>
      </p:sp>
      <p:sp>
        <p:nvSpPr>
          <p:cNvPr id="217" name="Google Shape;217;p4"/>
          <p:cNvSpPr txBox="1"/>
          <p:nvPr/>
        </p:nvSpPr>
        <p:spPr>
          <a:xfrm>
            <a:off x="548640" y="4837176"/>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JSON Export Manager (SDK)</a:t>
            </a:r>
            <a:endParaRPr/>
          </a:p>
        </p:txBody>
      </p:sp>
      <p:sp>
        <p:nvSpPr>
          <p:cNvPr id="218" name="Google Shape;218;p4"/>
          <p:cNvSpPr/>
          <p:nvPr/>
        </p:nvSpPr>
        <p:spPr>
          <a:xfrm>
            <a:off x="548640" y="5093208"/>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4"/>
          <p:cNvSpPr/>
          <p:nvPr/>
        </p:nvSpPr>
        <p:spPr>
          <a:xfrm>
            <a:off x="548640" y="5093208"/>
            <a:ext cx="2286000" cy="128016"/>
          </a:xfrm>
          <a:prstGeom prst="roundRect">
            <a:avLst>
              <a:gd fmla="val 16667" name="adj"/>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4"/>
          <p:cNvSpPr txBox="1"/>
          <p:nvPr/>
        </p:nvSpPr>
        <p:spPr>
          <a:xfrm>
            <a:off x="2944368" y="5056632"/>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100%</a:t>
            </a:r>
            <a:endParaRPr/>
          </a:p>
        </p:txBody>
      </p:sp>
      <p:sp>
        <p:nvSpPr>
          <p:cNvPr id="221" name="Google Shape;221;p4"/>
          <p:cNvSpPr txBox="1"/>
          <p:nvPr/>
        </p:nvSpPr>
        <p:spPr>
          <a:xfrm>
            <a:off x="548640" y="5312664"/>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Scenario Bank (Initial Dataset)</a:t>
            </a:r>
            <a:endParaRPr/>
          </a:p>
        </p:txBody>
      </p:sp>
      <p:sp>
        <p:nvSpPr>
          <p:cNvPr id="222" name="Google Shape;222;p4"/>
          <p:cNvSpPr/>
          <p:nvPr/>
        </p:nvSpPr>
        <p:spPr>
          <a:xfrm>
            <a:off x="548640" y="5568696"/>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4"/>
          <p:cNvSpPr/>
          <p:nvPr/>
        </p:nvSpPr>
        <p:spPr>
          <a:xfrm>
            <a:off x="548640" y="5568696"/>
            <a:ext cx="2286000" cy="128016"/>
          </a:xfrm>
          <a:prstGeom prst="roundRect">
            <a:avLst>
              <a:gd fmla="val 16667" name="adj"/>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4"/>
          <p:cNvSpPr txBox="1"/>
          <p:nvPr/>
        </p:nvSpPr>
        <p:spPr>
          <a:xfrm>
            <a:off x="2944368" y="5532120"/>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100%</a:t>
            </a:r>
            <a:endParaRPr/>
          </a:p>
        </p:txBody>
      </p:sp>
      <p:sp>
        <p:nvSpPr>
          <p:cNvPr id="225" name="Google Shape;225;p4"/>
          <p:cNvSpPr/>
          <p:nvPr/>
        </p:nvSpPr>
        <p:spPr>
          <a:xfrm>
            <a:off x="4206240" y="1463040"/>
            <a:ext cx="3566160" cy="4754880"/>
          </a:xfrm>
          <a:prstGeom prst="roundRect">
            <a:avLst>
              <a:gd fmla="val 16667" name="adj"/>
            </a:avLst>
          </a:prstGeom>
          <a:solidFill>
            <a:srgbClr val="FFFFFF"/>
          </a:solidFill>
          <a:ln cap="flat" cmpd="sng" w="25400">
            <a:solidFill>
              <a:srgbClr val="FF98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4"/>
          <p:cNvSpPr txBox="1"/>
          <p:nvPr/>
        </p:nvSpPr>
        <p:spPr>
          <a:xfrm>
            <a:off x="4389120" y="1572768"/>
            <a:ext cx="356616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u="none" cap="none" strike="noStrike">
                <a:solidFill>
                  <a:srgbClr val="FF9800"/>
                </a:solidFill>
                <a:latin typeface="Calibri"/>
                <a:ea typeface="Calibri"/>
                <a:cs typeface="Calibri"/>
                <a:sym typeface="Calibri"/>
              </a:rPr>
              <a:t>IN PROGRESS</a:t>
            </a:r>
            <a:endParaRPr/>
          </a:p>
        </p:txBody>
      </p:sp>
      <p:sp>
        <p:nvSpPr>
          <p:cNvPr id="227" name="Google Shape;227;p4"/>
          <p:cNvSpPr/>
          <p:nvPr/>
        </p:nvSpPr>
        <p:spPr>
          <a:xfrm>
            <a:off x="4389120" y="1938528"/>
            <a:ext cx="3200400" cy="12700"/>
          </a:xfrm>
          <a:prstGeom prst="rect">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4"/>
          <p:cNvSpPr txBox="1"/>
          <p:nvPr/>
        </p:nvSpPr>
        <p:spPr>
          <a:xfrm>
            <a:off x="4389120" y="198424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Research &amp; Assessment Design</a:t>
            </a:r>
            <a:endParaRPr/>
          </a:p>
        </p:txBody>
      </p:sp>
      <p:sp>
        <p:nvSpPr>
          <p:cNvPr id="229" name="Google Shape;229;p4"/>
          <p:cNvSpPr/>
          <p:nvPr/>
        </p:nvSpPr>
        <p:spPr>
          <a:xfrm>
            <a:off x="4389120" y="224028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4"/>
          <p:cNvSpPr/>
          <p:nvPr/>
        </p:nvSpPr>
        <p:spPr>
          <a:xfrm>
            <a:off x="4389120" y="2240280"/>
            <a:ext cx="1828800" cy="128016"/>
          </a:xfrm>
          <a:prstGeom prst="roundRect">
            <a:avLst>
              <a:gd fmla="val 16667" name="adj"/>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4"/>
          <p:cNvSpPr txBox="1"/>
          <p:nvPr/>
        </p:nvSpPr>
        <p:spPr>
          <a:xfrm>
            <a:off x="6784848" y="220370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80%</a:t>
            </a:r>
            <a:endParaRPr/>
          </a:p>
        </p:txBody>
      </p:sp>
      <p:sp>
        <p:nvSpPr>
          <p:cNvPr id="232" name="Google Shape;232;p4"/>
          <p:cNvSpPr txBox="1"/>
          <p:nvPr/>
        </p:nvSpPr>
        <p:spPr>
          <a:xfrm>
            <a:off x="4389120" y="257860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Dataset Development</a:t>
            </a:r>
            <a:endParaRPr/>
          </a:p>
        </p:txBody>
      </p:sp>
      <p:sp>
        <p:nvSpPr>
          <p:cNvPr id="233" name="Google Shape;233;p4"/>
          <p:cNvSpPr/>
          <p:nvPr/>
        </p:nvSpPr>
        <p:spPr>
          <a:xfrm>
            <a:off x="4389120" y="283464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4"/>
          <p:cNvSpPr/>
          <p:nvPr/>
        </p:nvSpPr>
        <p:spPr>
          <a:xfrm>
            <a:off x="4389120" y="2834640"/>
            <a:ext cx="1600200" cy="128016"/>
          </a:xfrm>
          <a:prstGeom prst="roundRect">
            <a:avLst>
              <a:gd fmla="val 16667" name="adj"/>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4"/>
          <p:cNvSpPr txBox="1"/>
          <p:nvPr/>
        </p:nvSpPr>
        <p:spPr>
          <a:xfrm>
            <a:off x="6784848" y="279806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70%</a:t>
            </a:r>
            <a:endParaRPr/>
          </a:p>
        </p:txBody>
      </p:sp>
      <p:sp>
        <p:nvSpPr>
          <p:cNvPr id="236" name="Google Shape;236;p4"/>
          <p:cNvSpPr txBox="1"/>
          <p:nvPr/>
        </p:nvSpPr>
        <p:spPr>
          <a:xfrm>
            <a:off x="4389120" y="317296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Frontend Foundation</a:t>
            </a:r>
            <a:endParaRPr/>
          </a:p>
        </p:txBody>
      </p:sp>
      <p:sp>
        <p:nvSpPr>
          <p:cNvPr id="237" name="Google Shape;237;p4"/>
          <p:cNvSpPr/>
          <p:nvPr/>
        </p:nvSpPr>
        <p:spPr>
          <a:xfrm>
            <a:off x="4389120" y="342900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4"/>
          <p:cNvSpPr/>
          <p:nvPr/>
        </p:nvSpPr>
        <p:spPr>
          <a:xfrm>
            <a:off x="4389120" y="3429000"/>
            <a:ext cx="2057400" cy="128016"/>
          </a:xfrm>
          <a:prstGeom prst="roundRect">
            <a:avLst>
              <a:gd fmla="val 16667" name="adj"/>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4"/>
          <p:cNvSpPr txBox="1"/>
          <p:nvPr/>
        </p:nvSpPr>
        <p:spPr>
          <a:xfrm>
            <a:off x="6784848" y="339242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90%</a:t>
            </a:r>
            <a:endParaRPr/>
          </a:p>
        </p:txBody>
      </p:sp>
      <p:sp>
        <p:nvSpPr>
          <p:cNvPr id="240" name="Google Shape;240;p4"/>
          <p:cNvSpPr txBox="1"/>
          <p:nvPr/>
        </p:nvSpPr>
        <p:spPr>
          <a:xfrm>
            <a:off x="4389120" y="376732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Frontend-Backend Integration</a:t>
            </a:r>
            <a:endParaRPr/>
          </a:p>
        </p:txBody>
      </p:sp>
      <p:sp>
        <p:nvSpPr>
          <p:cNvPr id="241" name="Google Shape;241;p4"/>
          <p:cNvSpPr/>
          <p:nvPr/>
        </p:nvSpPr>
        <p:spPr>
          <a:xfrm>
            <a:off x="4389120" y="402336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4"/>
          <p:cNvSpPr/>
          <p:nvPr/>
        </p:nvSpPr>
        <p:spPr>
          <a:xfrm>
            <a:off x="4389120" y="4023360"/>
            <a:ext cx="1485900" cy="128016"/>
          </a:xfrm>
          <a:prstGeom prst="roundRect">
            <a:avLst>
              <a:gd fmla="val 16667" name="adj"/>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4"/>
          <p:cNvSpPr txBox="1"/>
          <p:nvPr/>
        </p:nvSpPr>
        <p:spPr>
          <a:xfrm>
            <a:off x="6784848" y="398678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65%</a:t>
            </a:r>
            <a:endParaRPr/>
          </a:p>
        </p:txBody>
      </p:sp>
      <p:sp>
        <p:nvSpPr>
          <p:cNvPr id="244" name="Google Shape;244;p4"/>
          <p:cNvSpPr txBox="1"/>
          <p:nvPr/>
        </p:nvSpPr>
        <p:spPr>
          <a:xfrm>
            <a:off x="4389120" y="436168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Documentation</a:t>
            </a:r>
            <a:endParaRPr/>
          </a:p>
        </p:txBody>
      </p:sp>
      <p:sp>
        <p:nvSpPr>
          <p:cNvPr id="245" name="Google Shape;245;p4"/>
          <p:cNvSpPr/>
          <p:nvPr/>
        </p:nvSpPr>
        <p:spPr>
          <a:xfrm>
            <a:off x="4389120" y="461772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4"/>
          <p:cNvSpPr/>
          <p:nvPr/>
        </p:nvSpPr>
        <p:spPr>
          <a:xfrm>
            <a:off x="4389120" y="4617720"/>
            <a:ext cx="1028700" cy="128016"/>
          </a:xfrm>
          <a:prstGeom prst="roundRect">
            <a:avLst>
              <a:gd fmla="val 16667" name="adj"/>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4"/>
          <p:cNvSpPr txBox="1"/>
          <p:nvPr/>
        </p:nvSpPr>
        <p:spPr>
          <a:xfrm>
            <a:off x="6784848" y="458114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45%</a:t>
            </a:r>
            <a:endParaRPr/>
          </a:p>
        </p:txBody>
      </p:sp>
      <p:sp>
        <p:nvSpPr>
          <p:cNvPr id="248" name="Google Shape;248;p4"/>
          <p:cNvSpPr txBox="1"/>
          <p:nvPr/>
        </p:nvSpPr>
        <p:spPr>
          <a:xfrm>
            <a:off x="4389120" y="495604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Testing Suite</a:t>
            </a:r>
            <a:endParaRPr/>
          </a:p>
        </p:txBody>
      </p:sp>
      <p:sp>
        <p:nvSpPr>
          <p:cNvPr id="249" name="Google Shape;249;p4"/>
          <p:cNvSpPr/>
          <p:nvPr/>
        </p:nvSpPr>
        <p:spPr>
          <a:xfrm>
            <a:off x="4389120" y="521208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4"/>
          <p:cNvSpPr/>
          <p:nvPr/>
        </p:nvSpPr>
        <p:spPr>
          <a:xfrm>
            <a:off x="4389120" y="5212080"/>
            <a:ext cx="685800" cy="128016"/>
          </a:xfrm>
          <a:prstGeom prst="roundRect">
            <a:avLst>
              <a:gd fmla="val 16667" name="adj"/>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4"/>
          <p:cNvSpPr txBox="1"/>
          <p:nvPr/>
        </p:nvSpPr>
        <p:spPr>
          <a:xfrm>
            <a:off x="6784848" y="517550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30%</a:t>
            </a:r>
            <a:endParaRPr/>
          </a:p>
        </p:txBody>
      </p:sp>
      <p:sp>
        <p:nvSpPr>
          <p:cNvPr id="252" name="Google Shape;252;p4"/>
          <p:cNvSpPr/>
          <p:nvPr/>
        </p:nvSpPr>
        <p:spPr>
          <a:xfrm>
            <a:off x="8046720" y="1463040"/>
            <a:ext cx="3566160" cy="4754880"/>
          </a:xfrm>
          <a:prstGeom prst="roundRect">
            <a:avLst>
              <a:gd fmla="val 16667" name="adj"/>
            </a:avLst>
          </a:prstGeom>
          <a:solidFill>
            <a:srgbClr val="FFFFFF"/>
          </a:solidFill>
          <a:ln cap="flat" cmpd="sng" w="25400">
            <a:solidFill>
              <a:srgbClr val="E5393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4"/>
          <p:cNvSpPr txBox="1"/>
          <p:nvPr/>
        </p:nvSpPr>
        <p:spPr>
          <a:xfrm>
            <a:off x="8229600" y="1572768"/>
            <a:ext cx="356616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u="none" cap="none" strike="noStrike">
                <a:solidFill>
                  <a:srgbClr val="E53935"/>
                </a:solidFill>
                <a:latin typeface="Calibri"/>
                <a:ea typeface="Calibri"/>
                <a:cs typeface="Calibri"/>
                <a:sym typeface="Calibri"/>
              </a:rPr>
              <a:t>PENDING</a:t>
            </a:r>
            <a:endParaRPr/>
          </a:p>
        </p:txBody>
      </p:sp>
      <p:sp>
        <p:nvSpPr>
          <p:cNvPr id="254" name="Google Shape;254;p4"/>
          <p:cNvSpPr/>
          <p:nvPr/>
        </p:nvSpPr>
        <p:spPr>
          <a:xfrm>
            <a:off x="8229600" y="1938528"/>
            <a:ext cx="3200400" cy="12700"/>
          </a:xfrm>
          <a:prstGeom prst="rect">
            <a:avLst/>
          </a:prstGeom>
          <a:solidFill>
            <a:srgbClr val="E539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4"/>
          <p:cNvSpPr txBox="1"/>
          <p:nvPr/>
        </p:nvSpPr>
        <p:spPr>
          <a:xfrm>
            <a:off x="8229600" y="198424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Database Persistence</a:t>
            </a:r>
            <a:endParaRPr/>
          </a:p>
        </p:txBody>
      </p:sp>
      <p:sp>
        <p:nvSpPr>
          <p:cNvPr id="256" name="Google Shape;256;p4"/>
          <p:cNvSpPr/>
          <p:nvPr/>
        </p:nvSpPr>
        <p:spPr>
          <a:xfrm>
            <a:off x="8229600" y="224028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4"/>
          <p:cNvSpPr txBox="1"/>
          <p:nvPr/>
        </p:nvSpPr>
        <p:spPr>
          <a:xfrm>
            <a:off x="10625328" y="220370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0%</a:t>
            </a:r>
            <a:endParaRPr/>
          </a:p>
        </p:txBody>
      </p:sp>
      <p:sp>
        <p:nvSpPr>
          <p:cNvPr id="258" name="Google Shape;258;p4"/>
          <p:cNvSpPr txBox="1"/>
          <p:nvPr/>
        </p:nvSpPr>
        <p:spPr>
          <a:xfrm>
            <a:off x="8229600" y="257860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Semantic NLP Evaluation</a:t>
            </a:r>
            <a:endParaRPr/>
          </a:p>
        </p:txBody>
      </p:sp>
      <p:sp>
        <p:nvSpPr>
          <p:cNvPr id="259" name="Google Shape;259;p4"/>
          <p:cNvSpPr/>
          <p:nvPr/>
        </p:nvSpPr>
        <p:spPr>
          <a:xfrm>
            <a:off x="8229600" y="283464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4"/>
          <p:cNvSpPr txBox="1"/>
          <p:nvPr/>
        </p:nvSpPr>
        <p:spPr>
          <a:xfrm>
            <a:off x="10625328" y="279806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0%</a:t>
            </a:r>
            <a:endParaRPr/>
          </a:p>
        </p:txBody>
      </p:sp>
      <p:sp>
        <p:nvSpPr>
          <p:cNvPr id="261" name="Google Shape;261;p4"/>
          <p:cNvSpPr txBox="1"/>
          <p:nvPr/>
        </p:nvSpPr>
        <p:spPr>
          <a:xfrm>
            <a:off x="8229600" y="3172968"/>
            <a:ext cx="2286000" cy="2560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Security &amp; Authentication</a:t>
            </a:r>
            <a:endParaRPr/>
          </a:p>
        </p:txBody>
      </p:sp>
      <p:sp>
        <p:nvSpPr>
          <p:cNvPr id="262" name="Google Shape;262;p4"/>
          <p:cNvSpPr/>
          <p:nvPr/>
        </p:nvSpPr>
        <p:spPr>
          <a:xfrm>
            <a:off x="8229600" y="3429000"/>
            <a:ext cx="2286000" cy="128016"/>
          </a:xfrm>
          <a:prstGeom prst="roundRect">
            <a:avLst>
              <a:gd fmla="val 16667" name="adj"/>
            </a:avLst>
          </a:prstGeom>
          <a:solidFill>
            <a:srgbClr val="E0E0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4"/>
          <p:cNvSpPr txBox="1"/>
          <p:nvPr/>
        </p:nvSpPr>
        <p:spPr>
          <a:xfrm>
            <a:off x="10625328" y="3392424"/>
            <a:ext cx="54864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0%</a:t>
            </a:r>
            <a:endParaRPr/>
          </a:p>
        </p:txBody>
      </p:sp>
      <p:sp>
        <p:nvSpPr>
          <p:cNvPr id="264" name="Google Shape;264;p4"/>
          <p:cNvSpPr txBox="1"/>
          <p:nvPr/>
        </p:nvSpPr>
        <p:spPr>
          <a:xfrm>
            <a:off x="8229600" y="4206240"/>
            <a:ext cx="3200400" cy="1645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000" u="none" cap="none" strike="noStrike">
                <a:solidFill>
                  <a:srgbClr val="546E7A"/>
                </a:solidFill>
                <a:latin typeface="Calibri"/>
                <a:ea typeface="Calibri"/>
                <a:cs typeface="Calibri"/>
                <a:sym typeface="Calibri"/>
              </a:rPr>
              <a:t>These items are planned</a:t>
            </a:r>
            <a:br>
              <a:rPr b="0" i="0" lang="en-US" sz="1000" u="none" cap="none" strike="noStrike">
                <a:solidFill>
                  <a:srgbClr val="546E7A"/>
                </a:solidFill>
                <a:latin typeface="Calibri"/>
                <a:ea typeface="Calibri"/>
                <a:cs typeface="Calibri"/>
                <a:sym typeface="Calibri"/>
              </a:rPr>
            </a:br>
            <a:r>
              <a:rPr b="0" i="0" lang="en-US" sz="1000" u="none" cap="none" strike="noStrike">
                <a:solidFill>
                  <a:srgbClr val="546E7A"/>
                </a:solidFill>
                <a:latin typeface="Calibri"/>
                <a:ea typeface="Calibri"/>
                <a:cs typeface="Calibri"/>
                <a:sym typeface="Calibri"/>
              </a:rPr>
              <a:t>for post-MVP phases or</a:t>
            </a:r>
            <a:br>
              <a:rPr b="0" i="0" lang="en-US" sz="1000" u="none" cap="none" strike="noStrike">
                <a:solidFill>
                  <a:srgbClr val="546E7A"/>
                </a:solidFill>
                <a:latin typeface="Calibri"/>
                <a:ea typeface="Calibri"/>
                <a:cs typeface="Calibri"/>
                <a:sym typeface="Calibri"/>
              </a:rPr>
            </a:br>
            <a:r>
              <a:rPr b="0" i="0" lang="en-US" sz="1000" u="none" cap="none" strike="noStrike">
                <a:solidFill>
                  <a:srgbClr val="546E7A"/>
                </a:solidFill>
                <a:latin typeface="Calibri"/>
                <a:ea typeface="Calibri"/>
                <a:cs typeface="Calibri"/>
                <a:sym typeface="Calibri"/>
              </a:rPr>
              <a:t>final submission sprint.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68" name="Shape 268"/>
        <p:cNvGrpSpPr/>
        <p:nvPr/>
      </p:nvGrpSpPr>
      <p:grpSpPr>
        <a:xfrm>
          <a:off x="0" y="0"/>
          <a:ext cx="0" cy="0"/>
          <a:chOff x="0" y="0"/>
          <a:chExt cx="0" cy="0"/>
        </a:xfrm>
      </p:grpSpPr>
      <p:sp>
        <p:nvSpPr>
          <p:cNvPr id="269" name="Google Shape;269;p5"/>
          <p:cNvSpPr/>
          <p:nvPr/>
        </p:nvSpPr>
        <p:spPr>
          <a:xfrm>
            <a:off x="0" y="0"/>
            <a:ext cx="12191695" cy="54864"/>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0" name="Google Shape;270;p5"/>
          <p:cNvSpPr txBox="1"/>
          <p:nvPr/>
        </p:nvSpPr>
        <p:spPr>
          <a:xfrm>
            <a:off x="731520" y="320040"/>
            <a:ext cx="100584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rgbClr val="1B4F72"/>
                </a:solidFill>
                <a:latin typeface="Calibri"/>
                <a:ea typeface="Calibri"/>
                <a:cs typeface="Calibri"/>
                <a:sym typeface="Calibri"/>
              </a:rPr>
              <a:t>ASSESSMENT WORKFLOW</a:t>
            </a:r>
            <a:endParaRPr/>
          </a:p>
        </p:txBody>
      </p:sp>
      <p:sp>
        <p:nvSpPr>
          <p:cNvPr id="271" name="Google Shape;271;p5"/>
          <p:cNvSpPr/>
          <p:nvPr/>
        </p:nvSpPr>
        <p:spPr>
          <a:xfrm>
            <a:off x="731520" y="868680"/>
            <a:ext cx="2743200" cy="25400"/>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5"/>
          <p:cNvSpPr/>
          <p:nvPr/>
        </p:nvSpPr>
        <p:spPr>
          <a:xfrm>
            <a:off x="860907" y="1234440"/>
            <a:ext cx="2148840" cy="1554480"/>
          </a:xfrm>
          <a:prstGeom prst="roundRect">
            <a:avLst>
              <a:gd fmla="val 16667" name="adj"/>
            </a:avLst>
          </a:prstGeom>
          <a:solidFill>
            <a:srgbClr val="C9F5F5"/>
          </a:solidFill>
          <a:ln cap="flat" cmpd="sng" w="12700">
            <a:solidFill>
              <a:srgbClr val="1565C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5"/>
          <p:cNvSpPr txBox="1"/>
          <p:nvPr/>
        </p:nvSpPr>
        <p:spPr>
          <a:xfrm>
            <a:off x="860907" y="1261872"/>
            <a:ext cx="2148840" cy="1828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1565C0"/>
                </a:solidFill>
                <a:latin typeface="Calibri"/>
                <a:ea typeface="Calibri"/>
                <a:cs typeface="Calibri"/>
                <a:sym typeface="Calibri"/>
              </a:rPr>
              <a:t>STUDENT</a:t>
            </a:r>
            <a:endParaRPr/>
          </a:p>
        </p:txBody>
      </p:sp>
      <p:sp>
        <p:nvSpPr>
          <p:cNvPr id="274" name="Google Shape;274;p5"/>
          <p:cNvSpPr/>
          <p:nvPr/>
        </p:nvSpPr>
        <p:spPr>
          <a:xfrm>
            <a:off x="3238347" y="1234440"/>
            <a:ext cx="3337560" cy="1554480"/>
          </a:xfrm>
          <a:prstGeom prst="roundRect">
            <a:avLst>
              <a:gd fmla="val 16667" name="adj"/>
            </a:avLst>
          </a:prstGeom>
          <a:solidFill>
            <a:srgbClr val="B4F5F5"/>
          </a:solidFill>
          <a:ln cap="flat" cmpd="sng" w="12700">
            <a:solidFill>
              <a:srgbClr val="00796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5"/>
          <p:cNvSpPr txBox="1"/>
          <p:nvPr/>
        </p:nvSpPr>
        <p:spPr>
          <a:xfrm>
            <a:off x="3238347" y="1261872"/>
            <a:ext cx="3337560" cy="1828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00796B"/>
                </a:solidFill>
                <a:latin typeface="Calibri"/>
                <a:ea typeface="Calibri"/>
                <a:cs typeface="Calibri"/>
                <a:sym typeface="Calibri"/>
              </a:rPr>
              <a:t>FRONTEND (3-Stage Assessment)</a:t>
            </a:r>
            <a:endParaRPr/>
          </a:p>
        </p:txBody>
      </p:sp>
      <p:sp>
        <p:nvSpPr>
          <p:cNvPr id="276" name="Google Shape;276;p5"/>
          <p:cNvSpPr/>
          <p:nvPr/>
        </p:nvSpPr>
        <p:spPr>
          <a:xfrm>
            <a:off x="6804507" y="1234440"/>
            <a:ext cx="2148840" cy="1554480"/>
          </a:xfrm>
          <a:prstGeom prst="roundRect">
            <a:avLst>
              <a:gd fmla="val 16667" name="adj"/>
            </a:avLst>
          </a:prstGeom>
          <a:solidFill>
            <a:srgbClr val="F5F5B4"/>
          </a:solidFill>
          <a:ln cap="flat" cmpd="sng" w="12700">
            <a:solidFill>
              <a:srgbClr val="E651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5"/>
          <p:cNvSpPr txBox="1"/>
          <p:nvPr/>
        </p:nvSpPr>
        <p:spPr>
          <a:xfrm>
            <a:off x="6804507" y="1261872"/>
            <a:ext cx="2148840" cy="1828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E65100"/>
                </a:solidFill>
                <a:latin typeface="Calibri"/>
                <a:ea typeface="Calibri"/>
                <a:cs typeface="Calibri"/>
                <a:sym typeface="Calibri"/>
              </a:rPr>
              <a:t>BACKEND</a:t>
            </a:r>
            <a:endParaRPr/>
          </a:p>
        </p:txBody>
      </p:sp>
      <p:sp>
        <p:nvSpPr>
          <p:cNvPr id="278" name="Google Shape;278;p5"/>
          <p:cNvSpPr/>
          <p:nvPr/>
        </p:nvSpPr>
        <p:spPr>
          <a:xfrm>
            <a:off x="9181947" y="1234440"/>
            <a:ext cx="960120" cy="1554480"/>
          </a:xfrm>
          <a:prstGeom prst="roundRect">
            <a:avLst>
              <a:gd fmla="val 16667" name="adj"/>
            </a:avLst>
          </a:prstGeom>
          <a:solidFill>
            <a:srgbClr val="F5C8F5"/>
          </a:solidFill>
          <a:ln cap="flat" cmpd="sng" w="12700">
            <a:solidFill>
              <a:srgbClr val="AD14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5"/>
          <p:cNvSpPr txBox="1"/>
          <p:nvPr/>
        </p:nvSpPr>
        <p:spPr>
          <a:xfrm>
            <a:off x="9181947" y="1261872"/>
            <a:ext cx="960120" cy="1828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AD1457"/>
                </a:solidFill>
                <a:latin typeface="Calibri"/>
                <a:ea typeface="Calibri"/>
                <a:cs typeface="Calibri"/>
                <a:sym typeface="Calibri"/>
              </a:rPr>
              <a:t>ANALYTICS</a:t>
            </a:r>
            <a:endParaRPr/>
          </a:p>
        </p:txBody>
      </p:sp>
      <p:sp>
        <p:nvSpPr>
          <p:cNvPr id="280" name="Google Shape;280;p5"/>
          <p:cNvSpPr/>
          <p:nvPr/>
        </p:nvSpPr>
        <p:spPr>
          <a:xfrm>
            <a:off x="10370667" y="1234440"/>
            <a:ext cx="960120" cy="1554480"/>
          </a:xfrm>
          <a:prstGeom prst="roundRect">
            <a:avLst>
              <a:gd fmla="val 16667" name="adj"/>
            </a:avLst>
          </a:prstGeom>
          <a:solidFill>
            <a:srgbClr val="F5CFF5"/>
          </a:solidFill>
          <a:ln cap="flat" cmpd="sng" w="12700">
            <a:solidFill>
              <a:srgbClr val="6A1B9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5"/>
          <p:cNvSpPr txBox="1"/>
          <p:nvPr/>
        </p:nvSpPr>
        <p:spPr>
          <a:xfrm>
            <a:off x="10370667" y="1261872"/>
            <a:ext cx="960120" cy="1828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6A1B9A"/>
                </a:solidFill>
                <a:latin typeface="Calibri"/>
                <a:ea typeface="Calibri"/>
                <a:cs typeface="Calibri"/>
                <a:sym typeface="Calibri"/>
              </a:rPr>
              <a:t>OUTPUT</a:t>
            </a:r>
            <a:endParaRPr/>
          </a:p>
        </p:txBody>
      </p:sp>
      <p:sp>
        <p:nvSpPr>
          <p:cNvPr id="282" name="Google Shape;282;p5"/>
          <p:cNvSpPr/>
          <p:nvPr/>
        </p:nvSpPr>
        <p:spPr>
          <a:xfrm>
            <a:off x="998067" y="1554480"/>
            <a:ext cx="685800" cy="685800"/>
          </a:xfrm>
          <a:prstGeom prst="ellipse">
            <a:avLst/>
          </a:prstGeom>
          <a:solidFill>
            <a:srgbClr val="1565C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283" name="Google Shape;283;p5"/>
          <p:cNvSpPr txBox="1"/>
          <p:nvPr/>
        </p:nvSpPr>
        <p:spPr>
          <a:xfrm>
            <a:off x="815187" y="2286000"/>
            <a:ext cx="105156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D1B2A"/>
                </a:solidFill>
                <a:latin typeface="Calibri"/>
                <a:ea typeface="Calibri"/>
                <a:cs typeface="Calibri"/>
                <a:sym typeface="Calibri"/>
              </a:rPr>
              <a:t>Student</a:t>
            </a:r>
            <a:br>
              <a:rPr b="1" i="0" lang="en-US" sz="1000" u="none" cap="none" strike="noStrike">
                <a:solidFill>
                  <a:srgbClr val="0D1B2A"/>
                </a:solidFill>
                <a:latin typeface="Calibri"/>
                <a:ea typeface="Calibri"/>
                <a:cs typeface="Calibri"/>
                <a:sym typeface="Calibri"/>
              </a:rPr>
            </a:br>
            <a:r>
              <a:rPr b="1" i="0" lang="en-US" sz="1000" u="none" cap="none" strike="noStrike">
                <a:solidFill>
                  <a:srgbClr val="0D1B2A"/>
                </a:solidFill>
                <a:latin typeface="Calibri"/>
                <a:ea typeface="Calibri"/>
                <a:cs typeface="Calibri"/>
                <a:sym typeface="Calibri"/>
              </a:rPr>
              <a:t>Login</a:t>
            </a:r>
            <a:endParaRPr/>
          </a:p>
        </p:txBody>
      </p:sp>
      <p:sp>
        <p:nvSpPr>
          <p:cNvPr id="284" name="Google Shape;284;p5"/>
          <p:cNvSpPr txBox="1"/>
          <p:nvPr/>
        </p:nvSpPr>
        <p:spPr>
          <a:xfrm>
            <a:off x="1757019" y="1805940"/>
            <a:ext cx="356616"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285" name="Google Shape;285;p5"/>
          <p:cNvSpPr/>
          <p:nvPr/>
        </p:nvSpPr>
        <p:spPr>
          <a:xfrm>
            <a:off x="2186787" y="1554480"/>
            <a:ext cx="685800" cy="685800"/>
          </a:xfrm>
          <a:prstGeom prst="ellipse">
            <a:avLst/>
          </a:prstGeom>
          <a:solidFill>
            <a:srgbClr val="1565C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286" name="Google Shape;286;p5"/>
          <p:cNvSpPr txBox="1"/>
          <p:nvPr/>
        </p:nvSpPr>
        <p:spPr>
          <a:xfrm>
            <a:off x="2003907" y="2286000"/>
            <a:ext cx="105156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D1B2A"/>
                </a:solidFill>
                <a:latin typeface="Calibri"/>
                <a:ea typeface="Calibri"/>
                <a:cs typeface="Calibri"/>
                <a:sym typeface="Calibri"/>
              </a:rPr>
              <a:t>Scenario</a:t>
            </a:r>
            <a:br>
              <a:rPr b="1" i="0" lang="en-US" sz="1000" u="none" cap="none" strike="noStrike">
                <a:solidFill>
                  <a:srgbClr val="0D1B2A"/>
                </a:solidFill>
                <a:latin typeface="Calibri"/>
                <a:ea typeface="Calibri"/>
                <a:cs typeface="Calibri"/>
                <a:sym typeface="Calibri"/>
              </a:rPr>
            </a:br>
            <a:r>
              <a:rPr b="1" i="0" lang="en-US" sz="1000" u="none" cap="none" strike="noStrike">
                <a:solidFill>
                  <a:srgbClr val="0D1B2A"/>
                </a:solidFill>
                <a:latin typeface="Calibri"/>
                <a:ea typeface="Calibri"/>
                <a:cs typeface="Calibri"/>
                <a:sym typeface="Calibri"/>
              </a:rPr>
              <a:t>Selection</a:t>
            </a:r>
            <a:endParaRPr/>
          </a:p>
        </p:txBody>
      </p:sp>
      <p:sp>
        <p:nvSpPr>
          <p:cNvPr id="287" name="Google Shape;287;p5"/>
          <p:cNvSpPr txBox="1"/>
          <p:nvPr/>
        </p:nvSpPr>
        <p:spPr>
          <a:xfrm>
            <a:off x="2945739" y="1805940"/>
            <a:ext cx="356616"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288" name="Google Shape;288;p5"/>
          <p:cNvSpPr/>
          <p:nvPr/>
        </p:nvSpPr>
        <p:spPr>
          <a:xfrm>
            <a:off x="3375507" y="1554480"/>
            <a:ext cx="685800" cy="685800"/>
          </a:xfrm>
          <a:prstGeom prst="ellipse">
            <a:avLst/>
          </a:prstGeom>
          <a:solidFill>
            <a:srgbClr val="00796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289" name="Google Shape;289;p5"/>
          <p:cNvSpPr txBox="1"/>
          <p:nvPr/>
        </p:nvSpPr>
        <p:spPr>
          <a:xfrm>
            <a:off x="3192627" y="2286000"/>
            <a:ext cx="105156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D1B2A"/>
                </a:solidFill>
                <a:latin typeface="Calibri"/>
                <a:ea typeface="Calibri"/>
                <a:cs typeface="Calibri"/>
                <a:sym typeface="Calibri"/>
              </a:rPr>
              <a:t>Stage 1:</a:t>
            </a:r>
            <a:br>
              <a:rPr b="1" i="0" lang="en-US" sz="1000" u="none" cap="none" strike="noStrike">
                <a:solidFill>
                  <a:srgbClr val="0D1B2A"/>
                </a:solidFill>
                <a:latin typeface="Calibri"/>
                <a:ea typeface="Calibri"/>
                <a:cs typeface="Calibri"/>
                <a:sym typeface="Calibri"/>
              </a:rPr>
            </a:br>
            <a:r>
              <a:rPr b="1" i="0" lang="en-US" sz="1000" u="none" cap="none" strike="noStrike">
                <a:solidFill>
                  <a:srgbClr val="0D1B2A"/>
                </a:solidFill>
                <a:latin typeface="Calibri"/>
                <a:ea typeface="Calibri"/>
                <a:cs typeface="Calibri"/>
                <a:sym typeface="Calibri"/>
              </a:rPr>
              <a:t>MCQ</a:t>
            </a:r>
            <a:endParaRPr/>
          </a:p>
        </p:txBody>
      </p:sp>
      <p:sp>
        <p:nvSpPr>
          <p:cNvPr id="290" name="Google Shape;290;p5"/>
          <p:cNvSpPr txBox="1"/>
          <p:nvPr/>
        </p:nvSpPr>
        <p:spPr>
          <a:xfrm>
            <a:off x="4134459" y="1805940"/>
            <a:ext cx="356616"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291" name="Google Shape;291;p5"/>
          <p:cNvSpPr/>
          <p:nvPr/>
        </p:nvSpPr>
        <p:spPr>
          <a:xfrm>
            <a:off x="4564227" y="1554480"/>
            <a:ext cx="685800" cy="685800"/>
          </a:xfrm>
          <a:prstGeom prst="ellipse">
            <a:avLst/>
          </a:prstGeom>
          <a:solidFill>
            <a:srgbClr val="00796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292" name="Google Shape;292;p5"/>
          <p:cNvSpPr txBox="1"/>
          <p:nvPr/>
        </p:nvSpPr>
        <p:spPr>
          <a:xfrm>
            <a:off x="4381347" y="2286000"/>
            <a:ext cx="105156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D1B2A"/>
                </a:solidFill>
                <a:latin typeface="Calibri"/>
                <a:ea typeface="Calibri"/>
                <a:cs typeface="Calibri"/>
                <a:sym typeface="Calibri"/>
              </a:rPr>
              <a:t>Stage 2:</a:t>
            </a:r>
            <a:br>
              <a:rPr b="1" i="0" lang="en-US" sz="1000" u="none" cap="none" strike="noStrike">
                <a:solidFill>
                  <a:srgbClr val="0D1B2A"/>
                </a:solidFill>
                <a:latin typeface="Calibri"/>
                <a:ea typeface="Calibri"/>
                <a:cs typeface="Calibri"/>
                <a:sym typeface="Calibri"/>
              </a:rPr>
            </a:br>
            <a:r>
              <a:rPr b="1" i="0" lang="en-US" sz="1000" u="none" cap="none" strike="noStrike">
                <a:solidFill>
                  <a:srgbClr val="0D1B2A"/>
                </a:solidFill>
                <a:latin typeface="Calibri"/>
                <a:ea typeface="Calibri"/>
                <a:cs typeface="Calibri"/>
                <a:sym typeface="Calibri"/>
              </a:rPr>
              <a:t>Concept Map</a:t>
            </a:r>
            <a:endParaRPr/>
          </a:p>
        </p:txBody>
      </p:sp>
      <p:sp>
        <p:nvSpPr>
          <p:cNvPr id="293" name="Google Shape;293;p5"/>
          <p:cNvSpPr txBox="1"/>
          <p:nvPr/>
        </p:nvSpPr>
        <p:spPr>
          <a:xfrm>
            <a:off x="5323179" y="1805940"/>
            <a:ext cx="356616"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294" name="Google Shape;294;p5"/>
          <p:cNvSpPr/>
          <p:nvPr/>
        </p:nvSpPr>
        <p:spPr>
          <a:xfrm>
            <a:off x="5752947" y="1554480"/>
            <a:ext cx="685800" cy="685800"/>
          </a:xfrm>
          <a:prstGeom prst="ellipse">
            <a:avLst/>
          </a:prstGeom>
          <a:solidFill>
            <a:srgbClr val="00796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295" name="Google Shape;295;p5"/>
          <p:cNvSpPr txBox="1"/>
          <p:nvPr/>
        </p:nvSpPr>
        <p:spPr>
          <a:xfrm>
            <a:off x="5570067" y="2286000"/>
            <a:ext cx="105156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D1B2A"/>
                </a:solidFill>
                <a:latin typeface="Calibri"/>
                <a:ea typeface="Calibri"/>
                <a:cs typeface="Calibri"/>
                <a:sym typeface="Calibri"/>
              </a:rPr>
              <a:t>Stage 3:</a:t>
            </a:r>
            <a:br>
              <a:rPr b="1" i="0" lang="en-US" sz="1000" u="none" cap="none" strike="noStrike">
                <a:solidFill>
                  <a:srgbClr val="0D1B2A"/>
                </a:solidFill>
                <a:latin typeface="Calibri"/>
                <a:ea typeface="Calibri"/>
                <a:cs typeface="Calibri"/>
                <a:sym typeface="Calibri"/>
              </a:rPr>
            </a:br>
            <a:r>
              <a:rPr b="1" i="0" lang="en-US" sz="1000" u="none" cap="none" strike="noStrike">
                <a:solidFill>
                  <a:srgbClr val="0D1B2A"/>
                </a:solidFill>
                <a:latin typeface="Calibri"/>
                <a:ea typeface="Calibri"/>
                <a:cs typeface="Calibri"/>
                <a:sym typeface="Calibri"/>
              </a:rPr>
              <a:t>Justification</a:t>
            </a:r>
            <a:endParaRPr/>
          </a:p>
        </p:txBody>
      </p:sp>
      <p:sp>
        <p:nvSpPr>
          <p:cNvPr id="296" name="Google Shape;296;p5"/>
          <p:cNvSpPr txBox="1"/>
          <p:nvPr/>
        </p:nvSpPr>
        <p:spPr>
          <a:xfrm>
            <a:off x="6511899" y="1805940"/>
            <a:ext cx="356616"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297" name="Google Shape;297;p5"/>
          <p:cNvSpPr/>
          <p:nvPr/>
        </p:nvSpPr>
        <p:spPr>
          <a:xfrm>
            <a:off x="6941667" y="1554480"/>
            <a:ext cx="685800" cy="685800"/>
          </a:xfrm>
          <a:prstGeom prst="ellipse">
            <a:avLst/>
          </a:prstGeom>
          <a:solidFill>
            <a:srgbClr val="E651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298" name="Google Shape;298;p5"/>
          <p:cNvSpPr txBox="1"/>
          <p:nvPr/>
        </p:nvSpPr>
        <p:spPr>
          <a:xfrm>
            <a:off x="6758787" y="2286000"/>
            <a:ext cx="105156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D1B2A"/>
                </a:solidFill>
                <a:latin typeface="Calibri"/>
                <a:ea typeface="Calibri"/>
                <a:cs typeface="Calibri"/>
                <a:sym typeface="Calibri"/>
              </a:rPr>
              <a:t>Response</a:t>
            </a:r>
            <a:br>
              <a:rPr b="1" i="0" lang="en-US" sz="1000" u="none" cap="none" strike="noStrike">
                <a:solidFill>
                  <a:srgbClr val="0D1B2A"/>
                </a:solidFill>
                <a:latin typeface="Calibri"/>
                <a:ea typeface="Calibri"/>
                <a:cs typeface="Calibri"/>
                <a:sym typeface="Calibri"/>
              </a:rPr>
            </a:br>
            <a:r>
              <a:rPr b="1" i="0" lang="en-US" sz="1000" u="none" cap="none" strike="noStrike">
                <a:solidFill>
                  <a:srgbClr val="0D1B2A"/>
                </a:solidFill>
                <a:latin typeface="Calibri"/>
                <a:ea typeface="Calibri"/>
                <a:cs typeface="Calibri"/>
                <a:sym typeface="Calibri"/>
              </a:rPr>
              <a:t>Evaluation</a:t>
            </a:r>
            <a:endParaRPr/>
          </a:p>
        </p:txBody>
      </p:sp>
      <p:sp>
        <p:nvSpPr>
          <p:cNvPr id="299" name="Google Shape;299;p5"/>
          <p:cNvSpPr txBox="1"/>
          <p:nvPr/>
        </p:nvSpPr>
        <p:spPr>
          <a:xfrm>
            <a:off x="7700619" y="1805940"/>
            <a:ext cx="356616"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300" name="Google Shape;300;p5"/>
          <p:cNvSpPr/>
          <p:nvPr/>
        </p:nvSpPr>
        <p:spPr>
          <a:xfrm>
            <a:off x="8130387" y="1554480"/>
            <a:ext cx="685800" cy="685800"/>
          </a:xfrm>
          <a:prstGeom prst="ellipse">
            <a:avLst/>
          </a:prstGeom>
          <a:solidFill>
            <a:srgbClr val="E651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301" name="Google Shape;301;p5"/>
          <p:cNvSpPr txBox="1"/>
          <p:nvPr/>
        </p:nvSpPr>
        <p:spPr>
          <a:xfrm>
            <a:off x="7947507" y="2286000"/>
            <a:ext cx="105156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D1B2A"/>
                </a:solidFill>
                <a:latin typeface="Calibri"/>
                <a:ea typeface="Calibri"/>
                <a:cs typeface="Calibri"/>
                <a:sym typeface="Calibri"/>
              </a:rPr>
              <a:t>Rubric</a:t>
            </a:r>
            <a:br>
              <a:rPr b="1" i="0" lang="en-US" sz="1000" u="none" cap="none" strike="noStrike">
                <a:solidFill>
                  <a:srgbClr val="0D1B2A"/>
                </a:solidFill>
                <a:latin typeface="Calibri"/>
                <a:ea typeface="Calibri"/>
                <a:cs typeface="Calibri"/>
                <a:sym typeface="Calibri"/>
              </a:rPr>
            </a:br>
            <a:r>
              <a:rPr b="1" i="0" lang="en-US" sz="1000" u="none" cap="none" strike="noStrike">
                <a:solidFill>
                  <a:srgbClr val="0D1B2A"/>
                </a:solidFill>
                <a:latin typeface="Calibri"/>
                <a:ea typeface="Calibri"/>
                <a:cs typeface="Calibri"/>
                <a:sym typeface="Calibri"/>
              </a:rPr>
              <a:t>Scoring</a:t>
            </a:r>
            <a:endParaRPr/>
          </a:p>
        </p:txBody>
      </p:sp>
      <p:sp>
        <p:nvSpPr>
          <p:cNvPr id="302" name="Google Shape;302;p5"/>
          <p:cNvSpPr txBox="1"/>
          <p:nvPr/>
        </p:nvSpPr>
        <p:spPr>
          <a:xfrm>
            <a:off x="8889339" y="1805940"/>
            <a:ext cx="356616"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303" name="Google Shape;303;p5"/>
          <p:cNvSpPr/>
          <p:nvPr/>
        </p:nvSpPr>
        <p:spPr>
          <a:xfrm>
            <a:off x="9319107" y="1554480"/>
            <a:ext cx="685800" cy="685800"/>
          </a:xfrm>
          <a:prstGeom prst="ellipse">
            <a:avLst/>
          </a:prstGeom>
          <a:solidFill>
            <a:srgbClr val="AD14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304" name="Google Shape;304;p5"/>
          <p:cNvSpPr txBox="1"/>
          <p:nvPr/>
        </p:nvSpPr>
        <p:spPr>
          <a:xfrm>
            <a:off x="9136227" y="2286000"/>
            <a:ext cx="105156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D1B2A"/>
                </a:solidFill>
                <a:latin typeface="Calibri"/>
                <a:ea typeface="Calibri"/>
                <a:cs typeface="Calibri"/>
                <a:sym typeface="Calibri"/>
              </a:rPr>
              <a:t>Analytics</a:t>
            </a:r>
            <a:br>
              <a:rPr b="1" i="0" lang="en-US" sz="1000" u="none" cap="none" strike="noStrike">
                <a:solidFill>
                  <a:srgbClr val="0D1B2A"/>
                </a:solidFill>
                <a:latin typeface="Calibri"/>
                <a:ea typeface="Calibri"/>
                <a:cs typeface="Calibri"/>
                <a:sym typeface="Calibri"/>
              </a:rPr>
            </a:br>
            <a:r>
              <a:rPr b="1" i="0" lang="en-US" sz="1000" u="none" cap="none" strike="noStrike">
                <a:solidFill>
                  <a:srgbClr val="0D1B2A"/>
                </a:solidFill>
                <a:latin typeface="Calibri"/>
                <a:ea typeface="Calibri"/>
                <a:cs typeface="Calibri"/>
                <a:sym typeface="Calibri"/>
              </a:rPr>
              <a:t>Capture</a:t>
            </a:r>
            <a:endParaRPr/>
          </a:p>
        </p:txBody>
      </p:sp>
      <p:sp>
        <p:nvSpPr>
          <p:cNvPr id="305" name="Google Shape;305;p5"/>
          <p:cNvSpPr txBox="1"/>
          <p:nvPr/>
        </p:nvSpPr>
        <p:spPr>
          <a:xfrm>
            <a:off x="10078059" y="1805940"/>
            <a:ext cx="356616"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306" name="Google Shape;306;p5"/>
          <p:cNvSpPr/>
          <p:nvPr/>
        </p:nvSpPr>
        <p:spPr>
          <a:xfrm>
            <a:off x="10507827" y="1554480"/>
            <a:ext cx="685800" cy="685800"/>
          </a:xfrm>
          <a:prstGeom prst="ellipse">
            <a:avLst/>
          </a:prstGeom>
          <a:solidFill>
            <a:srgbClr val="6A1B9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307" name="Google Shape;307;p5"/>
          <p:cNvSpPr txBox="1"/>
          <p:nvPr/>
        </p:nvSpPr>
        <p:spPr>
          <a:xfrm>
            <a:off x="10324947" y="2286000"/>
            <a:ext cx="1051560"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D1B2A"/>
                </a:solidFill>
                <a:latin typeface="Calibri"/>
                <a:ea typeface="Calibri"/>
                <a:cs typeface="Calibri"/>
                <a:sym typeface="Calibri"/>
              </a:rPr>
              <a:t>Assessment</a:t>
            </a:r>
            <a:br>
              <a:rPr b="1" i="0" lang="en-US" sz="1000" u="none" cap="none" strike="noStrike">
                <a:solidFill>
                  <a:srgbClr val="0D1B2A"/>
                </a:solidFill>
                <a:latin typeface="Calibri"/>
                <a:ea typeface="Calibri"/>
                <a:cs typeface="Calibri"/>
                <a:sym typeface="Calibri"/>
              </a:rPr>
            </a:br>
            <a:r>
              <a:rPr b="1" i="0" lang="en-US" sz="1000" u="none" cap="none" strike="noStrike">
                <a:solidFill>
                  <a:srgbClr val="0D1B2A"/>
                </a:solidFill>
                <a:latin typeface="Calibri"/>
                <a:ea typeface="Calibri"/>
                <a:cs typeface="Calibri"/>
                <a:sym typeface="Calibri"/>
              </a:rPr>
              <a:t>Report</a:t>
            </a:r>
            <a:endParaRPr/>
          </a:p>
        </p:txBody>
      </p:sp>
      <p:sp>
        <p:nvSpPr>
          <p:cNvPr id="308" name="Google Shape;308;p5"/>
          <p:cNvSpPr txBox="1"/>
          <p:nvPr/>
        </p:nvSpPr>
        <p:spPr>
          <a:xfrm>
            <a:off x="731520" y="3657600"/>
            <a:ext cx="100584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400" u="none" cap="none" strike="noStrike">
                <a:solidFill>
                  <a:srgbClr val="1B4F72"/>
                </a:solidFill>
                <a:latin typeface="Calibri"/>
                <a:ea typeface="Calibri"/>
                <a:cs typeface="Calibri"/>
                <a:sym typeface="Calibri"/>
              </a:rPr>
              <a:t>BACKEND PROCESSING PIPELINE</a:t>
            </a:r>
            <a:endParaRPr/>
          </a:p>
        </p:txBody>
      </p:sp>
      <p:sp>
        <p:nvSpPr>
          <p:cNvPr id="309" name="Google Shape;309;p5"/>
          <p:cNvSpPr/>
          <p:nvPr/>
        </p:nvSpPr>
        <p:spPr>
          <a:xfrm>
            <a:off x="731520" y="4023360"/>
            <a:ext cx="2743200" cy="25400"/>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5"/>
          <p:cNvSpPr/>
          <p:nvPr/>
        </p:nvSpPr>
        <p:spPr>
          <a:xfrm>
            <a:off x="548640" y="4206240"/>
            <a:ext cx="1600200" cy="2011680"/>
          </a:xfrm>
          <a:prstGeom prst="roundRect">
            <a:avLst>
              <a:gd fmla="val 16667" name="adj"/>
            </a:avLst>
          </a:prstGeom>
          <a:solidFill>
            <a:srgbClr val="FFFFFF"/>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5"/>
          <p:cNvSpPr/>
          <p:nvPr/>
        </p:nvSpPr>
        <p:spPr>
          <a:xfrm>
            <a:off x="1147572" y="4297680"/>
            <a:ext cx="402336" cy="402336"/>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1</a:t>
            </a:r>
            <a:endParaRPr/>
          </a:p>
        </p:txBody>
      </p:sp>
      <p:sp>
        <p:nvSpPr>
          <p:cNvPr id="312" name="Google Shape;312;p5"/>
          <p:cNvSpPr txBox="1"/>
          <p:nvPr/>
        </p:nvSpPr>
        <p:spPr>
          <a:xfrm>
            <a:off x="640080" y="4800600"/>
            <a:ext cx="1417320"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1B4F72"/>
                </a:solidFill>
                <a:latin typeface="Calibri"/>
                <a:ea typeface="Calibri"/>
                <a:cs typeface="Calibri"/>
                <a:sym typeface="Calibri"/>
              </a:rPr>
              <a:t>Load Scenario</a:t>
            </a:r>
            <a:endParaRPr/>
          </a:p>
        </p:txBody>
      </p:sp>
      <p:sp>
        <p:nvSpPr>
          <p:cNvPr id="313" name="Google Shape;313;p5"/>
          <p:cNvSpPr txBox="1"/>
          <p:nvPr/>
        </p:nvSpPr>
        <p:spPr>
          <a:xfrm>
            <a:off x="640080" y="5120640"/>
            <a:ext cx="141732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546E7A"/>
                </a:solidFill>
                <a:latin typeface="Calibri"/>
                <a:ea typeface="Calibri"/>
                <a:cs typeface="Calibri"/>
                <a:sym typeface="Calibri"/>
              </a:rPr>
              <a:t>ScenarioLoader fetches from</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scenario_bank.json</a:t>
            </a:r>
            <a:endParaRPr/>
          </a:p>
        </p:txBody>
      </p:sp>
      <p:sp>
        <p:nvSpPr>
          <p:cNvPr id="314" name="Google Shape;314;p5"/>
          <p:cNvSpPr txBox="1"/>
          <p:nvPr/>
        </p:nvSpPr>
        <p:spPr>
          <a:xfrm>
            <a:off x="2167128" y="4983480"/>
            <a:ext cx="146304"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315" name="Google Shape;315;p5"/>
          <p:cNvSpPr/>
          <p:nvPr/>
        </p:nvSpPr>
        <p:spPr>
          <a:xfrm>
            <a:off x="2331720" y="4206240"/>
            <a:ext cx="1600200" cy="2011680"/>
          </a:xfrm>
          <a:prstGeom prst="roundRect">
            <a:avLst>
              <a:gd fmla="val 16667" name="adj"/>
            </a:avLst>
          </a:prstGeom>
          <a:solidFill>
            <a:srgbClr val="FFFFFF"/>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5"/>
          <p:cNvSpPr/>
          <p:nvPr/>
        </p:nvSpPr>
        <p:spPr>
          <a:xfrm>
            <a:off x="2930652" y="4297680"/>
            <a:ext cx="402336" cy="402336"/>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2</a:t>
            </a:r>
            <a:endParaRPr/>
          </a:p>
        </p:txBody>
      </p:sp>
      <p:sp>
        <p:nvSpPr>
          <p:cNvPr id="317" name="Google Shape;317;p5"/>
          <p:cNvSpPr txBox="1"/>
          <p:nvPr/>
        </p:nvSpPr>
        <p:spPr>
          <a:xfrm>
            <a:off x="2423160" y="4800600"/>
            <a:ext cx="1417320"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1B4F72"/>
                </a:solidFill>
                <a:latin typeface="Calibri"/>
                <a:ea typeface="Calibri"/>
                <a:cs typeface="Calibri"/>
                <a:sym typeface="Calibri"/>
              </a:rPr>
              <a:t>Log Start Event</a:t>
            </a:r>
            <a:endParaRPr/>
          </a:p>
        </p:txBody>
      </p:sp>
      <p:sp>
        <p:nvSpPr>
          <p:cNvPr id="318" name="Google Shape;318;p5"/>
          <p:cNvSpPr txBox="1"/>
          <p:nvPr/>
        </p:nvSpPr>
        <p:spPr>
          <a:xfrm>
            <a:off x="2423160" y="5120640"/>
            <a:ext cx="141732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546E7A"/>
                </a:solidFill>
                <a:latin typeface="Calibri"/>
                <a:ea typeface="Calibri"/>
                <a:cs typeface="Calibri"/>
                <a:sym typeface="Calibri"/>
              </a:rPr>
              <a:t>EventLogger records</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assessment_started</a:t>
            </a:r>
            <a:endParaRPr/>
          </a:p>
        </p:txBody>
      </p:sp>
      <p:sp>
        <p:nvSpPr>
          <p:cNvPr id="319" name="Google Shape;319;p5"/>
          <p:cNvSpPr txBox="1"/>
          <p:nvPr/>
        </p:nvSpPr>
        <p:spPr>
          <a:xfrm>
            <a:off x="3950208" y="4983480"/>
            <a:ext cx="146304"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320" name="Google Shape;320;p5"/>
          <p:cNvSpPr/>
          <p:nvPr/>
        </p:nvSpPr>
        <p:spPr>
          <a:xfrm>
            <a:off x="4114800" y="4206240"/>
            <a:ext cx="1600200" cy="2011680"/>
          </a:xfrm>
          <a:prstGeom prst="roundRect">
            <a:avLst>
              <a:gd fmla="val 16667" name="adj"/>
            </a:avLst>
          </a:prstGeom>
          <a:solidFill>
            <a:srgbClr val="FFFFFF"/>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5"/>
          <p:cNvSpPr/>
          <p:nvPr/>
        </p:nvSpPr>
        <p:spPr>
          <a:xfrm>
            <a:off x="4713732" y="4297680"/>
            <a:ext cx="402336" cy="402336"/>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3</a:t>
            </a:r>
            <a:endParaRPr/>
          </a:p>
        </p:txBody>
      </p:sp>
      <p:sp>
        <p:nvSpPr>
          <p:cNvPr id="322" name="Google Shape;322;p5"/>
          <p:cNvSpPr txBox="1"/>
          <p:nvPr/>
        </p:nvSpPr>
        <p:spPr>
          <a:xfrm>
            <a:off x="4206240" y="4800600"/>
            <a:ext cx="1417320"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1B4F72"/>
                </a:solidFill>
                <a:latin typeface="Calibri"/>
                <a:ea typeface="Calibri"/>
                <a:cs typeface="Calibri"/>
                <a:sym typeface="Calibri"/>
              </a:rPr>
              <a:t>Evaluate Response</a:t>
            </a:r>
            <a:endParaRPr/>
          </a:p>
        </p:txBody>
      </p:sp>
      <p:sp>
        <p:nvSpPr>
          <p:cNvPr id="323" name="Google Shape;323;p5"/>
          <p:cNvSpPr txBox="1"/>
          <p:nvPr/>
        </p:nvSpPr>
        <p:spPr>
          <a:xfrm>
            <a:off x="4206240" y="5120640"/>
            <a:ext cx="141732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546E7A"/>
                </a:solidFill>
                <a:latin typeface="Calibri"/>
                <a:ea typeface="Calibri"/>
                <a:cs typeface="Calibri"/>
                <a:sym typeface="Calibri"/>
              </a:rPr>
              <a:t>ResponseEvaluator tokenizes</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and validates inputs</a:t>
            </a:r>
            <a:endParaRPr/>
          </a:p>
        </p:txBody>
      </p:sp>
      <p:sp>
        <p:nvSpPr>
          <p:cNvPr id="324" name="Google Shape;324;p5"/>
          <p:cNvSpPr txBox="1"/>
          <p:nvPr/>
        </p:nvSpPr>
        <p:spPr>
          <a:xfrm>
            <a:off x="5733288" y="4983480"/>
            <a:ext cx="146304"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325" name="Google Shape;325;p5"/>
          <p:cNvSpPr/>
          <p:nvPr/>
        </p:nvSpPr>
        <p:spPr>
          <a:xfrm>
            <a:off x="5897880" y="4206240"/>
            <a:ext cx="1600200" cy="2011680"/>
          </a:xfrm>
          <a:prstGeom prst="roundRect">
            <a:avLst>
              <a:gd fmla="val 16667" name="adj"/>
            </a:avLst>
          </a:prstGeom>
          <a:solidFill>
            <a:srgbClr val="FFFFFF"/>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5"/>
          <p:cNvSpPr/>
          <p:nvPr/>
        </p:nvSpPr>
        <p:spPr>
          <a:xfrm>
            <a:off x="6496812" y="4297680"/>
            <a:ext cx="402336" cy="402336"/>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4</a:t>
            </a:r>
            <a:endParaRPr/>
          </a:p>
        </p:txBody>
      </p:sp>
      <p:sp>
        <p:nvSpPr>
          <p:cNvPr id="327" name="Google Shape;327;p5"/>
          <p:cNvSpPr txBox="1"/>
          <p:nvPr/>
        </p:nvSpPr>
        <p:spPr>
          <a:xfrm>
            <a:off x="5989320" y="4800600"/>
            <a:ext cx="1417320"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1B4F72"/>
                </a:solidFill>
                <a:latin typeface="Calibri"/>
                <a:ea typeface="Calibri"/>
                <a:cs typeface="Calibri"/>
                <a:sym typeface="Calibri"/>
              </a:rPr>
              <a:t>Apply Rubric</a:t>
            </a:r>
            <a:endParaRPr/>
          </a:p>
        </p:txBody>
      </p:sp>
      <p:sp>
        <p:nvSpPr>
          <p:cNvPr id="328" name="Google Shape;328;p5"/>
          <p:cNvSpPr txBox="1"/>
          <p:nvPr/>
        </p:nvSpPr>
        <p:spPr>
          <a:xfrm>
            <a:off x="5989320" y="5120640"/>
            <a:ext cx="141732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546E7A"/>
                </a:solidFill>
                <a:latin typeface="Calibri"/>
                <a:ea typeface="Calibri"/>
                <a:cs typeface="Calibri"/>
                <a:sym typeface="Calibri"/>
              </a:rPr>
              <a:t>RubricEngine computes scores</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with weights &amp; penalties</a:t>
            </a:r>
            <a:endParaRPr/>
          </a:p>
        </p:txBody>
      </p:sp>
      <p:sp>
        <p:nvSpPr>
          <p:cNvPr id="329" name="Google Shape;329;p5"/>
          <p:cNvSpPr txBox="1"/>
          <p:nvPr/>
        </p:nvSpPr>
        <p:spPr>
          <a:xfrm>
            <a:off x="7516368" y="4983480"/>
            <a:ext cx="146304"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330" name="Google Shape;330;p5"/>
          <p:cNvSpPr/>
          <p:nvPr/>
        </p:nvSpPr>
        <p:spPr>
          <a:xfrm>
            <a:off x="7680960" y="4206240"/>
            <a:ext cx="1600200" cy="2011680"/>
          </a:xfrm>
          <a:prstGeom prst="roundRect">
            <a:avLst>
              <a:gd fmla="val 16667" name="adj"/>
            </a:avLst>
          </a:prstGeom>
          <a:solidFill>
            <a:srgbClr val="FFFFFF"/>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5"/>
          <p:cNvSpPr/>
          <p:nvPr/>
        </p:nvSpPr>
        <p:spPr>
          <a:xfrm>
            <a:off x="8279892" y="4297680"/>
            <a:ext cx="402336" cy="402336"/>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5</a:t>
            </a:r>
            <a:endParaRPr/>
          </a:p>
        </p:txBody>
      </p:sp>
      <p:sp>
        <p:nvSpPr>
          <p:cNvPr id="332" name="Google Shape;332;p5"/>
          <p:cNvSpPr txBox="1"/>
          <p:nvPr/>
        </p:nvSpPr>
        <p:spPr>
          <a:xfrm>
            <a:off x="7772400" y="4800600"/>
            <a:ext cx="1417320"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1B4F72"/>
                </a:solidFill>
                <a:latin typeface="Calibri"/>
                <a:ea typeface="Calibri"/>
                <a:cs typeface="Calibri"/>
                <a:sym typeface="Calibri"/>
              </a:rPr>
              <a:t>Record Metrics</a:t>
            </a:r>
            <a:endParaRPr/>
          </a:p>
        </p:txBody>
      </p:sp>
      <p:sp>
        <p:nvSpPr>
          <p:cNvPr id="333" name="Google Shape;333;p5"/>
          <p:cNvSpPr txBox="1"/>
          <p:nvPr/>
        </p:nvSpPr>
        <p:spPr>
          <a:xfrm>
            <a:off x="7772400" y="5120640"/>
            <a:ext cx="141732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546E7A"/>
                </a:solidFill>
                <a:latin typeface="Calibri"/>
                <a:ea typeface="Calibri"/>
                <a:cs typeface="Calibri"/>
                <a:sym typeface="Calibri"/>
              </a:rPr>
              <a:t>AnalyticsService stores</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aggregates &amp; distributions</a:t>
            </a:r>
            <a:endParaRPr/>
          </a:p>
        </p:txBody>
      </p:sp>
      <p:sp>
        <p:nvSpPr>
          <p:cNvPr id="334" name="Google Shape;334;p5"/>
          <p:cNvSpPr txBox="1"/>
          <p:nvPr/>
        </p:nvSpPr>
        <p:spPr>
          <a:xfrm>
            <a:off x="9299448" y="4983480"/>
            <a:ext cx="146304"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2196F3"/>
                </a:solidFill>
                <a:latin typeface="Calibri"/>
                <a:ea typeface="Calibri"/>
                <a:cs typeface="Calibri"/>
                <a:sym typeface="Calibri"/>
              </a:rPr>
              <a:t>-&gt;</a:t>
            </a:r>
            <a:endParaRPr/>
          </a:p>
        </p:txBody>
      </p:sp>
      <p:sp>
        <p:nvSpPr>
          <p:cNvPr id="335" name="Google Shape;335;p5"/>
          <p:cNvSpPr/>
          <p:nvPr/>
        </p:nvSpPr>
        <p:spPr>
          <a:xfrm>
            <a:off x="9464040" y="4206240"/>
            <a:ext cx="1600200" cy="2011680"/>
          </a:xfrm>
          <a:prstGeom prst="roundRect">
            <a:avLst>
              <a:gd fmla="val 16667" name="adj"/>
            </a:avLst>
          </a:prstGeom>
          <a:solidFill>
            <a:srgbClr val="FFFFFF"/>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5"/>
          <p:cNvSpPr/>
          <p:nvPr/>
        </p:nvSpPr>
        <p:spPr>
          <a:xfrm>
            <a:off x="10062972" y="4297680"/>
            <a:ext cx="402336" cy="402336"/>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6</a:t>
            </a:r>
            <a:endParaRPr/>
          </a:p>
        </p:txBody>
      </p:sp>
      <p:sp>
        <p:nvSpPr>
          <p:cNvPr id="337" name="Google Shape;337;p5"/>
          <p:cNvSpPr txBox="1"/>
          <p:nvPr/>
        </p:nvSpPr>
        <p:spPr>
          <a:xfrm>
            <a:off x="9555480" y="4800600"/>
            <a:ext cx="1417320"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1B4F72"/>
                </a:solidFill>
                <a:latin typeface="Calibri"/>
                <a:ea typeface="Calibri"/>
                <a:cs typeface="Calibri"/>
                <a:sym typeface="Calibri"/>
              </a:rPr>
              <a:t>Package Export</a:t>
            </a:r>
            <a:endParaRPr/>
          </a:p>
        </p:txBody>
      </p:sp>
      <p:sp>
        <p:nvSpPr>
          <p:cNvPr id="338" name="Google Shape;338;p5"/>
          <p:cNvSpPr txBox="1"/>
          <p:nvPr/>
        </p:nvSpPr>
        <p:spPr>
          <a:xfrm>
            <a:off x="9555480" y="5120640"/>
            <a:ext cx="141732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546E7A"/>
                </a:solidFill>
                <a:latin typeface="Calibri"/>
                <a:ea typeface="Calibri"/>
                <a:cs typeface="Calibri"/>
                <a:sym typeface="Calibri"/>
              </a:rPr>
              <a:t>ExportManager wraps into</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SDK-compliant JSON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342" name="Shape 342"/>
        <p:cNvGrpSpPr/>
        <p:nvPr/>
      </p:nvGrpSpPr>
      <p:grpSpPr>
        <a:xfrm>
          <a:off x="0" y="0"/>
          <a:ext cx="0" cy="0"/>
          <a:chOff x="0" y="0"/>
          <a:chExt cx="0" cy="0"/>
        </a:xfrm>
      </p:grpSpPr>
      <p:sp>
        <p:nvSpPr>
          <p:cNvPr id="343" name="Google Shape;343;p6"/>
          <p:cNvSpPr/>
          <p:nvPr/>
        </p:nvSpPr>
        <p:spPr>
          <a:xfrm>
            <a:off x="0" y="0"/>
            <a:ext cx="12191695" cy="54864"/>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6"/>
          <p:cNvSpPr txBox="1"/>
          <p:nvPr/>
        </p:nvSpPr>
        <p:spPr>
          <a:xfrm>
            <a:off x="731520" y="320040"/>
            <a:ext cx="100584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rgbClr val="1B4F72"/>
                </a:solidFill>
                <a:latin typeface="Calibri"/>
                <a:ea typeface="Calibri"/>
                <a:cs typeface="Calibri"/>
                <a:sym typeface="Calibri"/>
              </a:rPr>
              <a:t>STATUS &amp; ROADMAP</a:t>
            </a:r>
            <a:endParaRPr/>
          </a:p>
        </p:txBody>
      </p:sp>
      <p:sp>
        <p:nvSpPr>
          <p:cNvPr id="345" name="Google Shape;345;p6"/>
          <p:cNvSpPr/>
          <p:nvPr/>
        </p:nvSpPr>
        <p:spPr>
          <a:xfrm>
            <a:off x="731520" y="868680"/>
            <a:ext cx="2560320" cy="25400"/>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6"/>
          <p:cNvSpPr/>
          <p:nvPr/>
        </p:nvSpPr>
        <p:spPr>
          <a:xfrm>
            <a:off x="457200" y="1371600"/>
            <a:ext cx="5486400" cy="5029200"/>
          </a:xfrm>
          <a:prstGeom prst="roundRect">
            <a:avLst>
              <a:gd fmla="val 16667" name="adj"/>
            </a:avLst>
          </a:prstGeom>
          <a:solidFill>
            <a:srgbClr val="FFFFFF"/>
          </a:solidFill>
          <a:ln cap="flat" cmpd="sng" w="1905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6"/>
          <p:cNvSpPr txBox="1"/>
          <p:nvPr/>
        </p:nvSpPr>
        <p:spPr>
          <a:xfrm>
            <a:off x="731520" y="1508760"/>
            <a:ext cx="50292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u="none" cap="none" strike="noStrike">
                <a:solidFill>
                  <a:srgbClr val="1B4F72"/>
                </a:solidFill>
                <a:latin typeface="Calibri"/>
                <a:ea typeface="Calibri"/>
                <a:cs typeface="Calibri"/>
                <a:sym typeface="Calibri"/>
              </a:rPr>
              <a:t>CURRENT PROGRESS</a:t>
            </a:r>
            <a:endParaRPr/>
          </a:p>
        </p:txBody>
      </p:sp>
      <p:sp>
        <p:nvSpPr>
          <p:cNvPr id="348" name="Google Shape;348;p6"/>
          <p:cNvSpPr/>
          <p:nvPr/>
        </p:nvSpPr>
        <p:spPr>
          <a:xfrm>
            <a:off x="731520" y="1993392"/>
            <a:ext cx="201168" cy="201168"/>
          </a:xfrm>
          <a:prstGeom prst="ellipse">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600" u="none" cap="none" strike="noStrike">
              <a:solidFill>
                <a:srgbClr val="FFFFFF"/>
              </a:solidFill>
              <a:latin typeface="Quattrocento Sans"/>
              <a:ea typeface="Quattrocento Sans"/>
              <a:cs typeface="Quattrocento Sans"/>
              <a:sym typeface="Quattrocento Sans"/>
            </a:endParaRPr>
          </a:p>
        </p:txBody>
      </p:sp>
      <p:sp>
        <p:nvSpPr>
          <p:cNvPr id="349" name="Google Shape;349;p6"/>
          <p:cNvSpPr/>
          <p:nvPr/>
        </p:nvSpPr>
        <p:spPr>
          <a:xfrm>
            <a:off x="813816" y="2221992"/>
            <a:ext cx="31750" cy="301752"/>
          </a:xfrm>
          <a:prstGeom prst="rect">
            <a:avLst/>
          </a:prstGeom>
          <a:solidFill>
            <a:srgbClr val="90A4A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6"/>
          <p:cNvSpPr txBox="1"/>
          <p:nvPr/>
        </p:nvSpPr>
        <p:spPr>
          <a:xfrm>
            <a:off x="1051560" y="1965960"/>
            <a:ext cx="16459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Research &amp; Design</a:t>
            </a:r>
            <a:endParaRPr/>
          </a:p>
        </p:txBody>
      </p:sp>
      <p:sp>
        <p:nvSpPr>
          <p:cNvPr id="351" name="Google Shape;351;p6"/>
          <p:cNvSpPr txBox="1"/>
          <p:nvPr/>
        </p:nvSpPr>
        <p:spPr>
          <a:xfrm>
            <a:off x="2743200" y="1965960"/>
            <a:ext cx="548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FF9800"/>
                </a:solidFill>
                <a:latin typeface="Calibri"/>
                <a:ea typeface="Calibri"/>
                <a:cs typeface="Calibri"/>
                <a:sym typeface="Calibri"/>
              </a:rPr>
              <a:t>80%</a:t>
            </a:r>
            <a:endParaRPr/>
          </a:p>
        </p:txBody>
      </p:sp>
      <p:sp>
        <p:nvSpPr>
          <p:cNvPr id="352" name="Google Shape;352;p6"/>
          <p:cNvSpPr txBox="1"/>
          <p:nvPr/>
        </p:nvSpPr>
        <p:spPr>
          <a:xfrm>
            <a:off x="3337560" y="1975104"/>
            <a:ext cx="2286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Partial - literature review pending</a:t>
            </a:r>
            <a:endParaRPr/>
          </a:p>
        </p:txBody>
      </p:sp>
      <p:sp>
        <p:nvSpPr>
          <p:cNvPr id="353" name="Google Shape;353;p6"/>
          <p:cNvSpPr/>
          <p:nvPr/>
        </p:nvSpPr>
        <p:spPr>
          <a:xfrm>
            <a:off x="731520" y="2523744"/>
            <a:ext cx="201168" cy="201168"/>
          </a:xfrm>
          <a:prstGeom prst="ellipse">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600" u="none" cap="none" strike="noStrike">
              <a:solidFill>
                <a:srgbClr val="FFFFFF"/>
              </a:solidFill>
              <a:latin typeface="Quattrocento Sans"/>
              <a:ea typeface="Quattrocento Sans"/>
              <a:cs typeface="Quattrocento Sans"/>
              <a:sym typeface="Quattrocento Sans"/>
            </a:endParaRPr>
          </a:p>
        </p:txBody>
      </p:sp>
      <p:sp>
        <p:nvSpPr>
          <p:cNvPr id="354" name="Google Shape;354;p6"/>
          <p:cNvSpPr/>
          <p:nvPr/>
        </p:nvSpPr>
        <p:spPr>
          <a:xfrm>
            <a:off x="813816" y="2752344"/>
            <a:ext cx="31750" cy="301752"/>
          </a:xfrm>
          <a:prstGeom prst="rect">
            <a:avLst/>
          </a:prstGeom>
          <a:solidFill>
            <a:srgbClr val="90A4A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6"/>
          <p:cNvSpPr txBox="1"/>
          <p:nvPr/>
        </p:nvSpPr>
        <p:spPr>
          <a:xfrm>
            <a:off x="1051560" y="2496312"/>
            <a:ext cx="16459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Dataset Development</a:t>
            </a:r>
            <a:endParaRPr/>
          </a:p>
        </p:txBody>
      </p:sp>
      <p:sp>
        <p:nvSpPr>
          <p:cNvPr id="356" name="Google Shape;356;p6"/>
          <p:cNvSpPr txBox="1"/>
          <p:nvPr/>
        </p:nvSpPr>
        <p:spPr>
          <a:xfrm>
            <a:off x="2743200" y="2496312"/>
            <a:ext cx="548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FF9800"/>
                </a:solidFill>
                <a:latin typeface="Calibri"/>
                <a:ea typeface="Calibri"/>
                <a:cs typeface="Calibri"/>
                <a:sym typeface="Calibri"/>
              </a:rPr>
              <a:t>70%</a:t>
            </a:r>
            <a:endParaRPr/>
          </a:p>
        </p:txBody>
      </p:sp>
      <p:sp>
        <p:nvSpPr>
          <p:cNvPr id="357" name="Google Shape;357;p6"/>
          <p:cNvSpPr txBox="1"/>
          <p:nvPr/>
        </p:nvSpPr>
        <p:spPr>
          <a:xfrm>
            <a:off x="3337560" y="2505456"/>
            <a:ext cx="2286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Partial - pilot data empty</a:t>
            </a:r>
            <a:endParaRPr/>
          </a:p>
        </p:txBody>
      </p:sp>
      <p:sp>
        <p:nvSpPr>
          <p:cNvPr id="358" name="Google Shape;358;p6"/>
          <p:cNvSpPr/>
          <p:nvPr/>
        </p:nvSpPr>
        <p:spPr>
          <a:xfrm>
            <a:off x="731520" y="3054096"/>
            <a:ext cx="201168" cy="201168"/>
          </a:xfrm>
          <a:prstGeom prst="ellipse">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600" u="none" cap="none" strike="noStrike">
              <a:solidFill>
                <a:srgbClr val="FFFFFF"/>
              </a:solidFill>
              <a:latin typeface="Quattrocento Sans"/>
              <a:ea typeface="Quattrocento Sans"/>
              <a:cs typeface="Quattrocento Sans"/>
              <a:sym typeface="Quattrocento Sans"/>
            </a:endParaRPr>
          </a:p>
        </p:txBody>
      </p:sp>
      <p:sp>
        <p:nvSpPr>
          <p:cNvPr id="359" name="Google Shape;359;p6"/>
          <p:cNvSpPr/>
          <p:nvPr/>
        </p:nvSpPr>
        <p:spPr>
          <a:xfrm>
            <a:off x="813816" y="3282696"/>
            <a:ext cx="31750" cy="301752"/>
          </a:xfrm>
          <a:prstGeom prst="rect">
            <a:avLst/>
          </a:prstGeom>
          <a:solidFill>
            <a:srgbClr val="90A4A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p6"/>
          <p:cNvSpPr txBox="1"/>
          <p:nvPr/>
        </p:nvSpPr>
        <p:spPr>
          <a:xfrm>
            <a:off x="1051560" y="3026664"/>
            <a:ext cx="16459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Backend Core</a:t>
            </a:r>
            <a:endParaRPr/>
          </a:p>
        </p:txBody>
      </p:sp>
      <p:sp>
        <p:nvSpPr>
          <p:cNvPr id="361" name="Google Shape;361;p6"/>
          <p:cNvSpPr txBox="1"/>
          <p:nvPr/>
        </p:nvSpPr>
        <p:spPr>
          <a:xfrm>
            <a:off x="2743200" y="3026664"/>
            <a:ext cx="548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4CAF50"/>
                </a:solidFill>
                <a:latin typeface="Calibri"/>
                <a:ea typeface="Calibri"/>
                <a:cs typeface="Calibri"/>
                <a:sym typeface="Calibri"/>
              </a:rPr>
              <a:t>100%</a:t>
            </a:r>
            <a:endParaRPr/>
          </a:p>
        </p:txBody>
      </p:sp>
      <p:sp>
        <p:nvSpPr>
          <p:cNvPr id="362" name="Google Shape;362;p6"/>
          <p:cNvSpPr txBox="1"/>
          <p:nvPr/>
        </p:nvSpPr>
        <p:spPr>
          <a:xfrm>
            <a:off x="3337560" y="3035808"/>
            <a:ext cx="2286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Complete - all 6 modules working</a:t>
            </a:r>
            <a:endParaRPr/>
          </a:p>
        </p:txBody>
      </p:sp>
      <p:sp>
        <p:nvSpPr>
          <p:cNvPr id="363" name="Google Shape;363;p6"/>
          <p:cNvSpPr/>
          <p:nvPr/>
        </p:nvSpPr>
        <p:spPr>
          <a:xfrm>
            <a:off x="731520" y="3584448"/>
            <a:ext cx="201168" cy="201168"/>
          </a:xfrm>
          <a:prstGeom prst="ellipse">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600" u="none" cap="none" strike="noStrike">
              <a:solidFill>
                <a:srgbClr val="FFFFFF"/>
              </a:solidFill>
              <a:latin typeface="Quattrocento Sans"/>
              <a:ea typeface="Quattrocento Sans"/>
              <a:cs typeface="Quattrocento Sans"/>
              <a:sym typeface="Quattrocento Sans"/>
            </a:endParaRPr>
          </a:p>
        </p:txBody>
      </p:sp>
      <p:sp>
        <p:nvSpPr>
          <p:cNvPr id="364" name="Google Shape;364;p6"/>
          <p:cNvSpPr/>
          <p:nvPr/>
        </p:nvSpPr>
        <p:spPr>
          <a:xfrm>
            <a:off x="813816" y="3813048"/>
            <a:ext cx="31750" cy="301752"/>
          </a:xfrm>
          <a:prstGeom prst="rect">
            <a:avLst/>
          </a:prstGeom>
          <a:solidFill>
            <a:srgbClr val="90A4A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6"/>
          <p:cNvSpPr txBox="1"/>
          <p:nvPr/>
        </p:nvSpPr>
        <p:spPr>
          <a:xfrm>
            <a:off x="1051560" y="3557016"/>
            <a:ext cx="16459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REST API</a:t>
            </a:r>
            <a:endParaRPr/>
          </a:p>
        </p:txBody>
      </p:sp>
      <p:sp>
        <p:nvSpPr>
          <p:cNvPr id="366" name="Google Shape;366;p6"/>
          <p:cNvSpPr txBox="1"/>
          <p:nvPr/>
        </p:nvSpPr>
        <p:spPr>
          <a:xfrm>
            <a:off x="2743200" y="3557016"/>
            <a:ext cx="548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4CAF50"/>
                </a:solidFill>
                <a:latin typeface="Calibri"/>
                <a:ea typeface="Calibri"/>
                <a:cs typeface="Calibri"/>
                <a:sym typeface="Calibri"/>
              </a:rPr>
              <a:t>100%</a:t>
            </a:r>
            <a:endParaRPr/>
          </a:p>
        </p:txBody>
      </p:sp>
      <p:sp>
        <p:nvSpPr>
          <p:cNvPr id="367" name="Google Shape;367;p6"/>
          <p:cNvSpPr txBox="1"/>
          <p:nvPr/>
        </p:nvSpPr>
        <p:spPr>
          <a:xfrm>
            <a:off x="3337560" y="3566160"/>
            <a:ext cx="2286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Complete - 6 endpoints, Swagger docs</a:t>
            </a:r>
            <a:endParaRPr/>
          </a:p>
        </p:txBody>
      </p:sp>
      <p:sp>
        <p:nvSpPr>
          <p:cNvPr id="368" name="Google Shape;368;p6"/>
          <p:cNvSpPr/>
          <p:nvPr/>
        </p:nvSpPr>
        <p:spPr>
          <a:xfrm>
            <a:off x="731520" y="4114800"/>
            <a:ext cx="201168" cy="201168"/>
          </a:xfrm>
          <a:prstGeom prst="ellipse">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600" u="none" cap="none" strike="noStrike">
              <a:solidFill>
                <a:srgbClr val="FFFFFF"/>
              </a:solidFill>
              <a:latin typeface="Quattrocento Sans"/>
              <a:ea typeface="Quattrocento Sans"/>
              <a:cs typeface="Quattrocento Sans"/>
              <a:sym typeface="Quattrocento Sans"/>
            </a:endParaRPr>
          </a:p>
        </p:txBody>
      </p:sp>
      <p:sp>
        <p:nvSpPr>
          <p:cNvPr id="369" name="Google Shape;369;p6"/>
          <p:cNvSpPr/>
          <p:nvPr/>
        </p:nvSpPr>
        <p:spPr>
          <a:xfrm>
            <a:off x="813816" y="4343400"/>
            <a:ext cx="31750" cy="301752"/>
          </a:xfrm>
          <a:prstGeom prst="rect">
            <a:avLst/>
          </a:prstGeom>
          <a:solidFill>
            <a:srgbClr val="90A4A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6"/>
          <p:cNvSpPr txBox="1"/>
          <p:nvPr/>
        </p:nvSpPr>
        <p:spPr>
          <a:xfrm>
            <a:off x="1051560" y="4087368"/>
            <a:ext cx="16459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Frontend Foundation</a:t>
            </a:r>
            <a:endParaRPr/>
          </a:p>
        </p:txBody>
      </p:sp>
      <p:sp>
        <p:nvSpPr>
          <p:cNvPr id="371" name="Google Shape;371;p6"/>
          <p:cNvSpPr txBox="1"/>
          <p:nvPr/>
        </p:nvSpPr>
        <p:spPr>
          <a:xfrm>
            <a:off x="2743200" y="4087368"/>
            <a:ext cx="548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4CAF50"/>
                </a:solidFill>
                <a:latin typeface="Calibri"/>
                <a:ea typeface="Calibri"/>
                <a:cs typeface="Calibri"/>
                <a:sym typeface="Calibri"/>
              </a:rPr>
              <a:t>90%</a:t>
            </a:r>
            <a:endParaRPr/>
          </a:p>
        </p:txBody>
      </p:sp>
      <p:sp>
        <p:nvSpPr>
          <p:cNvPr id="372" name="Google Shape;372;p6"/>
          <p:cNvSpPr txBox="1"/>
          <p:nvPr/>
        </p:nvSpPr>
        <p:spPr>
          <a:xfrm>
            <a:off x="3337560" y="4096512"/>
            <a:ext cx="2286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Mostly complete - 4 pages, glassmorphic UI</a:t>
            </a:r>
            <a:endParaRPr/>
          </a:p>
        </p:txBody>
      </p:sp>
      <p:sp>
        <p:nvSpPr>
          <p:cNvPr id="373" name="Google Shape;373;p6"/>
          <p:cNvSpPr/>
          <p:nvPr/>
        </p:nvSpPr>
        <p:spPr>
          <a:xfrm>
            <a:off x="731520" y="4645152"/>
            <a:ext cx="201168" cy="201168"/>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600" u="none" cap="none" strike="noStrike">
              <a:solidFill>
                <a:srgbClr val="FFFFFF"/>
              </a:solidFill>
              <a:latin typeface="Quattrocento Sans"/>
              <a:ea typeface="Quattrocento Sans"/>
              <a:cs typeface="Quattrocento Sans"/>
              <a:sym typeface="Quattrocento Sans"/>
            </a:endParaRPr>
          </a:p>
        </p:txBody>
      </p:sp>
      <p:sp>
        <p:nvSpPr>
          <p:cNvPr id="374" name="Google Shape;374;p6"/>
          <p:cNvSpPr/>
          <p:nvPr/>
        </p:nvSpPr>
        <p:spPr>
          <a:xfrm>
            <a:off x="813816" y="4873752"/>
            <a:ext cx="31750" cy="301752"/>
          </a:xfrm>
          <a:prstGeom prst="rect">
            <a:avLst/>
          </a:prstGeom>
          <a:solidFill>
            <a:srgbClr val="90A4A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6"/>
          <p:cNvSpPr txBox="1"/>
          <p:nvPr/>
        </p:nvSpPr>
        <p:spPr>
          <a:xfrm>
            <a:off x="1051560" y="4617720"/>
            <a:ext cx="16459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Integration</a:t>
            </a:r>
            <a:endParaRPr/>
          </a:p>
        </p:txBody>
      </p:sp>
      <p:sp>
        <p:nvSpPr>
          <p:cNvPr id="376" name="Google Shape;376;p6"/>
          <p:cNvSpPr txBox="1"/>
          <p:nvPr/>
        </p:nvSpPr>
        <p:spPr>
          <a:xfrm>
            <a:off x="2743200" y="4617720"/>
            <a:ext cx="548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2196F3"/>
                </a:solidFill>
                <a:latin typeface="Calibri"/>
                <a:ea typeface="Calibri"/>
                <a:cs typeface="Calibri"/>
                <a:sym typeface="Calibri"/>
              </a:rPr>
              <a:t>65%</a:t>
            </a:r>
            <a:endParaRPr/>
          </a:p>
        </p:txBody>
      </p:sp>
      <p:sp>
        <p:nvSpPr>
          <p:cNvPr id="377" name="Google Shape;377;p6"/>
          <p:cNvSpPr txBox="1"/>
          <p:nvPr/>
        </p:nvSpPr>
        <p:spPr>
          <a:xfrm>
            <a:off x="3337560" y="4626864"/>
            <a:ext cx="2286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In progress - proxy working, wiring ongoing</a:t>
            </a:r>
            <a:endParaRPr/>
          </a:p>
        </p:txBody>
      </p:sp>
      <p:sp>
        <p:nvSpPr>
          <p:cNvPr id="378" name="Google Shape;378;p6"/>
          <p:cNvSpPr/>
          <p:nvPr/>
        </p:nvSpPr>
        <p:spPr>
          <a:xfrm>
            <a:off x="731520" y="5175504"/>
            <a:ext cx="201168" cy="201168"/>
          </a:xfrm>
          <a:prstGeom prst="ellipse">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600" u="none" cap="none" strike="noStrike">
              <a:solidFill>
                <a:srgbClr val="FFFFFF"/>
              </a:solidFill>
              <a:latin typeface="Quattrocento Sans"/>
              <a:ea typeface="Quattrocento Sans"/>
              <a:cs typeface="Quattrocento Sans"/>
              <a:sym typeface="Quattrocento Sans"/>
            </a:endParaRPr>
          </a:p>
        </p:txBody>
      </p:sp>
      <p:sp>
        <p:nvSpPr>
          <p:cNvPr id="379" name="Google Shape;379;p6"/>
          <p:cNvSpPr/>
          <p:nvPr/>
        </p:nvSpPr>
        <p:spPr>
          <a:xfrm>
            <a:off x="813816" y="5404104"/>
            <a:ext cx="31750" cy="301752"/>
          </a:xfrm>
          <a:prstGeom prst="rect">
            <a:avLst/>
          </a:prstGeom>
          <a:solidFill>
            <a:srgbClr val="90A4A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6"/>
          <p:cNvSpPr txBox="1"/>
          <p:nvPr/>
        </p:nvSpPr>
        <p:spPr>
          <a:xfrm>
            <a:off x="1051560" y="5148072"/>
            <a:ext cx="16459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Testing</a:t>
            </a:r>
            <a:endParaRPr/>
          </a:p>
        </p:txBody>
      </p:sp>
      <p:sp>
        <p:nvSpPr>
          <p:cNvPr id="381" name="Google Shape;381;p6"/>
          <p:cNvSpPr txBox="1"/>
          <p:nvPr/>
        </p:nvSpPr>
        <p:spPr>
          <a:xfrm>
            <a:off x="2743200" y="5148072"/>
            <a:ext cx="548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FF9800"/>
                </a:solidFill>
                <a:latin typeface="Calibri"/>
                <a:ea typeface="Calibri"/>
                <a:cs typeface="Calibri"/>
                <a:sym typeface="Calibri"/>
              </a:rPr>
              <a:t>30%</a:t>
            </a:r>
            <a:endParaRPr/>
          </a:p>
        </p:txBody>
      </p:sp>
      <p:sp>
        <p:nvSpPr>
          <p:cNvPr id="382" name="Google Shape;382;p6"/>
          <p:cNvSpPr txBox="1"/>
          <p:nvPr/>
        </p:nvSpPr>
        <p:spPr>
          <a:xfrm>
            <a:off x="3337560" y="5157216"/>
            <a:ext cx="2286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In progress - initial setup started</a:t>
            </a:r>
            <a:endParaRPr/>
          </a:p>
        </p:txBody>
      </p:sp>
      <p:sp>
        <p:nvSpPr>
          <p:cNvPr id="383" name="Google Shape;383;p6"/>
          <p:cNvSpPr/>
          <p:nvPr/>
        </p:nvSpPr>
        <p:spPr>
          <a:xfrm>
            <a:off x="731520" y="5705856"/>
            <a:ext cx="201168" cy="201168"/>
          </a:xfrm>
          <a:prstGeom prst="ellipse">
            <a:avLst/>
          </a:prstGeom>
          <a:solidFill>
            <a:srgbClr val="FF98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600" u="none" cap="none" strike="noStrike">
              <a:solidFill>
                <a:srgbClr val="FFFFFF"/>
              </a:solidFill>
              <a:latin typeface="Quattrocento Sans"/>
              <a:ea typeface="Quattrocento Sans"/>
              <a:cs typeface="Quattrocento Sans"/>
              <a:sym typeface="Quattrocento Sans"/>
            </a:endParaRPr>
          </a:p>
        </p:txBody>
      </p:sp>
      <p:sp>
        <p:nvSpPr>
          <p:cNvPr id="384" name="Google Shape;384;p6"/>
          <p:cNvSpPr txBox="1"/>
          <p:nvPr/>
        </p:nvSpPr>
        <p:spPr>
          <a:xfrm>
            <a:off x="1051560" y="5678424"/>
            <a:ext cx="164592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0D1B2A"/>
                </a:solidFill>
                <a:latin typeface="Calibri"/>
                <a:ea typeface="Calibri"/>
                <a:cs typeface="Calibri"/>
                <a:sym typeface="Calibri"/>
              </a:rPr>
              <a:t>Documentation</a:t>
            </a:r>
            <a:endParaRPr/>
          </a:p>
        </p:txBody>
      </p:sp>
      <p:sp>
        <p:nvSpPr>
          <p:cNvPr id="385" name="Google Shape;385;p6"/>
          <p:cNvSpPr txBox="1"/>
          <p:nvPr/>
        </p:nvSpPr>
        <p:spPr>
          <a:xfrm>
            <a:off x="2743200" y="5678424"/>
            <a:ext cx="548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FF9800"/>
                </a:solidFill>
                <a:latin typeface="Calibri"/>
                <a:ea typeface="Calibri"/>
                <a:cs typeface="Calibri"/>
                <a:sym typeface="Calibri"/>
              </a:rPr>
              <a:t>45%</a:t>
            </a:r>
            <a:endParaRPr/>
          </a:p>
        </p:txBody>
      </p:sp>
      <p:sp>
        <p:nvSpPr>
          <p:cNvPr id="386" name="Google Shape;386;p6"/>
          <p:cNvSpPr txBox="1"/>
          <p:nvPr/>
        </p:nvSpPr>
        <p:spPr>
          <a:xfrm>
            <a:off x="3337560" y="5687568"/>
            <a:ext cx="2286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Partial - README done, docs sparse</a:t>
            </a:r>
            <a:endParaRPr/>
          </a:p>
        </p:txBody>
      </p:sp>
      <p:sp>
        <p:nvSpPr>
          <p:cNvPr id="387" name="Google Shape;387;p6"/>
          <p:cNvSpPr/>
          <p:nvPr/>
        </p:nvSpPr>
        <p:spPr>
          <a:xfrm>
            <a:off x="6309360" y="1371600"/>
            <a:ext cx="5486400" cy="5029200"/>
          </a:xfrm>
          <a:prstGeom prst="roundRect">
            <a:avLst>
              <a:gd fmla="val 16667" name="adj"/>
            </a:avLst>
          </a:prstGeom>
          <a:solidFill>
            <a:srgbClr val="FFFFFF"/>
          </a:solidFill>
          <a:ln cap="flat" cmpd="sng" w="19050">
            <a:solidFill>
              <a:srgbClr val="42A5F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8" name="Google Shape;388;p6"/>
          <p:cNvSpPr txBox="1"/>
          <p:nvPr/>
        </p:nvSpPr>
        <p:spPr>
          <a:xfrm>
            <a:off x="6583680" y="1508760"/>
            <a:ext cx="50292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u="none" cap="none" strike="noStrike">
                <a:solidFill>
                  <a:srgbClr val="1B4F72"/>
                </a:solidFill>
                <a:latin typeface="Calibri"/>
                <a:ea typeface="Calibri"/>
                <a:cs typeface="Calibri"/>
                <a:sym typeface="Calibri"/>
              </a:rPr>
              <a:t>REMAINING MILESTONES</a:t>
            </a:r>
            <a:endParaRPr/>
          </a:p>
        </p:txBody>
      </p:sp>
      <p:sp>
        <p:nvSpPr>
          <p:cNvPr id="389" name="Google Shape;389;p6"/>
          <p:cNvSpPr/>
          <p:nvPr/>
        </p:nvSpPr>
        <p:spPr>
          <a:xfrm>
            <a:off x="6583680" y="2011680"/>
            <a:ext cx="365760" cy="36576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Quattrocento Sans"/>
                <a:ea typeface="Quattrocento Sans"/>
                <a:cs typeface="Quattrocento Sans"/>
                <a:sym typeface="Quattrocento Sans"/>
              </a:rPr>
              <a:t>1</a:t>
            </a:r>
            <a:endParaRPr/>
          </a:p>
        </p:txBody>
      </p:sp>
      <p:sp>
        <p:nvSpPr>
          <p:cNvPr id="390" name="Google Shape;390;p6"/>
          <p:cNvSpPr txBox="1"/>
          <p:nvPr/>
        </p:nvSpPr>
        <p:spPr>
          <a:xfrm>
            <a:off x="7086600" y="2011680"/>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0D1B2A"/>
                </a:solidFill>
                <a:latin typeface="Calibri"/>
                <a:ea typeface="Calibri"/>
                <a:cs typeface="Calibri"/>
                <a:sym typeface="Calibri"/>
              </a:rPr>
              <a:t>Frontend-Backend Integration</a:t>
            </a:r>
            <a:endParaRPr/>
          </a:p>
        </p:txBody>
      </p:sp>
      <p:sp>
        <p:nvSpPr>
          <p:cNvPr id="391" name="Google Shape;391;p6"/>
          <p:cNvSpPr txBox="1"/>
          <p:nvPr/>
        </p:nvSpPr>
        <p:spPr>
          <a:xfrm>
            <a:off x="9326880" y="2011680"/>
            <a:ext cx="21945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Complete API wiring for all pages,</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finalize data flow end-to-end</a:t>
            </a:r>
            <a:endParaRPr/>
          </a:p>
        </p:txBody>
      </p:sp>
      <p:sp>
        <p:nvSpPr>
          <p:cNvPr id="392" name="Google Shape;392;p6"/>
          <p:cNvSpPr/>
          <p:nvPr/>
        </p:nvSpPr>
        <p:spPr>
          <a:xfrm>
            <a:off x="6583680" y="2834640"/>
            <a:ext cx="365760" cy="36576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Quattrocento Sans"/>
                <a:ea typeface="Quattrocento Sans"/>
                <a:cs typeface="Quattrocento Sans"/>
                <a:sym typeface="Quattrocento Sans"/>
              </a:rPr>
              <a:t>2</a:t>
            </a:r>
            <a:endParaRPr/>
          </a:p>
        </p:txBody>
      </p:sp>
      <p:sp>
        <p:nvSpPr>
          <p:cNvPr id="393" name="Google Shape;393;p6"/>
          <p:cNvSpPr txBox="1"/>
          <p:nvPr/>
        </p:nvSpPr>
        <p:spPr>
          <a:xfrm>
            <a:off x="7086600" y="2834640"/>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0D1B2A"/>
                </a:solidFill>
                <a:latin typeface="Calibri"/>
                <a:ea typeface="Calibri"/>
                <a:cs typeface="Calibri"/>
                <a:sym typeface="Calibri"/>
              </a:rPr>
              <a:t>Dataset Refinement</a:t>
            </a:r>
            <a:endParaRPr/>
          </a:p>
        </p:txBody>
      </p:sp>
      <p:sp>
        <p:nvSpPr>
          <p:cNvPr id="394" name="Google Shape;394;p6"/>
          <p:cNvSpPr txBox="1"/>
          <p:nvPr/>
        </p:nvSpPr>
        <p:spPr>
          <a:xfrm>
            <a:off x="9326880" y="2834640"/>
            <a:ext cx="21945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Populate pilot ground truth data,</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validate scenario bank coverage</a:t>
            </a:r>
            <a:endParaRPr/>
          </a:p>
        </p:txBody>
      </p:sp>
      <p:sp>
        <p:nvSpPr>
          <p:cNvPr id="395" name="Google Shape;395;p6"/>
          <p:cNvSpPr/>
          <p:nvPr/>
        </p:nvSpPr>
        <p:spPr>
          <a:xfrm>
            <a:off x="6583680" y="3657600"/>
            <a:ext cx="365760" cy="36576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Quattrocento Sans"/>
                <a:ea typeface="Quattrocento Sans"/>
                <a:cs typeface="Quattrocento Sans"/>
                <a:sym typeface="Quattrocento Sans"/>
              </a:rPr>
              <a:t>3</a:t>
            </a:r>
            <a:endParaRPr/>
          </a:p>
        </p:txBody>
      </p:sp>
      <p:sp>
        <p:nvSpPr>
          <p:cNvPr id="396" name="Google Shape;396;p6"/>
          <p:cNvSpPr txBox="1"/>
          <p:nvPr/>
        </p:nvSpPr>
        <p:spPr>
          <a:xfrm>
            <a:off x="7086600" y="3657600"/>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0D1B2A"/>
                </a:solidFill>
                <a:latin typeface="Calibri"/>
                <a:ea typeface="Calibri"/>
                <a:cs typeface="Calibri"/>
                <a:sym typeface="Calibri"/>
              </a:rPr>
              <a:t>Testing &amp; Validation</a:t>
            </a:r>
            <a:endParaRPr/>
          </a:p>
        </p:txBody>
      </p:sp>
      <p:sp>
        <p:nvSpPr>
          <p:cNvPr id="397" name="Google Shape;397;p6"/>
          <p:cNvSpPr txBox="1"/>
          <p:nvPr/>
        </p:nvSpPr>
        <p:spPr>
          <a:xfrm>
            <a:off x="9326880" y="3657600"/>
            <a:ext cx="21945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Setup pytest &amp; vitest, write unit</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tests for scoring boundaries</a:t>
            </a:r>
            <a:endParaRPr/>
          </a:p>
        </p:txBody>
      </p:sp>
      <p:sp>
        <p:nvSpPr>
          <p:cNvPr id="398" name="Google Shape;398;p6"/>
          <p:cNvSpPr/>
          <p:nvPr/>
        </p:nvSpPr>
        <p:spPr>
          <a:xfrm>
            <a:off x="6583680" y="4480560"/>
            <a:ext cx="365760" cy="36576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Quattrocento Sans"/>
                <a:ea typeface="Quattrocento Sans"/>
                <a:cs typeface="Quattrocento Sans"/>
                <a:sym typeface="Quattrocento Sans"/>
              </a:rPr>
              <a:t>4</a:t>
            </a:r>
            <a:endParaRPr/>
          </a:p>
        </p:txBody>
      </p:sp>
      <p:sp>
        <p:nvSpPr>
          <p:cNvPr id="399" name="Google Shape;399;p6"/>
          <p:cNvSpPr txBox="1"/>
          <p:nvPr/>
        </p:nvSpPr>
        <p:spPr>
          <a:xfrm>
            <a:off x="7086600" y="4480560"/>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0D1B2A"/>
                </a:solidFill>
                <a:latin typeface="Calibri"/>
                <a:ea typeface="Calibri"/>
                <a:cs typeface="Calibri"/>
                <a:sym typeface="Calibri"/>
              </a:rPr>
              <a:t>Documentation</a:t>
            </a:r>
            <a:endParaRPr/>
          </a:p>
        </p:txBody>
      </p:sp>
      <p:sp>
        <p:nvSpPr>
          <p:cNvPr id="400" name="Google Shape;400;p6"/>
          <p:cNvSpPr txBox="1"/>
          <p:nvPr/>
        </p:nvSpPr>
        <p:spPr>
          <a:xfrm>
            <a:off x="9326880" y="4480560"/>
            <a:ext cx="21945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Complete API docs, architecture</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spec, and installation guide</a:t>
            </a:r>
            <a:endParaRPr/>
          </a:p>
        </p:txBody>
      </p:sp>
      <p:sp>
        <p:nvSpPr>
          <p:cNvPr id="401" name="Google Shape;401;p6"/>
          <p:cNvSpPr/>
          <p:nvPr/>
        </p:nvSpPr>
        <p:spPr>
          <a:xfrm>
            <a:off x="6583680" y="5303520"/>
            <a:ext cx="365760" cy="36576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Quattrocento Sans"/>
                <a:ea typeface="Quattrocento Sans"/>
                <a:cs typeface="Quattrocento Sans"/>
                <a:sym typeface="Quattrocento Sans"/>
              </a:rPr>
              <a:t>5</a:t>
            </a:r>
            <a:endParaRPr/>
          </a:p>
        </p:txBody>
      </p:sp>
      <p:sp>
        <p:nvSpPr>
          <p:cNvPr id="402" name="Google Shape;402;p6"/>
          <p:cNvSpPr txBox="1"/>
          <p:nvPr/>
        </p:nvSpPr>
        <p:spPr>
          <a:xfrm>
            <a:off x="7086600" y="5303520"/>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0D1B2A"/>
                </a:solidFill>
                <a:latin typeface="Calibri"/>
                <a:ea typeface="Calibri"/>
                <a:cs typeface="Calibri"/>
                <a:sym typeface="Calibri"/>
              </a:rPr>
              <a:t>Final Quality Assurance</a:t>
            </a:r>
            <a:endParaRPr/>
          </a:p>
        </p:txBody>
      </p:sp>
      <p:sp>
        <p:nvSpPr>
          <p:cNvPr id="403" name="Google Shape;403;p6"/>
          <p:cNvSpPr txBox="1"/>
          <p:nvPr/>
        </p:nvSpPr>
        <p:spPr>
          <a:xfrm>
            <a:off x="9326880" y="5303520"/>
            <a:ext cx="21945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rgbClr val="546E7A"/>
                </a:solidFill>
                <a:latin typeface="Calibri"/>
                <a:ea typeface="Calibri"/>
                <a:cs typeface="Calibri"/>
                <a:sym typeface="Calibri"/>
              </a:rPr>
              <a:t>End-to-end validation and</a:t>
            </a:r>
            <a:br>
              <a:rPr b="0" i="0" lang="en-US" sz="900" u="none" cap="none" strike="noStrike">
                <a:solidFill>
                  <a:srgbClr val="546E7A"/>
                </a:solidFill>
                <a:latin typeface="Calibri"/>
                <a:ea typeface="Calibri"/>
                <a:cs typeface="Calibri"/>
                <a:sym typeface="Calibri"/>
              </a:rPr>
            </a:br>
            <a:r>
              <a:rPr b="0" i="0" lang="en-US" sz="900" u="none" cap="none" strike="noStrike">
                <a:solidFill>
                  <a:srgbClr val="546E7A"/>
                </a:solidFill>
                <a:latin typeface="Calibri"/>
                <a:ea typeface="Calibri"/>
                <a:cs typeface="Calibri"/>
                <a:sym typeface="Calibri"/>
              </a:rPr>
              <a:t>final submission preparation</a:t>
            </a:r>
            <a:endParaRPr/>
          </a:p>
        </p:txBody>
      </p:sp>
      <p:sp>
        <p:nvSpPr>
          <p:cNvPr id="404" name="Google Shape;404;p6"/>
          <p:cNvSpPr/>
          <p:nvPr/>
        </p:nvSpPr>
        <p:spPr>
          <a:xfrm>
            <a:off x="457200" y="5852160"/>
            <a:ext cx="5029200" cy="548640"/>
          </a:xfrm>
          <a:prstGeom prst="roundRect">
            <a:avLst>
              <a:gd fmla="val 16667" name="adj"/>
            </a:avLst>
          </a:prstGeom>
          <a:solidFill>
            <a:srgbClr val="1B4F7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6"/>
          <p:cNvSpPr txBox="1"/>
          <p:nvPr/>
        </p:nvSpPr>
        <p:spPr>
          <a:xfrm>
            <a:off x="457200" y="5897880"/>
            <a:ext cx="5029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Estimated Overall Completion:  71%</a:t>
            </a:r>
            <a:endParaRPr/>
          </a:p>
        </p:txBody>
      </p:sp>
      <p:sp>
        <p:nvSpPr>
          <p:cNvPr id="406" name="Google Shape;406;p6"/>
          <p:cNvSpPr/>
          <p:nvPr/>
        </p:nvSpPr>
        <p:spPr>
          <a:xfrm>
            <a:off x="6309360" y="5852160"/>
            <a:ext cx="5029200" cy="548640"/>
          </a:xfrm>
          <a:prstGeom prst="roundRect">
            <a:avLst>
              <a:gd fmla="val 16667" name="adj"/>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6"/>
          <p:cNvSpPr txBox="1"/>
          <p:nvPr/>
        </p:nvSpPr>
        <p:spPr>
          <a:xfrm>
            <a:off x="6309360" y="5897880"/>
            <a:ext cx="5029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Calibri"/>
                <a:ea typeface="Calibri"/>
                <a:cs typeface="Calibri"/>
                <a:sym typeface="Calibri"/>
              </a:rPr>
              <a:t>Target:  Final Internship Submission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11" name="Shape 411"/>
        <p:cNvGrpSpPr/>
        <p:nvPr/>
      </p:nvGrpSpPr>
      <p:grpSpPr>
        <a:xfrm>
          <a:off x="0" y="0"/>
          <a:ext cx="0" cy="0"/>
          <a:chOff x="0" y="0"/>
          <a:chExt cx="0" cy="0"/>
        </a:xfrm>
      </p:grpSpPr>
      <p:sp>
        <p:nvSpPr>
          <p:cNvPr id="412" name="Google Shape;412;p7"/>
          <p:cNvSpPr/>
          <p:nvPr/>
        </p:nvSpPr>
        <p:spPr>
          <a:xfrm>
            <a:off x="0" y="0"/>
            <a:ext cx="12191695" cy="73152"/>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7"/>
          <p:cNvSpPr/>
          <p:nvPr/>
        </p:nvSpPr>
        <p:spPr>
          <a:xfrm>
            <a:off x="0" y="0"/>
            <a:ext cx="54864" cy="6858000"/>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4" name="Google Shape;414;p7"/>
          <p:cNvSpPr txBox="1"/>
          <p:nvPr/>
        </p:nvSpPr>
        <p:spPr>
          <a:xfrm>
            <a:off x="731520" y="365760"/>
            <a:ext cx="100584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KEY TAKEAWAYS</a:t>
            </a:r>
            <a:endParaRPr/>
          </a:p>
        </p:txBody>
      </p:sp>
      <p:sp>
        <p:nvSpPr>
          <p:cNvPr id="415" name="Google Shape;415;p7"/>
          <p:cNvSpPr/>
          <p:nvPr/>
        </p:nvSpPr>
        <p:spPr>
          <a:xfrm>
            <a:off x="731520" y="914400"/>
            <a:ext cx="2286000" cy="25400"/>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7"/>
          <p:cNvSpPr/>
          <p:nvPr/>
        </p:nvSpPr>
        <p:spPr>
          <a:xfrm>
            <a:off x="563727" y="1097280"/>
            <a:ext cx="1691640" cy="2103120"/>
          </a:xfrm>
          <a:prstGeom prst="roundRect">
            <a:avLst>
              <a:gd fmla="val 16667" name="adj"/>
            </a:avLst>
          </a:prstGeom>
          <a:solidFill>
            <a:srgbClr val="1B2F45"/>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7"/>
          <p:cNvSpPr/>
          <p:nvPr/>
        </p:nvSpPr>
        <p:spPr>
          <a:xfrm>
            <a:off x="1180947" y="1234440"/>
            <a:ext cx="457200" cy="45720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a:t>
            </a:r>
            <a:endParaRPr/>
          </a:p>
        </p:txBody>
      </p:sp>
      <p:sp>
        <p:nvSpPr>
          <p:cNvPr id="418" name="Google Shape;418;p7"/>
          <p:cNvSpPr txBox="1"/>
          <p:nvPr/>
        </p:nvSpPr>
        <p:spPr>
          <a:xfrm>
            <a:off x="655167" y="1783080"/>
            <a:ext cx="15087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Modular</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Architecture</a:t>
            </a:r>
            <a:endParaRPr/>
          </a:p>
        </p:txBody>
      </p:sp>
      <p:sp>
        <p:nvSpPr>
          <p:cNvPr id="419" name="Google Shape;419;p7"/>
          <p:cNvSpPr txBox="1"/>
          <p:nvPr/>
        </p:nvSpPr>
        <p:spPr>
          <a:xfrm>
            <a:off x="655167" y="2286000"/>
            <a:ext cx="150876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90A4AE"/>
                </a:solidFill>
                <a:latin typeface="Calibri"/>
                <a:ea typeface="Calibri"/>
                <a:cs typeface="Calibri"/>
                <a:sym typeface="Calibri"/>
              </a:rPr>
              <a:t>Clean separation of concerns</a:t>
            </a:r>
            <a:br>
              <a:rPr b="0" i="0" lang="en-US" sz="900" u="none" cap="none" strike="noStrike">
                <a:solidFill>
                  <a:srgbClr val="90A4AE"/>
                </a:solidFill>
                <a:latin typeface="Calibri"/>
                <a:ea typeface="Calibri"/>
                <a:cs typeface="Calibri"/>
                <a:sym typeface="Calibri"/>
              </a:rPr>
            </a:br>
            <a:r>
              <a:rPr b="0" i="0" lang="en-US" sz="900" u="none" cap="none" strike="noStrike">
                <a:solidFill>
                  <a:srgbClr val="90A4AE"/>
                </a:solidFill>
                <a:latin typeface="Calibri"/>
                <a:ea typeface="Calibri"/>
                <a:cs typeface="Calibri"/>
                <a:sym typeface="Calibri"/>
              </a:rPr>
              <a:t>with stateless pipeline design</a:t>
            </a:r>
            <a:endParaRPr/>
          </a:p>
        </p:txBody>
      </p:sp>
      <p:sp>
        <p:nvSpPr>
          <p:cNvPr id="420" name="Google Shape;420;p7"/>
          <p:cNvSpPr/>
          <p:nvPr/>
        </p:nvSpPr>
        <p:spPr>
          <a:xfrm>
            <a:off x="2438247" y="1097280"/>
            <a:ext cx="1691640" cy="2103120"/>
          </a:xfrm>
          <a:prstGeom prst="roundRect">
            <a:avLst>
              <a:gd fmla="val 16667" name="adj"/>
            </a:avLst>
          </a:prstGeom>
          <a:solidFill>
            <a:srgbClr val="1B2F45"/>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7"/>
          <p:cNvSpPr/>
          <p:nvPr/>
        </p:nvSpPr>
        <p:spPr>
          <a:xfrm>
            <a:off x="3055467" y="1234440"/>
            <a:ext cx="457200" cy="45720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a:t>
            </a:r>
            <a:endParaRPr/>
          </a:p>
        </p:txBody>
      </p:sp>
      <p:sp>
        <p:nvSpPr>
          <p:cNvPr id="422" name="Google Shape;422;p7"/>
          <p:cNvSpPr txBox="1"/>
          <p:nvPr/>
        </p:nvSpPr>
        <p:spPr>
          <a:xfrm>
            <a:off x="2529687" y="1783080"/>
            <a:ext cx="15087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Configurable</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Assessment Engine</a:t>
            </a:r>
            <a:endParaRPr/>
          </a:p>
        </p:txBody>
      </p:sp>
      <p:sp>
        <p:nvSpPr>
          <p:cNvPr id="423" name="Google Shape;423;p7"/>
          <p:cNvSpPr txBox="1"/>
          <p:nvPr/>
        </p:nvSpPr>
        <p:spPr>
          <a:xfrm>
            <a:off x="2529687" y="2286000"/>
            <a:ext cx="150876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90A4AE"/>
                </a:solidFill>
                <a:latin typeface="Calibri"/>
                <a:ea typeface="Calibri"/>
                <a:cs typeface="Calibri"/>
                <a:sym typeface="Calibri"/>
              </a:rPr>
              <a:t>JSON-driven scenarios, rubrics,</a:t>
            </a:r>
            <a:br>
              <a:rPr b="0" i="0" lang="en-US" sz="900" u="none" cap="none" strike="noStrike">
                <a:solidFill>
                  <a:srgbClr val="90A4AE"/>
                </a:solidFill>
                <a:latin typeface="Calibri"/>
                <a:ea typeface="Calibri"/>
                <a:cs typeface="Calibri"/>
                <a:sym typeface="Calibri"/>
              </a:rPr>
            </a:br>
            <a:r>
              <a:rPr b="0" i="0" lang="en-US" sz="900" u="none" cap="none" strike="noStrike">
                <a:solidFill>
                  <a:srgbClr val="90A4AE"/>
                </a:solidFill>
                <a:latin typeface="Calibri"/>
                <a:ea typeface="Calibri"/>
                <a:cs typeface="Calibri"/>
                <a:sym typeface="Calibri"/>
              </a:rPr>
              <a:t>and scoring rules</a:t>
            </a:r>
            <a:endParaRPr/>
          </a:p>
        </p:txBody>
      </p:sp>
      <p:sp>
        <p:nvSpPr>
          <p:cNvPr id="424" name="Google Shape;424;p7"/>
          <p:cNvSpPr/>
          <p:nvPr/>
        </p:nvSpPr>
        <p:spPr>
          <a:xfrm>
            <a:off x="4312767" y="1097280"/>
            <a:ext cx="1691640" cy="2103120"/>
          </a:xfrm>
          <a:prstGeom prst="roundRect">
            <a:avLst>
              <a:gd fmla="val 16667" name="adj"/>
            </a:avLst>
          </a:prstGeom>
          <a:solidFill>
            <a:srgbClr val="1B2F45"/>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7"/>
          <p:cNvSpPr/>
          <p:nvPr/>
        </p:nvSpPr>
        <p:spPr>
          <a:xfrm>
            <a:off x="4929987" y="1234440"/>
            <a:ext cx="457200" cy="45720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a:t>
            </a:r>
            <a:endParaRPr/>
          </a:p>
        </p:txBody>
      </p:sp>
      <p:sp>
        <p:nvSpPr>
          <p:cNvPr id="426" name="Google Shape;426;p7"/>
          <p:cNvSpPr txBox="1"/>
          <p:nvPr/>
        </p:nvSpPr>
        <p:spPr>
          <a:xfrm>
            <a:off x="4404207" y="1783080"/>
            <a:ext cx="15087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Complete</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REST API</a:t>
            </a:r>
            <a:endParaRPr/>
          </a:p>
        </p:txBody>
      </p:sp>
      <p:sp>
        <p:nvSpPr>
          <p:cNvPr id="427" name="Google Shape;427;p7"/>
          <p:cNvSpPr txBox="1"/>
          <p:nvPr/>
        </p:nvSpPr>
        <p:spPr>
          <a:xfrm>
            <a:off x="4404207" y="2286000"/>
            <a:ext cx="150876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90A4AE"/>
                </a:solidFill>
                <a:latin typeface="Calibri"/>
                <a:ea typeface="Calibri"/>
                <a:cs typeface="Calibri"/>
                <a:sym typeface="Calibri"/>
              </a:rPr>
              <a:t>6 fully functional endpoints</a:t>
            </a:r>
            <a:br>
              <a:rPr b="0" i="0" lang="en-US" sz="900" u="none" cap="none" strike="noStrike">
                <a:solidFill>
                  <a:srgbClr val="90A4AE"/>
                </a:solidFill>
                <a:latin typeface="Calibri"/>
                <a:ea typeface="Calibri"/>
                <a:cs typeface="Calibri"/>
                <a:sym typeface="Calibri"/>
              </a:rPr>
            </a:br>
            <a:r>
              <a:rPr b="0" i="0" lang="en-US" sz="900" u="none" cap="none" strike="noStrike">
                <a:solidFill>
                  <a:srgbClr val="90A4AE"/>
                </a:solidFill>
                <a:latin typeface="Calibri"/>
                <a:ea typeface="Calibri"/>
                <a:cs typeface="Calibri"/>
                <a:sym typeface="Calibri"/>
              </a:rPr>
              <a:t>with Pydantic validation</a:t>
            </a:r>
            <a:endParaRPr/>
          </a:p>
        </p:txBody>
      </p:sp>
      <p:sp>
        <p:nvSpPr>
          <p:cNvPr id="428" name="Google Shape;428;p7"/>
          <p:cNvSpPr/>
          <p:nvPr/>
        </p:nvSpPr>
        <p:spPr>
          <a:xfrm>
            <a:off x="6187287" y="1097280"/>
            <a:ext cx="1691640" cy="2103120"/>
          </a:xfrm>
          <a:prstGeom prst="roundRect">
            <a:avLst>
              <a:gd fmla="val 16667" name="adj"/>
            </a:avLst>
          </a:prstGeom>
          <a:solidFill>
            <a:srgbClr val="1B2F45"/>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9" name="Google Shape;429;p7"/>
          <p:cNvSpPr/>
          <p:nvPr/>
        </p:nvSpPr>
        <p:spPr>
          <a:xfrm>
            <a:off x="6804507" y="1234440"/>
            <a:ext cx="457200" cy="45720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a:t>
            </a:r>
            <a:endParaRPr/>
          </a:p>
        </p:txBody>
      </p:sp>
      <p:sp>
        <p:nvSpPr>
          <p:cNvPr id="430" name="Google Shape;430;p7"/>
          <p:cNvSpPr txBox="1"/>
          <p:nvPr/>
        </p:nvSpPr>
        <p:spPr>
          <a:xfrm>
            <a:off x="6278727" y="1783080"/>
            <a:ext cx="15087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Rubric-Based</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Scoring</a:t>
            </a:r>
            <a:endParaRPr/>
          </a:p>
        </p:txBody>
      </p:sp>
      <p:sp>
        <p:nvSpPr>
          <p:cNvPr id="431" name="Google Shape;431;p7"/>
          <p:cNvSpPr txBox="1"/>
          <p:nvPr/>
        </p:nvSpPr>
        <p:spPr>
          <a:xfrm>
            <a:off x="6278727" y="2286000"/>
            <a:ext cx="150876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90A4AE"/>
                </a:solidFill>
                <a:latin typeface="Calibri"/>
                <a:ea typeface="Calibri"/>
                <a:cs typeface="Calibri"/>
                <a:sym typeface="Calibri"/>
              </a:rPr>
              <a:t>Weighted scoring with</a:t>
            </a:r>
            <a:br>
              <a:rPr b="0" i="0" lang="en-US" sz="900" u="none" cap="none" strike="noStrike">
                <a:solidFill>
                  <a:srgbClr val="90A4AE"/>
                </a:solidFill>
                <a:latin typeface="Calibri"/>
                <a:ea typeface="Calibri"/>
                <a:cs typeface="Calibri"/>
                <a:sym typeface="Calibri"/>
              </a:rPr>
            </a:br>
            <a:r>
              <a:rPr b="0" i="0" lang="en-US" sz="900" u="none" cap="none" strike="noStrike">
                <a:solidFill>
                  <a:srgbClr val="90A4AE"/>
                </a:solidFill>
                <a:latin typeface="Calibri"/>
                <a:ea typeface="Calibri"/>
                <a:cs typeface="Calibri"/>
                <a:sym typeface="Calibri"/>
              </a:rPr>
              <a:t>penalties and partial credits</a:t>
            </a:r>
            <a:endParaRPr/>
          </a:p>
        </p:txBody>
      </p:sp>
      <p:sp>
        <p:nvSpPr>
          <p:cNvPr id="432" name="Google Shape;432;p7"/>
          <p:cNvSpPr/>
          <p:nvPr/>
        </p:nvSpPr>
        <p:spPr>
          <a:xfrm>
            <a:off x="8061807" y="1097280"/>
            <a:ext cx="1691640" cy="2103120"/>
          </a:xfrm>
          <a:prstGeom prst="roundRect">
            <a:avLst>
              <a:gd fmla="val 16667" name="adj"/>
            </a:avLst>
          </a:prstGeom>
          <a:solidFill>
            <a:srgbClr val="1B2F45"/>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7"/>
          <p:cNvSpPr/>
          <p:nvPr/>
        </p:nvSpPr>
        <p:spPr>
          <a:xfrm>
            <a:off x="8679027" y="1234440"/>
            <a:ext cx="457200" cy="45720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a:t>
            </a:r>
            <a:endParaRPr/>
          </a:p>
        </p:txBody>
      </p:sp>
      <p:sp>
        <p:nvSpPr>
          <p:cNvPr id="434" name="Google Shape;434;p7"/>
          <p:cNvSpPr txBox="1"/>
          <p:nvPr/>
        </p:nvSpPr>
        <p:spPr>
          <a:xfrm>
            <a:off x="8153247" y="1783080"/>
            <a:ext cx="15087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Analytics</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Pipeline</a:t>
            </a:r>
            <a:endParaRPr/>
          </a:p>
        </p:txBody>
      </p:sp>
      <p:sp>
        <p:nvSpPr>
          <p:cNvPr id="435" name="Google Shape;435;p7"/>
          <p:cNvSpPr txBox="1"/>
          <p:nvPr/>
        </p:nvSpPr>
        <p:spPr>
          <a:xfrm>
            <a:off x="8153247" y="2286000"/>
            <a:ext cx="150876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90A4AE"/>
                </a:solidFill>
                <a:latin typeface="Calibri"/>
                <a:ea typeface="Calibri"/>
                <a:cs typeface="Calibri"/>
                <a:sym typeface="Calibri"/>
              </a:rPr>
              <a:t>Real-time cohort metrics</a:t>
            </a:r>
            <a:br>
              <a:rPr b="0" i="0" lang="en-US" sz="900" u="none" cap="none" strike="noStrike">
                <a:solidFill>
                  <a:srgbClr val="90A4AE"/>
                </a:solidFill>
                <a:latin typeface="Calibri"/>
                <a:ea typeface="Calibri"/>
                <a:cs typeface="Calibri"/>
                <a:sym typeface="Calibri"/>
              </a:rPr>
            </a:br>
            <a:r>
              <a:rPr b="0" i="0" lang="en-US" sz="900" u="none" cap="none" strike="noStrike">
                <a:solidFill>
                  <a:srgbClr val="90A4AE"/>
                </a:solidFill>
                <a:latin typeface="Calibri"/>
                <a:ea typeface="Calibri"/>
                <a:cs typeface="Calibri"/>
                <a:sym typeface="Calibri"/>
              </a:rPr>
              <a:t>and distribution analysis</a:t>
            </a:r>
            <a:endParaRPr/>
          </a:p>
        </p:txBody>
      </p:sp>
      <p:sp>
        <p:nvSpPr>
          <p:cNvPr id="436" name="Google Shape;436;p7"/>
          <p:cNvSpPr/>
          <p:nvPr/>
        </p:nvSpPr>
        <p:spPr>
          <a:xfrm>
            <a:off x="9936327" y="1097280"/>
            <a:ext cx="1691640" cy="2103120"/>
          </a:xfrm>
          <a:prstGeom prst="roundRect">
            <a:avLst>
              <a:gd fmla="val 16667" name="adj"/>
            </a:avLst>
          </a:prstGeom>
          <a:solidFill>
            <a:srgbClr val="1B2F45"/>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7"/>
          <p:cNvSpPr/>
          <p:nvPr/>
        </p:nvSpPr>
        <p:spPr>
          <a:xfrm>
            <a:off x="10553547" y="1234440"/>
            <a:ext cx="457200" cy="457200"/>
          </a:xfrm>
          <a:prstGeom prst="ellipse">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rgbClr val="FFFFFF"/>
                </a:solidFill>
                <a:latin typeface="Quattrocento Sans"/>
                <a:ea typeface="Quattrocento Sans"/>
                <a:cs typeface="Quattrocento Sans"/>
                <a:sym typeface="Quattrocento Sans"/>
              </a:rPr>
              <a:t>📦</a:t>
            </a:r>
            <a:endParaRPr/>
          </a:p>
        </p:txBody>
      </p:sp>
      <p:sp>
        <p:nvSpPr>
          <p:cNvPr id="438" name="Google Shape;438;p7"/>
          <p:cNvSpPr txBox="1"/>
          <p:nvPr/>
        </p:nvSpPr>
        <p:spPr>
          <a:xfrm>
            <a:off x="10027767" y="1783080"/>
            <a:ext cx="150876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Export</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System</a:t>
            </a:r>
            <a:endParaRPr/>
          </a:p>
        </p:txBody>
      </p:sp>
      <p:sp>
        <p:nvSpPr>
          <p:cNvPr id="439" name="Google Shape;439;p7"/>
          <p:cNvSpPr txBox="1"/>
          <p:nvPr/>
        </p:nvSpPr>
        <p:spPr>
          <a:xfrm>
            <a:off x="10027767" y="2286000"/>
            <a:ext cx="1508760" cy="7315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90A4AE"/>
                </a:solidFill>
                <a:latin typeface="Calibri"/>
                <a:ea typeface="Calibri"/>
                <a:cs typeface="Calibri"/>
                <a:sym typeface="Calibri"/>
              </a:rPr>
              <a:t>SDK-compliant versioned</a:t>
            </a:r>
            <a:br>
              <a:rPr b="0" i="0" lang="en-US" sz="900" u="none" cap="none" strike="noStrike">
                <a:solidFill>
                  <a:srgbClr val="90A4AE"/>
                </a:solidFill>
                <a:latin typeface="Calibri"/>
                <a:ea typeface="Calibri"/>
                <a:cs typeface="Calibri"/>
                <a:sym typeface="Calibri"/>
              </a:rPr>
            </a:br>
            <a:r>
              <a:rPr b="0" i="0" lang="en-US" sz="900" u="none" cap="none" strike="noStrike">
                <a:solidFill>
                  <a:srgbClr val="90A4AE"/>
                </a:solidFill>
                <a:latin typeface="Calibri"/>
                <a:ea typeface="Calibri"/>
                <a:cs typeface="Calibri"/>
                <a:sym typeface="Calibri"/>
              </a:rPr>
              <a:t>JSON envelope packages</a:t>
            </a:r>
            <a:endParaRPr/>
          </a:p>
        </p:txBody>
      </p:sp>
      <p:sp>
        <p:nvSpPr>
          <p:cNvPr id="440" name="Google Shape;440;p7"/>
          <p:cNvSpPr/>
          <p:nvPr/>
        </p:nvSpPr>
        <p:spPr>
          <a:xfrm>
            <a:off x="731520" y="3383280"/>
            <a:ext cx="10698480" cy="914400"/>
          </a:xfrm>
          <a:prstGeom prst="roundRect">
            <a:avLst>
              <a:gd fmla="val 16667" name="adj"/>
            </a:avLst>
          </a:prstGeom>
          <a:solidFill>
            <a:srgbClr val="14263A"/>
          </a:solidFill>
          <a:ln cap="flat" cmpd="sng" w="1270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7"/>
          <p:cNvSpPr txBox="1"/>
          <p:nvPr/>
        </p:nvSpPr>
        <p:spPr>
          <a:xfrm>
            <a:off x="914400" y="3456432"/>
            <a:ext cx="18288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2196F3"/>
                </a:solidFill>
                <a:latin typeface="Calibri"/>
                <a:ea typeface="Calibri"/>
                <a:cs typeface="Calibri"/>
                <a:sym typeface="Calibri"/>
              </a:rPr>
              <a:t>EXPECTED IMPACT</a:t>
            </a:r>
            <a:endParaRPr/>
          </a:p>
        </p:txBody>
      </p:sp>
      <p:sp>
        <p:nvSpPr>
          <p:cNvPr id="442" name="Google Shape;442;p7"/>
          <p:cNvSpPr/>
          <p:nvPr/>
        </p:nvSpPr>
        <p:spPr>
          <a:xfrm>
            <a:off x="914400" y="3794760"/>
            <a:ext cx="320040" cy="320040"/>
          </a:xfrm>
          <a:prstGeom prst="ellipse">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a:t>
            </a:r>
            <a:endParaRPr/>
          </a:p>
        </p:txBody>
      </p:sp>
      <p:sp>
        <p:nvSpPr>
          <p:cNvPr id="443" name="Google Shape;443;p7"/>
          <p:cNvSpPr txBox="1"/>
          <p:nvPr/>
        </p:nvSpPr>
        <p:spPr>
          <a:xfrm>
            <a:off x="1298448" y="3822192"/>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BBDEFB"/>
                </a:solidFill>
                <a:latin typeface="Calibri"/>
                <a:ea typeface="Calibri"/>
                <a:cs typeface="Calibri"/>
                <a:sym typeface="Calibri"/>
              </a:rPr>
              <a:t>Standardized cognitive assessment</a:t>
            </a:r>
            <a:endParaRPr/>
          </a:p>
        </p:txBody>
      </p:sp>
      <p:sp>
        <p:nvSpPr>
          <p:cNvPr id="444" name="Google Shape;444;p7"/>
          <p:cNvSpPr/>
          <p:nvPr/>
        </p:nvSpPr>
        <p:spPr>
          <a:xfrm>
            <a:off x="3840480" y="3794760"/>
            <a:ext cx="320040" cy="320040"/>
          </a:xfrm>
          <a:prstGeom prst="ellipse">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a:t>
            </a:r>
            <a:endParaRPr/>
          </a:p>
        </p:txBody>
      </p:sp>
      <p:sp>
        <p:nvSpPr>
          <p:cNvPr id="445" name="Google Shape;445;p7"/>
          <p:cNvSpPr txBox="1"/>
          <p:nvPr/>
        </p:nvSpPr>
        <p:spPr>
          <a:xfrm>
            <a:off x="4224528" y="3822192"/>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BBDEFB"/>
                </a:solidFill>
                <a:latin typeface="Calibri"/>
                <a:ea typeface="Calibri"/>
                <a:cs typeface="Calibri"/>
                <a:sym typeface="Calibri"/>
              </a:rPr>
              <a:t>Faster evaluation process</a:t>
            </a:r>
            <a:endParaRPr/>
          </a:p>
        </p:txBody>
      </p:sp>
      <p:sp>
        <p:nvSpPr>
          <p:cNvPr id="446" name="Google Shape;446;p7"/>
          <p:cNvSpPr/>
          <p:nvPr/>
        </p:nvSpPr>
        <p:spPr>
          <a:xfrm>
            <a:off x="6217920" y="3794760"/>
            <a:ext cx="320040" cy="320040"/>
          </a:xfrm>
          <a:prstGeom prst="ellipse">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a:t>
            </a:r>
            <a:endParaRPr/>
          </a:p>
        </p:txBody>
      </p:sp>
      <p:sp>
        <p:nvSpPr>
          <p:cNvPr id="447" name="Google Shape;447;p7"/>
          <p:cNvSpPr txBox="1"/>
          <p:nvPr/>
        </p:nvSpPr>
        <p:spPr>
          <a:xfrm>
            <a:off x="6601968" y="3822192"/>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BBDEFB"/>
                </a:solidFill>
                <a:latin typeface="Calibri"/>
                <a:ea typeface="Calibri"/>
                <a:cs typeface="Calibri"/>
                <a:sym typeface="Calibri"/>
              </a:rPr>
              <a:t>Configurable assessment engine</a:t>
            </a:r>
            <a:endParaRPr/>
          </a:p>
        </p:txBody>
      </p:sp>
      <p:sp>
        <p:nvSpPr>
          <p:cNvPr id="448" name="Google Shape;448;p7"/>
          <p:cNvSpPr/>
          <p:nvPr/>
        </p:nvSpPr>
        <p:spPr>
          <a:xfrm>
            <a:off x="8686800" y="3794760"/>
            <a:ext cx="320040" cy="320040"/>
          </a:xfrm>
          <a:prstGeom prst="ellipse">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a:t>
            </a:r>
            <a:endParaRPr/>
          </a:p>
        </p:txBody>
      </p:sp>
      <p:sp>
        <p:nvSpPr>
          <p:cNvPr id="449" name="Google Shape;449;p7"/>
          <p:cNvSpPr txBox="1"/>
          <p:nvPr/>
        </p:nvSpPr>
        <p:spPr>
          <a:xfrm>
            <a:off x="9070848" y="3822192"/>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BBDEFB"/>
                </a:solidFill>
                <a:latin typeface="Calibri"/>
                <a:ea typeface="Calibri"/>
                <a:cs typeface="Calibri"/>
                <a:sym typeface="Calibri"/>
              </a:rPr>
              <a:t>Actionable analytics for educators</a:t>
            </a:r>
            <a:endParaRPr/>
          </a:p>
        </p:txBody>
      </p:sp>
      <p:sp>
        <p:nvSpPr>
          <p:cNvPr id="450" name="Google Shape;450;p7"/>
          <p:cNvSpPr/>
          <p:nvPr/>
        </p:nvSpPr>
        <p:spPr>
          <a:xfrm>
            <a:off x="731520" y="4572000"/>
            <a:ext cx="10698480" cy="1097280"/>
          </a:xfrm>
          <a:prstGeom prst="roundRect">
            <a:avLst>
              <a:gd fmla="val 16667" name="adj"/>
            </a:avLst>
          </a:prstGeom>
          <a:solidFill>
            <a:srgbClr val="14263A"/>
          </a:solidFill>
          <a:ln cap="flat" cmpd="sng" w="19050">
            <a:solidFill>
              <a:srgbClr val="2196F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7"/>
          <p:cNvSpPr txBox="1"/>
          <p:nvPr/>
        </p:nvSpPr>
        <p:spPr>
          <a:xfrm>
            <a:off x="914400" y="4645152"/>
            <a:ext cx="1033272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2196F3"/>
                </a:solidFill>
                <a:latin typeface="Calibri"/>
                <a:ea typeface="Calibri"/>
                <a:cs typeface="Calibri"/>
                <a:sym typeface="Calibri"/>
              </a:rPr>
              <a:t>CLOSING STATEMENT</a:t>
            </a:r>
            <a:endParaRPr/>
          </a:p>
        </p:txBody>
      </p:sp>
      <p:sp>
        <p:nvSpPr>
          <p:cNvPr id="452" name="Google Shape;452;p7"/>
          <p:cNvSpPr txBox="1"/>
          <p:nvPr/>
        </p:nvSpPr>
        <p:spPr>
          <a:xfrm>
            <a:off x="1188720" y="4937760"/>
            <a:ext cx="978408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300" u="none" cap="none" strike="noStrike">
                <a:solidFill>
                  <a:srgbClr val="BBDEFB"/>
                </a:solidFill>
                <a:latin typeface="Calibri"/>
                <a:ea typeface="Calibri"/>
                <a:cs typeface="Calibri"/>
                <a:sym typeface="Calibri"/>
              </a:rPr>
              <a:t>"The project has successfully completed its core architecture and backend implementation. The current focus is on refining datasets, completing frontend integration, testing, documentation, and final quality assurance before the final internship submission."</a:t>
            </a:r>
            <a:endParaRPr/>
          </a:p>
        </p:txBody>
      </p:sp>
      <p:sp>
        <p:nvSpPr>
          <p:cNvPr id="453" name="Google Shape;453;p7"/>
          <p:cNvSpPr txBox="1"/>
          <p:nvPr/>
        </p:nvSpPr>
        <p:spPr>
          <a:xfrm>
            <a:off x="914400" y="5806440"/>
            <a:ext cx="1033272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3000" u="none" cap="none" strike="noStrike">
                <a:solidFill>
                  <a:srgbClr val="FFFFFF"/>
                </a:solidFill>
                <a:latin typeface="Calibri"/>
                <a:ea typeface="Calibri"/>
                <a:cs typeface="Calibri"/>
                <a:sym typeface="Calibri"/>
              </a:rPr>
              <a:t>Thank You</a:t>
            </a:r>
            <a:endParaRPr/>
          </a:p>
        </p:txBody>
      </p:sp>
      <p:sp>
        <p:nvSpPr>
          <p:cNvPr id="454" name="Google Shape;454;p7"/>
          <p:cNvSpPr/>
          <p:nvPr/>
        </p:nvSpPr>
        <p:spPr>
          <a:xfrm>
            <a:off x="0" y="6784848"/>
            <a:ext cx="12191695" cy="73152"/>
          </a:xfrm>
          <a:prstGeom prst="rect">
            <a:avLst/>
          </a:prstGeom>
          <a:solidFill>
            <a:srgbClr val="2196F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7"/>
          <p:cNvSpPr txBox="1"/>
          <p:nvPr/>
        </p:nvSpPr>
        <p:spPr>
          <a:xfrm>
            <a:off x="3200400" y="6309360"/>
            <a:ext cx="5943600" cy="274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000" u="none" cap="none" strike="noStrike">
                <a:solidFill>
                  <a:srgbClr val="90A4AE"/>
                </a:solidFill>
                <a:latin typeface="Calibri"/>
                <a:ea typeface="Calibri"/>
                <a:cs typeface="Calibri"/>
                <a:sym typeface="Calibri"/>
              </a:rPr>
              <a:t>Aditya  |  July 07, 2026  |  MentiScope v1.0.0 - Progress Review</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A5C52D9522D749C8B22D4220A22C6217_12</vt:lpwstr>
  </property>
</Properties>
</file>