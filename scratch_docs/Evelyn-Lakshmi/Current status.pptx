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y="10287000" cx="18288000"/>
  <p:notesSz cx="6858000" cy="9144000"/>
  <p:embeddedFontLst>
    <p:embeddedFont>
      <p:font typeface="Core Bandi Face" panose="020B0604020202020204" charset="-127"/>
      <p:regular r:id="rId19"/>
    </p:embeddedFont>
    <p:embeddedFont>
      <p:font typeface="Gochi Hand" panose="020B0604020202020204" charset="0"/>
      <p:regular r:id="rId20"/>
    </p:embeddedFont>
    <p:embeddedFont>
      <p:font typeface="Handyman" panose="020B060402020202020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604020202020204" charset="0"/>
      <p:regular r:id="rId23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72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tableStyles" Target="tableStyle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5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5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9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3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4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0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0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4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1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7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7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7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hyperlink" Target="https://crisis-dispatcher.vercel.app/" TargetMode="External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>
            <a:off x="3877030" y="1749366"/>
            <a:ext cx="10121643" cy="3040634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11971"/>
              </a:lnSpc>
            </a:pPr>
            <a:r>
              <a:rPr sz="12872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CRISIS DISPATCHER</a:t>
            </a:r>
          </a:p>
        </p:txBody>
      </p:sp>
      <p:sp>
        <p:nvSpPr>
          <p:cNvPr id="1048585" name="Freeform 3"/>
          <p:cNvSpPr/>
          <p:nvPr/>
        </p:nvSpPr>
        <p:spPr>
          <a:xfrm>
            <a:off x="13004615" y="4887763"/>
            <a:ext cx="4380561" cy="4729350"/>
          </a:xfrm>
          <a:custGeom>
            <a:avLst/>
            <a:ahLst/>
            <a:rect l="l" t="t" r="r" b="b"/>
            <a:pathLst>
              <a:path w="4380561" h="4729350">
                <a:moveTo>
                  <a:pt x="0" y="0"/>
                </a:moveTo>
                <a:lnTo>
                  <a:pt x="4380560" y="0"/>
                </a:lnTo>
                <a:lnTo>
                  <a:pt x="4380560" y="4729350"/>
                </a:lnTo>
                <a:lnTo>
                  <a:pt x="0" y="472935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  <p:txBody>
          <a:bodyPr/>
          <a:p>
            <a:endParaRPr dirty="0" lang="en-US"/>
          </a:p>
        </p:txBody>
      </p:sp>
      <p:sp>
        <p:nvSpPr>
          <p:cNvPr id="1048586" name="Freeform 4"/>
          <p:cNvSpPr/>
          <p:nvPr/>
        </p:nvSpPr>
        <p:spPr>
          <a:xfrm flipH="1">
            <a:off x="902824" y="813691"/>
            <a:ext cx="3564813" cy="4074072"/>
          </a:xfrm>
          <a:custGeom>
            <a:avLst/>
            <a:ahLst/>
            <a:rect l="l" t="t" r="r" b="b"/>
            <a:pathLst>
              <a:path w="3564813" h="4074072">
                <a:moveTo>
                  <a:pt x="3564814" y="0"/>
                </a:moveTo>
                <a:lnTo>
                  <a:pt x="0" y="0"/>
                </a:lnTo>
                <a:lnTo>
                  <a:pt x="0" y="4074072"/>
                </a:lnTo>
                <a:lnTo>
                  <a:pt x="3564814" y="4074072"/>
                </a:lnTo>
                <a:lnTo>
                  <a:pt x="3564814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587" name="TextBox 5"/>
          <p:cNvSpPr txBox="1"/>
          <p:nvPr/>
        </p:nvSpPr>
        <p:spPr>
          <a:xfrm>
            <a:off x="3500222" y="5684277"/>
            <a:ext cx="9856893" cy="1056387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4159"/>
              </a:lnSpc>
            </a:pPr>
            <a:r>
              <a:rPr sz="4287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 Serious Game-Based Platform for Emotional Regulation Assessment</a:t>
            </a:r>
          </a:p>
        </p:txBody>
      </p:sp>
      <p:sp>
        <p:nvSpPr>
          <p:cNvPr id="1048588" name="TextBox 6"/>
          <p:cNvSpPr txBox="1"/>
          <p:nvPr/>
        </p:nvSpPr>
        <p:spPr>
          <a:xfrm>
            <a:off x="5344527" y="7906693"/>
            <a:ext cx="6168283" cy="1321817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602"/>
              </a:lnSpc>
            </a:pPr>
            <a:r>
              <a:rPr sz="2683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Presented by</a:t>
            </a:r>
          </a:p>
          <a:p>
            <a:pPr algn="ctr">
              <a:lnSpc>
                <a:spcPts val="2602"/>
              </a:lnSpc>
            </a:pPr>
            <a:r>
              <a:rPr sz="2683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Evlin Sara Johny</a:t>
            </a:r>
          </a:p>
          <a:p>
            <a:pPr algn="ctr">
              <a:lnSpc>
                <a:spcPts val="2602"/>
              </a:lnSpc>
            </a:pPr>
            <a:r>
              <a:rPr sz="2683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Lakshmi Pramode</a:t>
            </a:r>
          </a:p>
          <a:p>
            <a:pPr algn="ctr" indent="0" lvl="1" marL="0">
              <a:lnSpc>
                <a:spcPts val="2602"/>
              </a:lnSpc>
            </a:pPr>
            <a:endParaRPr sz="2683" lang="en-US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2"/>
          <p:cNvGrpSpPr/>
          <p:nvPr/>
        </p:nvGrpSpPr>
        <p:grpSpPr>
          <a:xfrm>
            <a:off x="4257516" y="2858817"/>
            <a:ext cx="10082685" cy="591651"/>
            <a:chOff x="0" y="0"/>
            <a:chExt cx="3076762" cy="180544"/>
          </a:xfrm>
        </p:grpSpPr>
        <p:sp>
          <p:nvSpPr>
            <p:cNvPr id="1048589" name="Freeform 3"/>
            <p:cNvSpPr/>
            <p:nvPr/>
          </p:nvSpPr>
          <p:spPr>
            <a:xfrm>
              <a:off x="0" y="0"/>
              <a:ext cx="3076762" cy="180544"/>
            </a:xfrm>
            <a:custGeom>
              <a:avLst/>
              <a:ahLst/>
              <a:rect l="l" t="t" r="r" b="b"/>
              <a:pathLst>
                <a:path w="3076762" h="180544">
                  <a:moveTo>
                    <a:pt x="36089" y="0"/>
                  </a:moveTo>
                  <a:lnTo>
                    <a:pt x="3040673" y="0"/>
                  </a:lnTo>
                  <a:cubicBezTo>
                    <a:pt x="3050244" y="0"/>
                    <a:pt x="3059424" y="3802"/>
                    <a:pt x="3066192" y="10570"/>
                  </a:cubicBezTo>
                  <a:cubicBezTo>
                    <a:pt x="3072960" y="17338"/>
                    <a:pt x="3076762" y="26517"/>
                    <a:pt x="3076762" y="36089"/>
                  </a:cubicBezTo>
                  <a:lnTo>
                    <a:pt x="3076762" y="144455"/>
                  </a:lnTo>
                  <a:cubicBezTo>
                    <a:pt x="3076762" y="154027"/>
                    <a:pt x="3072960" y="163206"/>
                    <a:pt x="3066192" y="169974"/>
                  </a:cubicBezTo>
                  <a:cubicBezTo>
                    <a:pt x="3059424" y="176742"/>
                    <a:pt x="3050244" y="180544"/>
                    <a:pt x="3040673" y="180544"/>
                  </a:cubicBezTo>
                  <a:lnTo>
                    <a:pt x="36089" y="180544"/>
                  </a:lnTo>
                  <a:cubicBezTo>
                    <a:pt x="26517" y="180544"/>
                    <a:pt x="17338" y="176742"/>
                    <a:pt x="10570" y="169974"/>
                  </a:cubicBezTo>
                  <a:cubicBezTo>
                    <a:pt x="3802" y="163206"/>
                    <a:pt x="0" y="154027"/>
                    <a:pt x="0" y="144455"/>
                  </a:cubicBezTo>
                  <a:lnTo>
                    <a:pt x="0" y="36089"/>
                  </a:lnTo>
                  <a:cubicBezTo>
                    <a:pt x="0" y="26517"/>
                    <a:pt x="3802" y="17338"/>
                    <a:pt x="10570" y="10570"/>
                  </a:cubicBezTo>
                  <a:cubicBezTo>
                    <a:pt x="17338" y="3802"/>
                    <a:pt x="26517" y="0"/>
                    <a:pt x="36089" y="0"/>
                  </a:cubicBezTo>
                  <a:close/>
                </a:path>
              </a:pathLst>
            </a:custGeom>
            <a:solidFill>
              <a:srgbClr val="F4C8D4"/>
            </a:solidFill>
          </p:spPr>
        </p:sp>
        <p:sp>
          <p:nvSpPr>
            <p:cNvPr id="1048590" name="TextBox 4"/>
            <p:cNvSpPr txBox="1"/>
            <p:nvPr/>
          </p:nvSpPr>
          <p:spPr>
            <a:xfrm>
              <a:off x="0" y="-28575"/>
              <a:ext cx="3076762" cy="209119"/>
            </a:xfrm>
            <a:prstGeom prst="rect"/>
          </p:spPr>
          <p:txBody>
            <a:bodyPr anchor="ctr" bIns="46907" lIns="46907" rIns="46907" rtlCol="0" tIns="46907"/>
            <a:p>
              <a:pPr algn="ctr">
                <a:lnSpc>
                  <a:spcPts val="24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3" name="Group 5"/>
          <p:cNvGrpSpPr/>
          <p:nvPr/>
        </p:nvGrpSpPr>
        <p:grpSpPr>
          <a:xfrm>
            <a:off x="4257516" y="3993914"/>
            <a:ext cx="10082685" cy="564416"/>
            <a:chOff x="0" y="0"/>
            <a:chExt cx="3076762" cy="172233"/>
          </a:xfrm>
        </p:grpSpPr>
        <p:sp>
          <p:nvSpPr>
            <p:cNvPr id="1048591" name="Freeform 6"/>
            <p:cNvSpPr/>
            <p:nvPr/>
          </p:nvSpPr>
          <p:spPr>
            <a:xfrm>
              <a:off x="0" y="0"/>
              <a:ext cx="3076762" cy="172233"/>
            </a:xfrm>
            <a:custGeom>
              <a:avLst/>
              <a:ahLst/>
              <a:rect l="l" t="t" r="r" b="b"/>
              <a:pathLst>
                <a:path w="3076762" h="172233">
                  <a:moveTo>
                    <a:pt x="36089" y="0"/>
                  </a:moveTo>
                  <a:lnTo>
                    <a:pt x="3040673" y="0"/>
                  </a:lnTo>
                  <a:cubicBezTo>
                    <a:pt x="3050244" y="0"/>
                    <a:pt x="3059424" y="3802"/>
                    <a:pt x="3066192" y="10570"/>
                  </a:cubicBezTo>
                  <a:cubicBezTo>
                    <a:pt x="3072960" y="17338"/>
                    <a:pt x="3076762" y="26517"/>
                    <a:pt x="3076762" y="36089"/>
                  </a:cubicBezTo>
                  <a:lnTo>
                    <a:pt x="3076762" y="136144"/>
                  </a:lnTo>
                  <a:cubicBezTo>
                    <a:pt x="3076762" y="145716"/>
                    <a:pt x="3072960" y="154895"/>
                    <a:pt x="3066192" y="161663"/>
                  </a:cubicBezTo>
                  <a:cubicBezTo>
                    <a:pt x="3059424" y="168431"/>
                    <a:pt x="3050244" y="172233"/>
                    <a:pt x="3040673" y="172233"/>
                  </a:cubicBezTo>
                  <a:lnTo>
                    <a:pt x="36089" y="172233"/>
                  </a:lnTo>
                  <a:cubicBezTo>
                    <a:pt x="26517" y="172233"/>
                    <a:pt x="17338" y="168431"/>
                    <a:pt x="10570" y="161663"/>
                  </a:cubicBezTo>
                  <a:cubicBezTo>
                    <a:pt x="3802" y="154895"/>
                    <a:pt x="0" y="145716"/>
                    <a:pt x="0" y="136144"/>
                  </a:cubicBezTo>
                  <a:lnTo>
                    <a:pt x="0" y="36089"/>
                  </a:lnTo>
                  <a:cubicBezTo>
                    <a:pt x="0" y="26517"/>
                    <a:pt x="3802" y="17338"/>
                    <a:pt x="10570" y="10570"/>
                  </a:cubicBezTo>
                  <a:cubicBezTo>
                    <a:pt x="17338" y="3802"/>
                    <a:pt x="26517" y="0"/>
                    <a:pt x="36089" y="0"/>
                  </a:cubicBezTo>
                  <a:close/>
                </a:path>
              </a:pathLst>
            </a:custGeom>
            <a:solidFill>
              <a:srgbClr val="EFB0C0"/>
            </a:solidFill>
          </p:spPr>
        </p:sp>
        <p:sp>
          <p:nvSpPr>
            <p:cNvPr id="1048592" name="TextBox 7"/>
            <p:cNvSpPr txBox="1"/>
            <p:nvPr/>
          </p:nvSpPr>
          <p:spPr>
            <a:xfrm>
              <a:off x="0" y="-28575"/>
              <a:ext cx="3076762" cy="200808"/>
            </a:xfrm>
            <a:prstGeom prst="rect"/>
          </p:spPr>
          <p:txBody>
            <a:bodyPr anchor="ctr" bIns="46907" lIns="46907" rIns="46907" rtlCol="0" tIns="46907"/>
            <a:p>
              <a:pPr algn="ctr">
                <a:lnSpc>
                  <a:spcPts val="24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4" name="Group 8"/>
          <p:cNvGrpSpPr/>
          <p:nvPr/>
        </p:nvGrpSpPr>
        <p:grpSpPr>
          <a:xfrm>
            <a:off x="4257516" y="5129830"/>
            <a:ext cx="10082685" cy="555117"/>
            <a:chOff x="0" y="0"/>
            <a:chExt cx="3076762" cy="169396"/>
          </a:xfrm>
        </p:grpSpPr>
        <p:sp>
          <p:nvSpPr>
            <p:cNvPr id="1048593" name="Freeform 9"/>
            <p:cNvSpPr/>
            <p:nvPr/>
          </p:nvSpPr>
          <p:spPr>
            <a:xfrm>
              <a:off x="0" y="0"/>
              <a:ext cx="3076762" cy="169396"/>
            </a:xfrm>
            <a:custGeom>
              <a:avLst/>
              <a:ahLst/>
              <a:rect l="l" t="t" r="r" b="b"/>
              <a:pathLst>
                <a:path w="3076762" h="169396">
                  <a:moveTo>
                    <a:pt x="36089" y="0"/>
                  </a:moveTo>
                  <a:lnTo>
                    <a:pt x="3040673" y="0"/>
                  </a:lnTo>
                  <a:cubicBezTo>
                    <a:pt x="3050244" y="0"/>
                    <a:pt x="3059424" y="3802"/>
                    <a:pt x="3066192" y="10570"/>
                  </a:cubicBezTo>
                  <a:cubicBezTo>
                    <a:pt x="3072960" y="17338"/>
                    <a:pt x="3076762" y="26517"/>
                    <a:pt x="3076762" y="36089"/>
                  </a:cubicBezTo>
                  <a:lnTo>
                    <a:pt x="3076762" y="133307"/>
                  </a:lnTo>
                  <a:cubicBezTo>
                    <a:pt x="3076762" y="142878"/>
                    <a:pt x="3072960" y="152058"/>
                    <a:pt x="3066192" y="158825"/>
                  </a:cubicBezTo>
                  <a:cubicBezTo>
                    <a:pt x="3059424" y="165593"/>
                    <a:pt x="3050244" y="169396"/>
                    <a:pt x="3040673" y="169396"/>
                  </a:cubicBezTo>
                  <a:lnTo>
                    <a:pt x="36089" y="169396"/>
                  </a:lnTo>
                  <a:cubicBezTo>
                    <a:pt x="26517" y="169396"/>
                    <a:pt x="17338" y="165593"/>
                    <a:pt x="10570" y="158825"/>
                  </a:cubicBezTo>
                  <a:cubicBezTo>
                    <a:pt x="3802" y="152058"/>
                    <a:pt x="0" y="142878"/>
                    <a:pt x="0" y="133307"/>
                  </a:cubicBezTo>
                  <a:lnTo>
                    <a:pt x="0" y="36089"/>
                  </a:lnTo>
                  <a:cubicBezTo>
                    <a:pt x="0" y="26517"/>
                    <a:pt x="3802" y="17338"/>
                    <a:pt x="10570" y="10570"/>
                  </a:cubicBezTo>
                  <a:cubicBezTo>
                    <a:pt x="17338" y="3802"/>
                    <a:pt x="26517" y="0"/>
                    <a:pt x="36089" y="0"/>
                  </a:cubicBezTo>
                  <a:close/>
                </a:path>
              </a:pathLst>
            </a:custGeom>
            <a:solidFill>
              <a:srgbClr val="EFA4B7"/>
            </a:solidFill>
          </p:spPr>
        </p:sp>
        <p:sp>
          <p:nvSpPr>
            <p:cNvPr id="1048594" name="TextBox 10"/>
            <p:cNvSpPr txBox="1"/>
            <p:nvPr/>
          </p:nvSpPr>
          <p:spPr>
            <a:xfrm>
              <a:off x="0" y="-28575"/>
              <a:ext cx="3076762" cy="197971"/>
            </a:xfrm>
            <a:prstGeom prst="rect"/>
          </p:spPr>
          <p:txBody>
            <a:bodyPr anchor="ctr" bIns="46907" lIns="46907" rIns="46907" rtlCol="0" tIns="46907"/>
            <a:p>
              <a:pPr algn="ctr">
                <a:lnSpc>
                  <a:spcPts val="24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5" name="Group 11"/>
          <p:cNvGrpSpPr/>
          <p:nvPr/>
        </p:nvGrpSpPr>
        <p:grpSpPr>
          <a:xfrm>
            <a:off x="4257516" y="6227872"/>
            <a:ext cx="10082685" cy="552694"/>
            <a:chOff x="0" y="0"/>
            <a:chExt cx="3076762" cy="168656"/>
          </a:xfrm>
        </p:grpSpPr>
        <p:sp>
          <p:nvSpPr>
            <p:cNvPr id="1048595" name="Freeform 12"/>
            <p:cNvSpPr/>
            <p:nvPr/>
          </p:nvSpPr>
          <p:spPr>
            <a:xfrm>
              <a:off x="0" y="0"/>
              <a:ext cx="3076762" cy="168656"/>
            </a:xfrm>
            <a:custGeom>
              <a:avLst/>
              <a:ahLst/>
              <a:rect l="l" t="t" r="r" b="b"/>
              <a:pathLst>
                <a:path w="3076762" h="168656">
                  <a:moveTo>
                    <a:pt x="36089" y="0"/>
                  </a:moveTo>
                  <a:lnTo>
                    <a:pt x="3040673" y="0"/>
                  </a:lnTo>
                  <a:cubicBezTo>
                    <a:pt x="3050244" y="0"/>
                    <a:pt x="3059424" y="3802"/>
                    <a:pt x="3066192" y="10570"/>
                  </a:cubicBezTo>
                  <a:cubicBezTo>
                    <a:pt x="3072960" y="17338"/>
                    <a:pt x="3076762" y="26517"/>
                    <a:pt x="3076762" y="36089"/>
                  </a:cubicBezTo>
                  <a:lnTo>
                    <a:pt x="3076762" y="132568"/>
                  </a:lnTo>
                  <a:cubicBezTo>
                    <a:pt x="3076762" y="142139"/>
                    <a:pt x="3072960" y="151318"/>
                    <a:pt x="3066192" y="158086"/>
                  </a:cubicBezTo>
                  <a:cubicBezTo>
                    <a:pt x="3059424" y="164854"/>
                    <a:pt x="3050244" y="168656"/>
                    <a:pt x="3040673" y="168656"/>
                  </a:cubicBezTo>
                  <a:lnTo>
                    <a:pt x="36089" y="168656"/>
                  </a:lnTo>
                  <a:cubicBezTo>
                    <a:pt x="26517" y="168656"/>
                    <a:pt x="17338" y="164854"/>
                    <a:pt x="10570" y="158086"/>
                  </a:cubicBezTo>
                  <a:cubicBezTo>
                    <a:pt x="3802" y="151318"/>
                    <a:pt x="0" y="142139"/>
                    <a:pt x="0" y="132568"/>
                  </a:cubicBezTo>
                  <a:lnTo>
                    <a:pt x="0" y="36089"/>
                  </a:lnTo>
                  <a:cubicBezTo>
                    <a:pt x="0" y="26517"/>
                    <a:pt x="3802" y="17338"/>
                    <a:pt x="10570" y="10570"/>
                  </a:cubicBezTo>
                  <a:cubicBezTo>
                    <a:pt x="17338" y="3802"/>
                    <a:pt x="26517" y="0"/>
                    <a:pt x="36089" y="0"/>
                  </a:cubicBezTo>
                  <a:close/>
                </a:path>
              </a:pathLst>
            </a:custGeom>
            <a:solidFill>
              <a:srgbClr val="E896AB"/>
            </a:solidFill>
          </p:spPr>
        </p:sp>
        <p:sp>
          <p:nvSpPr>
            <p:cNvPr id="1048596" name="TextBox 13"/>
            <p:cNvSpPr txBox="1"/>
            <p:nvPr/>
          </p:nvSpPr>
          <p:spPr>
            <a:xfrm>
              <a:off x="0" y="-28575"/>
              <a:ext cx="3076762" cy="197231"/>
            </a:xfrm>
            <a:prstGeom prst="rect"/>
          </p:spPr>
          <p:txBody>
            <a:bodyPr anchor="ctr" bIns="46907" lIns="46907" rIns="46907" rtlCol="0" tIns="46907"/>
            <a:p>
              <a:pPr algn="ctr">
                <a:lnSpc>
                  <a:spcPts val="24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6" name="Group 14"/>
          <p:cNvGrpSpPr/>
          <p:nvPr/>
        </p:nvGrpSpPr>
        <p:grpSpPr>
          <a:xfrm>
            <a:off x="4257516" y="7490453"/>
            <a:ext cx="10082685" cy="585395"/>
            <a:chOff x="0" y="0"/>
            <a:chExt cx="3076762" cy="178635"/>
          </a:xfrm>
        </p:grpSpPr>
        <p:sp>
          <p:nvSpPr>
            <p:cNvPr id="1048597" name="Freeform 15"/>
            <p:cNvSpPr/>
            <p:nvPr/>
          </p:nvSpPr>
          <p:spPr>
            <a:xfrm>
              <a:off x="0" y="0"/>
              <a:ext cx="3076762" cy="178635"/>
            </a:xfrm>
            <a:custGeom>
              <a:avLst/>
              <a:ahLst/>
              <a:rect l="l" t="t" r="r" b="b"/>
              <a:pathLst>
                <a:path w="3076762" h="178635">
                  <a:moveTo>
                    <a:pt x="36089" y="0"/>
                  </a:moveTo>
                  <a:lnTo>
                    <a:pt x="3040673" y="0"/>
                  </a:lnTo>
                  <a:cubicBezTo>
                    <a:pt x="3050244" y="0"/>
                    <a:pt x="3059424" y="3802"/>
                    <a:pt x="3066192" y="10570"/>
                  </a:cubicBezTo>
                  <a:cubicBezTo>
                    <a:pt x="3072960" y="17338"/>
                    <a:pt x="3076762" y="26517"/>
                    <a:pt x="3076762" y="36089"/>
                  </a:cubicBezTo>
                  <a:lnTo>
                    <a:pt x="3076762" y="142546"/>
                  </a:lnTo>
                  <a:cubicBezTo>
                    <a:pt x="3076762" y="152118"/>
                    <a:pt x="3072960" y="161297"/>
                    <a:pt x="3066192" y="168065"/>
                  </a:cubicBezTo>
                  <a:cubicBezTo>
                    <a:pt x="3059424" y="174833"/>
                    <a:pt x="3050244" y="178635"/>
                    <a:pt x="3040673" y="178635"/>
                  </a:cubicBezTo>
                  <a:lnTo>
                    <a:pt x="36089" y="178635"/>
                  </a:lnTo>
                  <a:cubicBezTo>
                    <a:pt x="26517" y="178635"/>
                    <a:pt x="17338" y="174833"/>
                    <a:pt x="10570" y="168065"/>
                  </a:cubicBezTo>
                  <a:cubicBezTo>
                    <a:pt x="3802" y="161297"/>
                    <a:pt x="0" y="152118"/>
                    <a:pt x="0" y="142546"/>
                  </a:cubicBezTo>
                  <a:lnTo>
                    <a:pt x="0" y="36089"/>
                  </a:lnTo>
                  <a:cubicBezTo>
                    <a:pt x="0" y="26517"/>
                    <a:pt x="3802" y="17338"/>
                    <a:pt x="10570" y="10570"/>
                  </a:cubicBezTo>
                  <a:cubicBezTo>
                    <a:pt x="17338" y="3802"/>
                    <a:pt x="26517" y="0"/>
                    <a:pt x="36089" y="0"/>
                  </a:cubicBezTo>
                  <a:close/>
                </a:path>
              </a:pathLst>
            </a:custGeom>
            <a:solidFill>
              <a:srgbClr val="EB88A1"/>
            </a:solidFill>
          </p:spPr>
        </p:sp>
        <p:sp>
          <p:nvSpPr>
            <p:cNvPr id="1048598" name="TextBox 16"/>
            <p:cNvSpPr txBox="1"/>
            <p:nvPr/>
          </p:nvSpPr>
          <p:spPr>
            <a:xfrm>
              <a:off x="0" y="-28575"/>
              <a:ext cx="3076762" cy="207210"/>
            </a:xfrm>
            <a:prstGeom prst="rect"/>
          </p:spPr>
          <p:txBody>
            <a:bodyPr anchor="ctr" bIns="46907" lIns="46907" rIns="46907" rtlCol="0" tIns="46907"/>
            <a:p>
              <a:pPr algn="ctr">
                <a:lnSpc>
                  <a:spcPts val="2456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599" name="Freeform 17"/>
          <p:cNvSpPr/>
          <p:nvPr/>
        </p:nvSpPr>
        <p:spPr>
          <a:xfrm>
            <a:off x="647879" y="5933240"/>
            <a:ext cx="3237344" cy="3699822"/>
          </a:xfrm>
          <a:custGeom>
            <a:avLst/>
            <a:ahLst/>
            <a:rect l="l" t="t" r="r" b="b"/>
            <a:pathLst>
              <a:path w="3237344" h="3699822">
                <a:moveTo>
                  <a:pt x="0" y="0"/>
                </a:moveTo>
                <a:lnTo>
                  <a:pt x="3237344" y="0"/>
                </a:lnTo>
                <a:lnTo>
                  <a:pt x="3237344" y="3699822"/>
                </a:lnTo>
                <a:lnTo>
                  <a:pt x="0" y="3699822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00" name="TextBox 18"/>
          <p:cNvSpPr txBox="1"/>
          <p:nvPr/>
        </p:nvSpPr>
        <p:spPr>
          <a:xfrm>
            <a:off x="647879" y="599509"/>
            <a:ext cx="10772307" cy="725679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5714"/>
              </a:lnSpc>
            </a:pPr>
            <a:r>
              <a:rPr sz="6144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PROGRESS SINCE REVIEW 1</a:t>
            </a:r>
          </a:p>
        </p:txBody>
      </p:sp>
      <p:grpSp>
        <p:nvGrpSpPr>
          <p:cNvPr id="37" name="Group 19"/>
          <p:cNvGrpSpPr/>
          <p:nvPr/>
        </p:nvGrpSpPr>
        <p:grpSpPr>
          <a:xfrm>
            <a:off x="5116556" y="2876968"/>
            <a:ext cx="10159149" cy="5787375"/>
            <a:chOff x="0" y="0"/>
            <a:chExt cx="3100095" cy="1766035"/>
          </a:xfrm>
        </p:grpSpPr>
        <p:sp>
          <p:nvSpPr>
            <p:cNvPr id="1048601" name="Freeform 20"/>
            <p:cNvSpPr/>
            <p:nvPr/>
          </p:nvSpPr>
          <p:spPr>
            <a:xfrm>
              <a:off x="0" y="0"/>
              <a:ext cx="3100095" cy="1766035"/>
            </a:xfrm>
            <a:custGeom>
              <a:avLst/>
              <a:ahLst/>
              <a:rect l="l" t="t" r="r" b="b"/>
              <a:pathLst>
                <a:path w="3100095" h="1766035">
                  <a:moveTo>
                    <a:pt x="35817" y="0"/>
                  </a:moveTo>
                  <a:lnTo>
                    <a:pt x="3064278" y="0"/>
                  </a:lnTo>
                  <a:cubicBezTo>
                    <a:pt x="3084059" y="0"/>
                    <a:pt x="3100095" y="16036"/>
                    <a:pt x="3100095" y="35817"/>
                  </a:cubicBezTo>
                  <a:lnTo>
                    <a:pt x="3100095" y="1730218"/>
                  </a:lnTo>
                  <a:cubicBezTo>
                    <a:pt x="3100095" y="1749999"/>
                    <a:pt x="3084059" y="1766035"/>
                    <a:pt x="3064278" y="1766035"/>
                  </a:cubicBezTo>
                  <a:lnTo>
                    <a:pt x="35817" y="1766035"/>
                  </a:lnTo>
                  <a:cubicBezTo>
                    <a:pt x="16036" y="1766035"/>
                    <a:pt x="0" y="1749999"/>
                    <a:pt x="0" y="1730218"/>
                  </a:cubicBezTo>
                  <a:lnTo>
                    <a:pt x="0" y="35817"/>
                  </a:lnTo>
                  <a:cubicBezTo>
                    <a:pt x="0" y="16036"/>
                    <a:pt x="16036" y="0"/>
                    <a:pt x="35817" y="0"/>
                  </a:cubicBezTo>
                  <a:close/>
                </a:path>
              </a:pathLst>
            </a:custGeom>
          </p:spPr>
        </p:sp>
        <p:sp>
          <p:nvSpPr>
            <p:cNvPr id="1048602" name="TextBox 21"/>
            <p:cNvSpPr txBox="1"/>
            <p:nvPr/>
          </p:nvSpPr>
          <p:spPr>
            <a:xfrm>
              <a:off x="0" y="-85725"/>
              <a:ext cx="3100095" cy="1851760"/>
            </a:xfrm>
            <a:prstGeom prst="rect"/>
          </p:spPr>
          <p:txBody>
            <a:bodyPr anchor="ctr" bIns="46907" lIns="46907" rIns="46907" rtlCol="0" tIns="46907"/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Literature Review Completed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Construct Map Prepared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System Workflow Designed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Event Logging &amp; SDK Schema Finalized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MVP Architecture Designed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MERN Application Developed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Serious Game Prototype Completed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Behavioural Scoring Engine Implemented</a:t>
              </a:r>
            </a:p>
            <a:p>
              <a:pPr algn="l">
                <a:lnSpc>
                  <a:spcPts val="4556"/>
                </a:lnSpc>
              </a:pPr>
              <a:r>
                <a:rPr sz="3254" lang="en-US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✔ Admin Analytics Dashboard Completed</a:t>
              </a:r>
            </a:p>
            <a:p>
              <a:pPr algn="l">
                <a:lnSpc>
                  <a:spcPts val="4276"/>
                </a:lnSpc>
                <a:spcBef>
                  <a:spcPct val="0"/>
                </a:spcBef>
              </a:pPr>
              <a:endParaRPr sz="3254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endParaRPr>
            </a:p>
          </p:txBody>
        </p:sp>
      </p:grpSp>
      <p:sp>
        <p:nvSpPr>
          <p:cNvPr id="1048603" name="Freeform 22"/>
          <p:cNvSpPr/>
          <p:nvPr/>
        </p:nvSpPr>
        <p:spPr>
          <a:xfrm>
            <a:off x="13253636" y="238435"/>
            <a:ext cx="4536609" cy="2988491"/>
          </a:xfrm>
          <a:custGeom>
            <a:avLst/>
            <a:ahLst/>
            <a:rect l="l" t="t" r="r" b="b"/>
            <a:pathLst>
              <a:path w="4536609" h="2988491">
                <a:moveTo>
                  <a:pt x="0" y="0"/>
                </a:moveTo>
                <a:lnTo>
                  <a:pt x="4536609" y="0"/>
                </a:lnTo>
                <a:lnTo>
                  <a:pt x="4536609" y="2988491"/>
                </a:lnTo>
                <a:lnTo>
                  <a:pt x="0" y="298849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2"/>
          <p:cNvGrpSpPr/>
          <p:nvPr/>
        </p:nvGrpSpPr>
        <p:grpSpPr>
          <a:xfrm>
            <a:off x="6535944" y="3402521"/>
            <a:ext cx="10464886" cy="2793248"/>
            <a:chOff x="0" y="0"/>
            <a:chExt cx="2948646" cy="787042"/>
          </a:xfrm>
        </p:grpSpPr>
        <p:sp>
          <p:nvSpPr>
            <p:cNvPr id="1048604" name="Freeform 3"/>
            <p:cNvSpPr/>
            <p:nvPr/>
          </p:nvSpPr>
          <p:spPr>
            <a:xfrm>
              <a:off x="0" y="0"/>
              <a:ext cx="2948646" cy="787042"/>
            </a:xfrm>
            <a:custGeom>
              <a:avLst/>
              <a:ahLst/>
              <a:rect l="l" t="t" r="r" b="b"/>
              <a:pathLst>
                <a:path w="2948646" h="787042">
                  <a:moveTo>
                    <a:pt x="37730" y="0"/>
                  </a:moveTo>
                  <a:lnTo>
                    <a:pt x="2910916" y="0"/>
                  </a:lnTo>
                  <a:cubicBezTo>
                    <a:pt x="2931754" y="0"/>
                    <a:pt x="2948646" y="16892"/>
                    <a:pt x="2948646" y="37730"/>
                  </a:cubicBezTo>
                  <a:lnTo>
                    <a:pt x="2948646" y="749312"/>
                  </a:lnTo>
                  <a:cubicBezTo>
                    <a:pt x="2948646" y="759318"/>
                    <a:pt x="2944671" y="768915"/>
                    <a:pt x="2937595" y="775991"/>
                  </a:cubicBezTo>
                  <a:cubicBezTo>
                    <a:pt x="2930520" y="783067"/>
                    <a:pt x="2920923" y="787042"/>
                    <a:pt x="2910916" y="787042"/>
                  </a:cubicBezTo>
                  <a:lnTo>
                    <a:pt x="37730" y="787042"/>
                  </a:lnTo>
                  <a:cubicBezTo>
                    <a:pt x="27723" y="787042"/>
                    <a:pt x="18127" y="783067"/>
                    <a:pt x="11051" y="775991"/>
                  </a:cubicBezTo>
                  <a:cubicBezTo>
                    <a:pt x="3975" y="768915"/>
                    <a:pt x="0" y="759318"/>
                    <a:pt x="0" y="749312"/>
                  </a:cubicBezTo>
                  <a:lnTo>
                    <a:pt x="0" y="37730"/>
                  </a:lnTo>
                  <a:cubicBezTo>
                    <a:pt x="0" y="27723"/>
                    <a:pt x="3975" y="18127"/>
                    <a:pt x="11051" y="11051"/>
                  </a:cubicBezTo>
                  <a:cubicBezTo>
                    <a:pt x="18127" y="3975"/>
                    <a:pt x="27723" y="0"/>
                    <a:pt x="37730" y="0"/>
                  </a:cubicBezTo>
                  <a:close/>
                </a:path>
              </a:pathLst>
            </a:custGeom>
            <a:solidFill>
              <a:srgbClr val="F8D4DE"/>
            </a:solidFill>
          </p:spPr>
        </p:sp>
        <p:sp>
          <p:nvSpPr>
            <p:cNvPr id="1048605" name="TextBox 4"/>
            <p:cNvSpPr txBox="1"/>
            <p:nvPr/>
          </p:nvSpPr>
          <p:spPr>
            <a:xfrm>
              <a:off x="0" y="-38100"/>
              <a:ext cx="2948646" cy="825142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06" name="Freeform 5"/>
          <p:cNvSpPr/>
          <p:nvPr/>
        </p:nvSpPr>
        <p:spPr>
          <a:xfrm>
            <a:off x="866930" y="3777790"/>
            <a:ext cx="4893046" cy="4835960"/>
          </a:xfrm>
          <a:custGeom>
            <a:avLst/>
            <a:ahLst/>
            <a:rect l="l" t="t" r="r" b="b"/>
            <a:pathLst>
              <a:path w="4893046" h="4835960">
                <a:moveTo>
                  <a:pt x="0" y="0"/>
                </a:moveTo>
                <a:lnTo>
                  <a:pt x="4893046" y="0"/>
                </a:lnTo>
                <a:lnTo>
                  <a:pt x="4893046" y="4835960"/>
                </a:lnTo>
                <a:lnTo>
                  <a:pt x="0" y="483596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07" name="TextBox 6"/>
          <p:cNvSpPr txBox="1"/>
          <p:nvPr/>
        </p:nvSpPr>
        <p:spPr>
          <a:xfrm>
            <a:off x="1972619" y="1199522"/>
            <a:ext cx="14342762" cy="1174369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9247"/>
              </a:lnSpc>
              <a:spcBef>
                <a:spcPct val="0"/>
              </a:spcBef>
            </a:pPr>
            <a:r>
              <a:rPr sz="994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P</a:t>
            </a:r>
            <a:r>
              <a:rPr sz="9943" lang="en-US" strike="noStrike" u="none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ROBLEM STATEMENT</a:t>
            </a:r>
          </a:p>
        </p:txBody>
      </p:sp>
      <p:grpSp>
        <p:nvGrpSpPr>
          <p:cNvPr id="40" name="Group 7"/>
          <p:cNvGrpSpPr/>
          <p:nvPr/>
        </p:nvGrpSpPr>
        <p:grpSpPr>
          <a:xfrm>
            <a:off x="6535944" y="6696343"/>
            <a:ext cx="10464886" cy="2793248"/>
            <a:chOff x="0" y="0"/>
            <a:chExt cx="2948646" cy="787042"/>
          </a:xfrm>
        </p:grpSpPr>
        <p:sp>
          <p:nvSpPr>
            <p:cNvPr id="1048608" name="Freeform 8"/>
            <p:cNvSpPr/>
            <p:nvPr/>
          </p:nvSpPr>
          <p:spPr>
            <a:xfrm>
              <a:off x="0" y="0"/>
              <a:ext cx="2948646" cy="787042"/>
            </a:xfrm>
            <a:custGeom>
              <a:avLst/>
              <a:ahLst/>
              <a:rect l="l" t="t" r="r" b="b"/>
              <a:pathLst>
                <a:path w="2948646" h="787042">
                  <a:moveTo>
                    <a:pt x="37730" y="0"/>
                  </a:moveTo>
                  <a:lnTo>
                    <a:pt x="2910916" y="0"/>
                  </a:lnTo>
                  <a:cubicBezTo>
                    <a:pt x="2931754" y="0"/>
                    <a:pt x="2948646" y="16892"/>
                    <a:pt x="2948646" y="37730"/>
                  </a:cubicBezTo>
                  <a:lnTo>
                    <a:pt x="2948646" y="749312"/>
                  </a:lnTo>
                  <a:cubicBezTo>
                    <a:pt x="2948646" y="759318"/>
                    <a:pt x="2944671" y="768915"/>
                    <a:pt x="2937595" y="775991"/>
                  </a:cubicBezTo>
                  <a:cubicBezTo>
                    <a:pt x="2930520" y="783067"/>
                    <a:pt x="2920923" y="787042"/>
                    <a:pt x="2910916" y="787042"/>
                  </a:cubicBezTo>
                  <a:lnTo>
                    <a:pt x="37730" y="787042"/>
                  </a:lnTo>
                  <a:cubicBezTo>
                    <a:pt x="27723" y="787042"/>
                    <a:pt x="18127" y="783067"/>
                    <a:pt x="11051" y="775991"/>
                  </a:cubicBezTo>
                  <a:cubicBezTo>
                    <a:pt x="3975" y="768915"/>
                    <a:pt x="0" y="759318"/>
                    <a:pt x="0" y="749312"/>
                  </a:cubicBezTo>
                  <a:lnTo>
                    <a:pt x="0" y="37730"/>
                  </a:lnTo>
                  <a:cubicBezTo>
                    <a:pt x="0" y="27723"/>
                    <a:pt x="3975" y="18127"/>
                    <a:pt x="11051" y="11051"/>
                  </a:cubicBezTo>
                  <a:cubicBezTo>
                    <a:pt x="18127" y="3975"/>
                    <a:pt x="27723" y="0"/>
                    <a:pt x="37730" y="0"/>
                  </a:cubicBezTo>
                  <a:close/>
                </a:path>
              </a:pathLst>
            </a:custGeom>
            <a:solidFill>
              <a:srgbClr val="F8D4DE"/>
            </a:solidFill>
          </p:spPr>
        </p:sp>
        <p:sp>
          <p:nvSpPr>
            <p:cNvPr id="1048609" name="TextBox 9"/>
            <p:cNvSpPr txBox="1"/>
            <p:nvPr/>
          </p:nvSpPr>
          <p:spPr>
            <a:xfrm>
              <a:off x="0" y="-38100"/>
              <a:ext cx="2948646" cy="825142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10" name="TextBox 10"/>
          <p:cNvSpPr txBox="1"/>
          <p:nvPr/>
        </p:nvSpPr>
        <p:spPr>
          <a:xfrm>
            <a:off x="6854845" y="3685696"/>
            <a:ext cx="9827084" cy="561594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sz="37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</a:t>
            </a: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raditional emotional regulation assessment:</a:t>
            </a:r>
          </a:p>
          <a:p>
            <a:pPr algn="l" indent="-410139" lvl="1" marL="820278">
              <a:lnSpc>
                <a:spcPts val="3685"/>
              </a:lnSpc>
              <a:spcBef>
                <a:spcPct val="0"/>
              </a:spcBef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Questionnaire-based</a:t>
            </a:r>
          </a:p>
          <a:p>
            <a:pPr algn="l" indent="-410139" lvl="1" marL="820278">
              <a:lnSpc>
                <a:spcPts val="3685"/>
              </a:lnSpc>
              <a:spcBef>
                <a:spcPct val="0"/>
              </a:spcBef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Subjective</a:t>
            </a:r>
          </a:p>
          <a:p>
            <a:pPr algn="l" indent="-410139" lvl="1" marL="820278">
              <a:lnSpc>
                <a:spcPts val="3685"/>
              </a:lnSpc>
              <a:spcBef>
                <a:spcPct val="0"/>
              </a:spcBef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Response bias</a:t>
            </a:r>
          </a:p>
          <a:p>
            <a:pPr algn="l" indent="-410139" lvl="1" marL="820278">
              <a:lnSpc>
                <a:spcPts val="3685"/>
              </a:lnSpc>
              <a:spcBef>
                <a:spcPct val="0"/>
              </a:spcBef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No real-time behaviour analysis</a:t>
            </a:r>
          </a:p>
          <a:p>
            <a:pPr algn="ctr">
              <a:lnSpc>
                <a:spcPts val="3685"/>
              </a:lnSpc>
              <a:spcBef>
                <a:spcPct val="0"/>
              </a:spcBef>
            </a:pPr>
            <a:endParaRPr sz="3799" lang="en-US" strike="noStrike" u="none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  <a:p>
            <a:pPr algn="ctr">
              <a:lnSpc>
                <a:spcPts val="3685"/>
              </a:lnSpc>
              <a:spcBef>
                <a:spcPct val="0"/>
              </a:spcBef>
            </a:pPr>
            <a:endParaRPr sz="3799" lang="en-US" strike="noStrike" u="none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Our Solution:</a:t>
            </a:r>
          </a:p>
          <a:p>
            <a:pPr algn="ctr" indent="0" lvl="1" marL="0">
              <a:lnSpc>
                <a:spcPts val="3685"/>
              </a:lnSpc>
              <a:spcBef>
                <a:spcPct val="0"/>
              </a:spcBef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 simulation-based serious game that continuously records behavioural interactions during emergency response scenarios.</a:t>
            </a:r>
          </a:p>
          <a:p>
            <a:pPr algn="ctr">
              <a:lnSpc>
                <a:spcPts val="3685"/>
              </a:lnSpc>
              <a:spcBef>
                <a:spcPct val="0"/>
              </a:spcBef>
            </a:pPr>
            <a:endParaRPr sz="3799" lang="en-US" strike="noStrike" u="none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/>
          <p:nvPr/>
        </p:nvGrpSpPr>
        <p:grpSpPr>
          <a:xfrm rot="-1294984">
            <a:off x="7700669" y="1222580"/>
            <a:ext cx="12626182" cy="6263305"/>
            <a:chOff x="0" y="0"/>
            <a:chExt cx="3557625" cy="1764785"/>
          </a:xfrm>
        </p:grpSpPr>
        <p:sp>
          <p:nvSpPr>
            <p:cNvPr id="1048611" name="Freeform 3"/>
            <p:cNvSpPr/>
            <p:nvPr/>
          </p:nvSpPr>
          <p:spPr>
            <a:xfrm>
              <a:off x="0" y="0"/>
              <a:ext cx="3557625" cy="1764785"/>
            </a:xfrm>
            <a:custGeom>
              <a:avLst/>
              <a:ahLst/>
              <a:rect l="l" t="t" r="r" b="b"/>
              <a:pathLst>
                <a:path w="3557625" h="1764785">
                  <a:moveTo>
                    <a:pt x="31271" y="0"/>
                  </a:moveTo>
                  <a:lnTo>
                    <a:pt x="3526354" y="0"/>
                  </a:lnTo>
                  <a:cubicBezTo>
                    <a:pt x="3534647" y="0"/>
                    <a:pt x="3542602" y="3295"/>
                    <a:pt x="3548466" y="9159"/>
                  </a:cubicBezTo>
                  <a:cubicBezTo>
                    <a:pt x="3554330" y="15024"/>
                    <a:pt x="3557625" y="22978"/>
                    <a:pt x="3557625" y="31271"/>
                  </a:cubicBezTo>
                  <a:lnTo>
                    <a:pt x="3557625" y="1733513"/>
                  </a:lnTo>
                  <a:cubicBezTo>
                    <a:pt x="3557625" y="1741807"/>
                    <a:pt x="3554330" y="1749761"/>
                    <a:pt x="3548466" y="1755625"/>
                  </a:cubicBezTo>
                  <a:cubicBezTo>
                    <a:pt x="3542602" y="1761490"/>
                    <a:pt x="3534647" y="1764785"/>
                    <a:pt x="3526354" y="1764785"/>
                  </a:cubicBezTo>
                  <a:lnTo>
                    <a:pt x="31271" y="1764785"/>
                  </a:lnTo>
                  <a:cubicBezTo>
                    <a:pt x="22978" y="1764785"/>
                    <a:pt x="15024" y="1761490"/>
                    <a:pt x="9159" y="1755625"/>
                  </a:cubicBezTo>
                  <a:cubicBezTo>
                    <a:pt x="3295" y="1749761"/>
                    <a:pt x="0" y="1741807"/>
                    <a:pt x="0" y="1733513"/>
                  </a:cubicBezTo>
                  <a:lnTo>
                    <a:pt x="0" y="31271"/>
                  </a:lnTo>
                  <a:cubicBezTo>
                    <a:pt x="0" y="22978"/>
                    <a:pt x="3295" y="15024"/>
                    <a:pt x="9159" y="9159"/>
                  </a:cubicBezTo>
                  <a:cubicBezTo>
                    <a:pt x="15024" y="3295"/>
                    <a:pt x="22978" y="0"/>
                    <a:pt x="31271" y="0"/>
                  </a:cubicBezTo>
                  <a:close/>
                </a:path>
              </a:pathLst>
            </a:custGeom>
            <a:solidFill>
              <a:srgbClr val="F8D4DE"/>
            </a:solidFill>
          </p:spPr>
        </p:sp>
        <p:sp>
          <p:nvSpPr>
            <p:cNvPr id="1048612" name="TextBox 4"/>
            <p:cNvSpPr txBox="1"/>
            <p:nvPr/>
          </p:nvSpPr>
          <p:spPr>
            <a:xfrm>
              <a:off x="0" y="-38100"/>
              <a:ext cx="3557625" cy="1802885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13" name="TextBox 5"/>
          <p:cNvSpPr txBox="1"/>
          <p:nvPr/>
        </p:nvSpPr>
        <p:spPr>
          <a:xfrm>
            <a:off x="-2297060" y="476828"/>
            <a:ext cx="14342762" cy="914528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7201"/>
              </a:lnSpc>
              <a:spcBef>
                <a:spcPct val="0"/>
              </a:spcBef>
            </a:pPr>
            <a:r>
              <a:rPr sz="7744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PRO</a:t>
            </a:r>
            <a:r>
              <a:rPr sz="7744" lang="en-US" strike="noStrike" u="none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POSED SYSTEM</a:t>
            </a:r>
          </a:p>
        </p:txBody>
      </p:sp>
      <p:grpSp>
        <p:nvGrpSpPr>
          <p:cNvPr id="43" name="Group 6"/>
          <p:cNvGrpSpPr/>
          <p:nvPr/>
        </p:nvGrpSpPr>
        <p:grpSpPr>
          <a:xfrm>
            <a:off x="548933" y="1557316"/>
            <a:ext cx="6442400" cy="771442"/>
            <a:chOff x="0" y="0"/>
            <a:chExt cx="1815247" cy="217366"/>
          </a:xfrm>
        </p:grpSpPr>
        <p:sp>
          <p:nvSpPr>
            <p:cNvPr id="1048614" name="Freeform 7"/>
            <p:cNvSpPr/>
            <p:nvPr/>
          </p:nvSpPr>
          <p:spPr>
            <a:xfrm>
              <a:off x="0" y="0"/>
              <a:ext cx="1815247" cy="217366"/>
            </a:xfrm>
            <a:custGeom>
              <a:avLst/>
              <a:ahLst/>
              <a:rect l="l" t="t" r="r" b="b"/>
              <a:pathLst>
                <a:path w="1815247" h="217366">
                  <a:moveTo>
                    <a:pt x="61287" y="0"/>
                  </a:moveTo>
                  <a:lnTo>
                    <a:pt x="1753960" y="0"/>
                  </a:lnTo>
                  <a:cubicBezTo>
                    <a:pt x="1770214" y="0"/>
                    <a:pt x="1785803" y="6457"/>
                    <a:pt x="1797297" y="17951"/>
                  </a:cubicBezTo>
                  <a:cubicBezTo>
                    <a:pt x="1808790" y="29444"/>
                    <a:pt x="1815247" y="45033"/>
                    <a:pt x="1815247" y="61287"/>
                  </a:cubicBezTo>
                  <a:lnTo>
                    <a:pt x="1815247" y="156078"/>
                  </a:lnTo>
                  <a:cubicBezTo>
                    <a:pt x="1815247" y="189927"/>
                    <a:pt x="1787808" y="217366"/>
                    <a:pt x="1753960" y="217366"/>
                  </a:cubicBezTo>
                  <a:lnTo>
                    <a:pt x="61287" y="217366"/>
                  </a:lnTo>
                  <a:cubicBezTo>
                    <a:pt x="45033" y="217366"/>
                    <a:pt x="29444" y="210909"/>
                    <a:pt x="17951" y="199415"/>
                  </a:cubicBezTo>
                  <a:cubicBezTo>
                    <a:pt x="6457" y="187922"/>
                    <a:pt x="0" y="172333"/>
                    <a:pt x="0" y="156078"/>
                  </a:cubicBezTo>
                  <a:lnTo>
                    <a:pt x="0" y="61287"/>
                  </a:lnTo>
                  <a:cubicBezTo>
                    <a:pt x="0" y="45033"/>
                    <a:pt x="6457" y="29444"/>
                    <a:pt x="17951" y="17951"/>
                  </a:cubicBezTo>
                  <a:cubicBezTo>
                    <a:pt x="29444" y="6457"/>
                    <a:pt x="45033" y="0"/>
                    <a:pt x="61287" y="0"/>
                  </a:cubicBezTo>
                  <a:close/>
                </a:path>
              </a:pathLst>
            </a:custGeom>
            <a:solidFill>
              <a:srgbClr val="EB88A1"/>
            </a:solidFill>
          </p:spPr>
        </p:sp>
        <p:sp>
          <p:nvSpPr>
            <p:cNvPr id="1048615" name="TextBox 8"/>
            <p:cNvSpPr txBox="1"/>
            <p:nvPr/>
          </p:nvSpPr>
          <p:spPr>
            <a:xfrm>
              <a:off x="0" y="-38100"/>
              <a:ext cx="1815247" cy="255466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16" name="TextBox 9"/>
          <p:cNvSpPr txBox="1"/>
          <p:nvPr/>
        </p:nvSpPr>
        <p:spPr>
          <a:xfrm>
            <a:off x="1028700" y="1758596"/>
            <a:ext cx="6589546" cy="103124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316"/>
              </a:lnSpc>
            </a:pPr>
            <a:r>
              <a:rPr sz="3566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TITLE: CRISIS DISPATCHER</a:t>
            </a:r>
          </a:p>
          <a:p>
            <a:pPr algn="ctr" indent="0" lvl="1" marL="0">
              <a:lnSpc>
                <a:spcPts val="4804"/>
              </a:lnSpc>
            </a:pPr>
            <a:endParaRPr sz="3566" lang="en-US">
              <a:solidFill>
                <a:srgbClr val="45384A"/>
              </a:solidFill>
              <a:latin typeface="Handyman"/>
              <a:ea typeface="Handyman"/>
              <a:cs typeface="Handyman"/>
              <a:sym typeface="Handyman"/>
            </a:endParaRPr>
          </a:p>
        </p:txBody>
      </p:sp>
      <p:grpSp>
        <p:nvGrpSpPr>
          <p:cNvPr id="44" name="Group 10"/>
          <p:cNvGrpSpPr/>
          <p:nvPr/>
        </p:nvGrpSpPr>
        <p:grpSpPr>
          <a:xfrm>
            <a:off x="548933" y="2735740"/>
            <a:ext cx="6442400" cy="5837538"/>
            <a:chOff x="0" y="0"/>
            <a:chExt cx="1815247" cy="1644818"/>
          </a:xfrm>
        </p:grpSpPr>
        <p:sp>
          <p:nvSpPr>
            <p:cNvPr id="1048617" name="Freeform 11"/>
            <p:cNvSpPr/>
            <p:nvPr/>
          </p:nvSpPr>
          <p:spPr>
            <a:xfrm>
              <a:off x="0" y="0"/>
              <a:ext cx="1815247" cy="1644818"/>
            </a:xfrm>
            <a:custGeom>
              <a:avLst/>
              <a:ahLst/>
              <a:rect l="l" t="t" r="r" b="b"/>
              <a:pathLst>
                <a:path w="1815247" h="1644818">
                  <a:moveTo>
                    <a:pt x="61287" y="0"/>
                  </a:moveTo>
                  <a:lnTo>
                    <a:pt x="1753960" y="0"/>
                  </a:lnTo>
                  <a:cubicBezTo>
                    <a:pt x="1770214" y="0"/>
                    <a:pt x="1785803" y="6457"/>
                    <a:pt x="1797297" y="17951"/>
                  </a:cubicBezTo>
                  <a:cubicBezTo>
                    <a:pt x="1808790" y="29444"/>
                    <a:pt x="1815247" y="45033"/>
                    <a:pt x="1815247" y="61287"/>
                  </a:cubicBezTo>
                  <a:lnTo>
                    <a:pt x="1815247" y="1583531"/>
                  </a:lnTo>
                  <a:cubicBezTo>
                    <a:pt x="1815247" y="1617379"/>
                    <a:pt x="1787808" y="1644818"/>
                    <a:pt x="1753960" y="1644818"/>
                  </a:cubicBezTo>
                  <a:lnTo>
                    <a:pt x="61287" y="1644818"/>
                  </a:lnTo>
                  <a:cubicBezTo>
                    <a:pt x="45033" y="1644818"/>
                    <a:pt x="29444" y="1638361"/>
                    <a:pt x="17951" y="1626867"/>
                  </a:cubicBezTo>
                  <a:cubicBezTo>
                    <a:pt x="6457" y="1615374"/>
                    <a:pt x="0" y="1599785"/>
                    <a:pt x="0" y="1583531"/>
                  </a:cubicBezTo>
                  <a:lnTo>
                    <a:pt x="0" y="61287"/>
                  </a:lnTo>
                  <a:cubicBezTo>
                    <a:pt x="0" y="45033"/>
                    <a:pt x="6457" y="29444"/>
                    <a:pt x="17951" y="17951"/>
                  </a:cubicBezTo>
                  <a:cubicBezTo>
                    <a:pt x="29444" y="6457"/>
                    <a:pt x="45033" y="0"/>
                    <a:pt x="61287" y="0"/>
                  </a:cubicBez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id="1048618" name="TextBox 12"/>
            <p:cNvSpPr txBox="1"/>
            <p:nvPr/>
          </p:nvSpPr>
          <p:spPr>
            <a:xfrm>
              <a:off x="0" y="-38100"/>
              <a:ext cx="1815247" cy="1682918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19" name="TextBox 13"/>
          <p:cNvSpPr txBox="1"/>
          <p:nvPr/>
        </p:nvSpPr>
        <p:spPr>
          <a:xfrm>
            <a:off x="734322" y="3504115"/>
            <a:ext cx="5865568" cy="3153963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sz="28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St</a:t>
            </a: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udent acts as an Emergency Dispatcher.</a:t>
            </a:r>
          </a:p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The system continuously records:</a:t>
            </a:r>
          </a:p>
          <a:p>
            <a:pPr algn="l" indent="-312986" lvl="1" marL="625973">
              <a:lnSpc>
                <a:spcPts val="2812"/>
              </a:lnSpc>
              <a:buFont typeface="Arial"/>
              <a:buChar char="•"/>
            </a:pP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Reaction Time</a:t>
            </a:r>
          </a:p>
          <a:p>
            <a:pPr algn="l" indent="-312986" lvl="1" marL="625973">
              <a:lnSpc>
                <a:spcPts val="2812"/>
              </a:lnSpc>
              <a:buFont typeface="Arial"/>
              <a:buChar char="•"/>
            </a:pP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Decision Accuracy</a:t>
            </a:r>
          </a:p>
          <a:p>
            <a:pPr algn="l" indent="-312986" lvl="1" marL="625973">
              <a:lnSpc>
                <a:spcPts val="2812"/>
              </a:lnSpc>
              <a:buFont typeface="Arial"/>
              <a:buChar char="•"/>
            </a:pP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Recovery Behaviour</a:t>
            </a:r>
          </a:p>
          <a:p>
            <a:pPr algn="l" indent="-312986" lvl="1" marL="625973">
              <a:lnSpc>
                <a:spcPts val="2812"/>
              </a:lnSpc>
              <a:buFont typeface="Arial"/>
              <a:buChar char="•"/>
            </a:pP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Strategy Changes</a:t>
            </a:r>
          </a:p>
          <a:p>
            <a:pPr algn="l" indent="-312986" lvl="1" marL="625973">
              <a:lnSpc>
                <a:spcPts val="2812"/>
              </a:lnSpc>
              <a:buFont typeface="Arial"/>
              <a:buChar char="•"/>
            </a:pPr>
            <a:r>
              <a:rPr sz="28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Panic Behaviour</a:t>
            </a:r>
          </a:p>
          <a:p>
            <a:pPr algn="ctr" indent="0" lvl="1" marL="0">
              <a:lnSpc>
                <a:spcPts val="2327"/>
              </a:lnSpc>
              <a:spcBef>
                <a:spcPct val="0"/>
              </a:spcBef>
            </a:pPr>
            <a:endParaRPr sz="2899" lang="en-US" strike="noStrike" u="none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sp>
        <p:nvSpPr>
          <p:cNvPr id="1048620" name="Freeform 14"/>
          <p:cNvSpPr/>
          <p:nvPr/>
        </p:nvSpPr>
        <p:spPr>
          <a:xfrm>
            <a:off x="3213953" y="5506638"/>
            <a:ext cx="3777379" cy="4608902"/>
          </a:xfrm>
          <a:custGeom>
            <a:avLst/>
            <a:ahLst/>
            <a:rect l="l" t="t" r="r" b="b"/>
            <a:pathLst>
              <a:path w="3777379" h="4608902">
                <a:moveTo>
                  <a:pt x="0" y="0"/>
                </a:moveTo>
                <a:lnTo>
                  <a:pt x="3777380" y="0"/>
                </a:lnTo>
                <a:lnTo>
                  <a:pt x="3777380" y="4608902"/>
                </a:lnTo>
                <a:lnTo>
                  <a:pt x="0" y="4608902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21" name="Freeform 15"/>
          <p:cNvSpPr/>
          <p:nvPr/>
        </p:nvSpPr>
        <p:spPr>
          <a:xfrm>
            <a:off x="6991333" y="2597245"/>
            <a:ext cx="10892972" cy="5473185"/>
          </a:xfrm>
          <a:custGeom>
            <a:avLst/>
            <a:ahLst/>
            <a:rect l="l" t="t" r="r" b="b"/>
            <a:pathLst>
              <a:path w="10892972" h="5473185">
                <a:moveTo>
                  <a:pt x="0" y="0"/>
                </a:moveTo>
                <a:lnTo>
                  <a:pt x="10892972" y="0"/>
                </a:lnTo>
                <a:lnTo>
                  <a:pt x="10892972" y="5473185"/>
                </a:lnTo>
                <a:lnTo>
                  <a:pt x="0" y="547318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22" name="TextBox 16"/>
          <p:cNvSpPr txBox="1"/>
          <p:nvPr/>
        </p:nvSpPr>
        <p:spPr>
          <a:xfrm>
            <a:off x="11162600" y="8328803"/>
            <a:ext cx="2550438" cy="88874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dirty="0" sz="24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Student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Freeform 2"/>
          <p:cNvSpPr/>
          <p:nvPr/>
        </p:nvSpPr>
        <p:spPr>
          <a:xfrm>
            <a:off x="7620000" y="-495300"/>
            <a:ext cx="9362481" cy="10971968"/>
          </a:xfrm>
          <a:custGeom>
            <a:avLst/>
            <a:ahLst/>
            <a:rect l="l" t="t" r="r" b="b"/>
            <a:pathLst>
              <a:path w="9362481" h="10895768">
                <a:moveTo>
                  <a:pt x="0" y="0"/>
                </a:moveTo>
                <a:lnTo>
                  <a:pt x="9362480" y="0"/>
                </a:lnTo>
                <a:lnTo>
                  <a:pt x="9362480" y="10895768"/>
                </a:lnTo>
                <a:lnTo>
                  <a:pt x="0" y="1089576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t="-2326" b="-54"/>
            </a:stretch>
          </a:blipFill>
        </p:spPr>
      </p:sp>
      <p:sp>
        <p:nvSpPr>
          <p:cNvPr id="1048624" name="Freeform 3"/>
          <p:cNvSpPr/>
          <p:nvPr/>
        </p:nvSpPr>
        <p:spPr>
          <a:xfrm>
            <a:off x="1507618" y="4657976"/>
            <a:ext cx="3918757" cy="5103102"/>
          </a:xfrm>
          <a:custGeom>
            <a:avLst/>
            <a:ahLst/>
            <a:rect l="l" t="t" r="r" b="b"/>
            <a:pathLst>
              <a:path w="3918757" h="5103102">
                <a:moveTo>
                  <a:pt x="0" y="0"/>
                </a:moveTo>
                <a:lnTo>
                  <a:pt x="3918757" y="0"/>
                </a:lnTo>
                <a:lnTo>
                  <a:pt x="3918757" y="5103103"/>
                </a:lnTo>
                <a:lnTo>
                  <a:pt x="0" y="510310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25" name="TextBox 4"/>
          <p:cNvSpPr txBox="1"/>
          <p:nvPr/>
        </p:nvSpPr>
        <p:spPr>
          <a:xfrm>
            <a:off x="-261391" y="1066800"/>
            <a:ext cx="7456775" cy="1606391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5704"/>
              </a:lnSpc>
            </a:pPr>
            <a:r>
              <a:rPr sz="613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ASSESSMENT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"/>
          <p:cNvGrpSpPr/>
          <p:nvPr/>
        </p:nvGrpSpPr>
        <p:grpSpPr>
          <a:xfrm>
            <a:off x="1471759" y="2810195"/>
            <a:ext cx="3432494" cy="7167087"/>
            <a:chOff x="0" y="0"/>
            <a:chExt cx="967159" cy="2019439"/>
          </a:xfrm>
        </p:grpSpPr>
        <p:sp>
          <p:nvSpPr>
            <p:cNvPr id="1048626" name="Freeform 3"/>
            <p:cNvSpPr/>
            <p:nvPr/>
          </p:nvSpPr>
          <p:spPr>
            <a:xfrm>
              <a:off x="0" y="0"/>
              <a:ext cx="967159" cy="2019439"/>
            </a:xfrm>
            <a:custGeom>
              <a:avLst/>
              <a:ahLst/>
              <a:rect l="l" t="t" r="r" b="b"/>
              <a:pathLst>
                <a:path w="967159" h="2019439">
                  <a:moveTo>
                    <a:pt x="115029" y="0"/>
                  </a:moveTo>
                  <a:lnTo>
                    <a:pt x="852130" y="0"/>
                  </a:lnTo>
                  <a:cubicBezTo>
                    <a:pt x="882637" y="0"/>
                    <a:pt x="911896" y="12119"/>
                    <a:pt x="933468" y="33691"/>
                  </a:cubicBezTo>
                  <a:cubicBezTo>
                    <a:pt x="955040" y="55264"/>
                    <a:pt x="967159" y="84522"/>
                    <a:pt x="967159" y="115029"/>
                  </a:cubicBezTo>
                  <a:lnTo>
                    <a:pt x="967159" y="1904410"/>
                  </a:lnTo>
                  <a:cubicBezTo>
                    <a:pt x="967159" y="1934918"/>
                    <a:pt x="955040" y="1964176"/>
                    <a:pt x="933468" y="1985748"/>
                  </a:cubicBezTo>
                  <a:cubicBezTo>
                    <a:pt x="911896" y="2007320"/>
                    <a:pt x="882637" y="2019439"/>
                    <a:pt x="852130" y="2019439"/>
                  </a:cubicBezTo>
                  <a:lnTo>
                    <a:pt x="115029" y="2019439"/>
                  </a:lnTo>
                  <a:cubicBezTo>
                    <a:pt x="84522" y="2019439"/>
                    <a:pt x="55264" y="2007320"/>
                    <a:pt x="33691" y="1985748"/>
                  </a:cubicBezTo>
                  <a:cubicBezTo>
                    <a:pt x="12119" y="1964176"/>
                    <a:pt x="0" y="1934918"/>
                    <a:pt x="0" y="1904410"/>
                  </a:cubicBezTo>
                  <a:lnTo>
                    <a:pt x="0" y="115029"/>
                  </a:lnTo>
                  <a:cubicBezTo>
                    <a:pt x="0" y="84522"/>
                    <a:pt x="12119" y="55264"/>
                    <a:pt x="33691" y="33691"/>
                  </a:cubicBezTo>
                  <a:cubicBezTo>
                    <a:pt x="55264" y="12119"/>
                    <a:pt x="84522" y="0"/>
                    <a:pt x="115029" y="0"/>
                  </a:cubicBezTo>
                  <a:close/>
                </a:path>
              </a:pathLst>
            </a:custGeom>
            <a:solidFill>
              <a:srgbClr val="F8D4DE"/>
            </a:solidFill>
          </p:spPr>
        </p:sp>
        <p:sp>
          <p:nvSpPr>
            <p:cNvPr id="1048627" name="TextBox 4"/>
            <p:cNvSpPr txBox="1"/>
            <p:nvPr/>
          </p:nvSpPr>
          <p:spPr>
            <a:xfrm>
              <a:off x="0" y="-38100"/>
              <a:ext cx="967159" cy="2057539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48" name="Group 5"/>
          <p:cNvGrpSpPr/>
          <p:nvPr/>
        </p:nvGrpSpPr>
        <p:grpSpPr>
          <a:xfrm>
            <a:off x="4904254" y="2759951"/>
            <a:ext cx="3837306" cy="7267575"/>
            <a:chOff x="0" y="0"/>
            <a:chExt cx="1081221" cy="2047753"/>
          </a:xfrm>
        </p:grpSpPr>
        <p:sp>
          <p:nvSpPr>
            <p:cNvPr id="1048628" name="Freeform 6"/>
            <p:cNvSpPr/>
            <p:nvPr/>
          </p:nvSpPr>
          <p:spPr>
            <a:xfrm>
              <a:off x="0" y="0"/>
              <a:ext cx="1081221" cy="2047753"/>
            </a:xfrm>
            <a:custGeom>
              <a:avLst/>
              <a:ahLst/>
              <a:rect l="l" t="t" r="r" b="b"/>
              <a:pathLst>
                <a:path w="1081221" h="2047753">
                  <a:moveTo>
                    <a:pt x="102895" y="0"/>
                  </a:moveTo>
                  <a:lnTo>
                    <a:pt x="978327" y="0"/>
                  </a:lnTo>
                  <a:cubicBezTo>
                    <a:pt x="1035154" y="0"/>
                    <a:pt x="1081221" y="46067"/>
                    <a:pt x="1081221" y="102895"/>
                  </a:cubicBezTo>
                  <a:lnTo>
                    <a:pt x="1081221" y="1944859"/>
                  </a:lnTo>
                  <a:cubicBezTo>
                    <a:pt x="1081221" y="1972148"/>
                    <a:pt x="1070381" y="1998320"/>
                    <a:pt x="1051084" y="2017616"/>
                  </a:cubicBezTo>
                  <a:cubicBezTo>
                    <a:pt x="1031788" y="2036913"/>
                    <a:pt x="1005616" y="2047753"/>
                    <a:pt x="978327" y="2047753"/>
                  </a:cubicBezTo>
                  <a:lnTo>
                    <a:pt x="102895" y="2047753"/>
                  </a:lnTo>
                  <a:cubicBezTo>
                    <a:pt x="46067" y="2047753"/>
                    <a:pt x="0" y="2001686"/>
                    <a:pt x="0" y="1944859"/>
                  </a:cubicBezTo>
                  <a:lnTo>
                    <a:pt x="0" y="102895"/>
                  </a:lnTo>
                  <a:cubicBezTo>
                    <a:pt x="0" y="46067"/>
                    <a:pt x="46067" y="0"/>
                    <a:pt x="102895" y="0"/>
                  </a:cubicBezTo>
                  <a:close/>
                </a:path>
              </a:pathLst>
            </a:custGeom>
            <a:solidFill>
              <a:srgbClr val="F9A8C1"/>
            </a:solidFill>
          </p:spPr>
        </p:sp>
        <p:sp>
          <p:nvSpPr>
            <p:cNvPr id="1048629" name="TextBox 7"/>
            <p:cNvSpPr txBox="1"/>
            <p:nvPr/>
          </p:nvSpPr>
          <p:spPr>
            <a:xfrm>
              <a:off x="0" y="-38100"/>
              <a:ext cx="1081221" cy="208585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id="4194304" name="Table 8"/>
          <p:cNvGraphicFramePr>
            <a:graphicFrameLocks noGrp="1"/>
          </p:cNvGraphicFramePr>
          <p:nvPr/>
        </p:nvGraphicFramePr>
        <p:xfrm>
          <a:off x="1564769" y="2709707"/>
          <a:ext cx="7176790" cy="7267576"/>
        </p:xfrm>
        <a:graphic>
          <a:graphicData uri="http://schemas.openxmlformats.org/drawingml/2006/table">
            <a:tbl>
              <a:tblPr/>
              <a:tblGrid>
                <a:gridCol w="3374432"/>
                <a:gridCol w="3802358"/>
              </a:tblGrid>
              <a:tr h="947945"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b="1" sz="2499" lang="en-US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MODULE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b="1" sz="2499" lang="en-US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PURPOSE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8404"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Baseline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Normal decision making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8404"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Stress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Behaviour under pressure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9322"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Failure &amp; Recovery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endParaRPr sz="1100" lang="en-US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Resilience after setbacks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sz="2499" lang="en-US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501"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Adaptive Challenge</a:t>
                      </a: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3499"/>
                        </a:lnSpc>
                      </a:pPr>
                      <a:r>
                        <a:rPr sz="2499" lang="en-US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Cognitive flexibility</a:t>
                      </a:r>
                      <a:endParaRPr sz="1100" lang="en-US"/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sz="1100" lang="en-US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2F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30" name="TextBox 9"/>
          <p:cNvSpPr txBox="1"/>
          <p:nvPr/>
        </p:nvSpPr>
        <p:spPr>
          <a:xfrm>
            <a:off x="1028700" y="901434"/>
            <a:ext cx="12597709" cy="1141843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7201"/>
              </a:lnSpc>
            </a:pPr>
            <a:r>
              <a:rPr sz="7744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FOUR ASSESSMENT MODULES</a:t>
            </a:r>
          </a:p>
        </p:txBody>
      </p:sp>
      <p:sp>
        <p:nvSpPr>
          <p:cNvPr id="1048631" name="Freeform 10"/>
          <p:cNvSpPr/>
          <p:nvPr/>
        </p:nvSpPr>
        <p:spPr>
          <a:xfrm>
            <a:off x="13827898" y="871343"/>
            <a:ext cx="3529005" cy="2214450"/>
          </a:xfrm>
          <a:custGeom>
            <a:avLst/>
            <a:ahLst/>
            <a:rect l="l" t="t" r="r" b="b"/>
            <a:pathLst>
              <a:path w="3529005" h="2214450">
                <a:moveTo>
                  <a:pt x="0" y="0"/>
                </a:moveTo>
                <a:lnTo>
                  <a:pt x="3529005" y="0"/>
                </a:lnTo>
                <a:lnTo>
                  <a:pt x="3529005" y="2214450"/>
                </a:lnTo>
                <a:lnTo>
                  <a:pt x="0" y="221445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32" name="Freeform 11"/>
          <p:cNvSpPr/>
          <p:nvPr/>
        </p:nvSpPr>
        <p:spPr>
          <a:xfrm>
            <a:off x="9144000" y="3245494"/>
            <a:ext cx="8619527" cy="5433092"/>
          </a:xfrm>
          <a:custGeom>
            <a:avLst/>
            <a:ahLst/>
            <a:rect l="l" t="t" r="r" b="b"/>
            <a:pathLst>
              <a:path w="8619527" h="5433092">
                <a:moveTo>
                  <a:pt x="0" y="0"/>
                </a:moveTo>
                <a:lnTo>
                  <a:pt x="8619527" y="0"/>
                </a:lnTo>
                <a:lnTo>
                  <a:pt x="8619527" y="5433092"/>
                </a:lnTo>
                <a:lnTo>
                  <a:pt x="0" y="5433092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Freeform 2"/>
          <p:cNvSpPr/>
          <p:nvPr/>
        </p:nvSpPr>
        <p:spPr>
          <a:xfrm>
            <a:off x="2207555" y="1787363"/>
            <a:ext cx="13872891" cy="8300203"/>
          </a:xfrm>
          <a:custGeom>
            <a:avLst/>
            <a:ahLst/>
            <a:rect l="l" t="t" r="r" b="b"/>
            <a:pathLst>
              <a:path w="13872891" h="8300203">
                <a:moveTo>
                  <a:pt x="0" y="0"/>
                </a:moveTo>
                <a:lnTo>
                  <a:pt x="13872890" y="0"/>
                </a:lnTo>
                <a:lnTo>
                  <a:pt x="13872890" y="8300203"/>
                </a:lnTo>
                <a:lnTo>
                  <a:pt x="0" y="830020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34" name="TextBox 3"/>
          <p:cNvSpPr txBox="1"/>
          <p:nvPr/>
        </p:nvSpPr>
        <p:spPr>
          <a:xfrm>
            <a:off x="2845145" y="476828"/>
            <a:ext cx="12597709" cy="1141843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7201"/>
              </a:lnSpc>
            </a:pPr>
            <a:r>
              <a:rPr sz="7744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BEHAVIOURAL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>
            <a:off x="6290530" y="637760"/>
            <a:ext cx="11137981" cy="1082172"/>
            <a:chOff x="0" y="0"/>
            <a:chExt cx="4359515" cy="423573"/>
          </a:xfrm>
        </p:grpSpPr>
        <p:sp>
          <p:nvSpPr>
            <p:cNvPr id="1048635" name="Freeform 3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F8D4DE"/>
            </a:solidFill>
          </p:spPr>
        </p:sp>
        <p:sp>
          <p:nvSpPr>
            <p:cNvPr id="1048636" name="TextBox 4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2" name="Group 5"/>
          <p:cNvGrpSpPr/>
          <p:nvPr/>
        </p:nvGrpSpPr>
        <p:grpSpPr>
          <a:xfrm>
            <a:off x="6290530" y="1848117"/>
            <a:ext cx="11137981" cy="1082172"/>
            <a:chOff x="0" y="0"/>
            <a:chExt cx="4359515" cy="423573"/>
          </a:xfrm>
        </p:grpSpPr>
        <p:sp>
          <p:nvSpPr>
            <p:cNvPr id="1048637" name="Freeform 6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EBB9C6"/>
            </a:solidFill>
          </p:spPr>
        </p:sp>
        <p:sp>
          <p:nvSpPr>
            <p:cNvPr id="1048638" name="TextBox 7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3" name="Group 8"/>
          <p:cNvGrpSpPr/>
          <p:nvPr/>
        </p:nvGrpSpPr>
        <p:grpSpPr>
          <a:xfrm>
            <a:off x="6290530" y="3054115"/>
            <a:ext cx="11137981" cy="1082172"/>
            <a:chOff x="0" y="0"/>
            <a:chExt cx="4359515" cy="423573"/>
          </a:xfrm>
        </p:grpSpPr>
        <p:sp>
          <p:nvSpPr>
            <p:cNvPr id="1048639" name="Freeform 9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EFB0C0"/>
            </a:solidFill>
          </p:spPr>
        </p:sp>
        <p:sp>
          <p:nvSpPr>
            <p:cNvPr id="1048640" name="TextBox 10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4" name="Group 11"/>
          <p:cNvGrpSpPr/>
          <p:nvPr/>
        </p:nvGrpSpPr>
        <p:grpSpPr>
          <a:xfrm>
            <a:off x="6290530" y="4281001"/>
            <a:ext cx="11137981" cy="1082172"/>
            <a:chOff x="0" y="0"/>
            <a:chExt cx="4359515" cy="423573"/>
          </a:xfrm>
        </p:grpSpPr>
        <p:sp>
          <p:nvSpPr>
            <p:cNvPr id="1048641" name="Freeform 12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EFA4B7"/>
            </a:solidFill>
          </p:spPr>
        </p:sp>
        <p:sp>
          <p:nvSpPr>
            <p:cNvPr id="1048642" name="TextBox 13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5" name="Group 14"/>
          <p:cNvGrpSpPr/>
          <p:nvPr/>
        </p:nvGrpSpPr>
        <p:grpSpPr>
          <a:xfrm>
            <a:off x="6290530" y="5506049"/>
            <a:ext cx="11137981" cy="1082172"/>
            <a:chOff x="0" y="0"/>
            <a:chExt cx="4359515" cy="423573"/>
          </a:xfrm>
        </p:grpSpPr>
        <p:sp>
          <p:nvSpPr>
            <p:cNvPr id="1048643" name="Freeform 15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E896AB"/>
            </a:solidFill>
          </p:spPr>
        </p:sp>
        <p:sp>
          <p:nvSpPr>
            <p:cNvPr id="1048644" name="TextBox 16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6" name="Group 17"/>
          <p:cNvGrpSpPr/>
          <p:nvPr/>
        </p:nvGrpSpPr>
        <p:grpSpPr>
          <a:xfrm>
            <a:off x="6290530" y="6712046"/>
            <a:ext cx="11137981" cy="1082172"/>
            <a:chOff x="0" y="0"/>
            <a:chExt cx="4359515" cy="423573"/>
          </a:xfrm>
        </p:grpSpPr>
        <p:sp>
          <p:nvSpPr>
            <p:cNvPr id="1048645" name="Freeform 18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EB88A1"/>
            </a:solidFill>
          </p:spPr>
        </p:sp>
        <p:sp>
          <p:nvSpPr>
            <p:cNvPr id="1048646" name="TextBox 19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47" name="TextBox 20"/>
          <p:cNvSpPr txBox="1"/>
          <p:nvPr/>
        </p:nvSpPr>
        <p:spPr>
          <a:xfrm>
            <a:off x="6707528" y="886202"/>
            <a:ext cx="5974360" cy="61386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958"/>
              </a:lnSpc>
            </a:pPr>
            <a:r>
              <a:rPr sz="4256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RECOVERY &amp; RESILIENCE</a:t>
            </a:r>
          </a:p>
        </p:txBody>
      </p:sp>
      <p:sp>
        <p:nvSpPr>
          <p:cNvPr id="1048648" name="TextBox 21"/>
          <p:cNvSpPr txBox="1"/>
          <p:nvPr/>
        </p:nvSpPr>
        <p:spPr>
          <a:xfrm>
            <a:off x="6707528" y="2096559"/>
            <a:ext cx="6107096" cy="61386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958"/>
              </a:lnSpc>
            </a:pPr>
            <a:r>
              <a:rPr sz="4256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STRESS TOLERANCE</a:t>
            </a:r>
          </a:p>
        </p:txBody>
      </p:sp>
      <p:sp>
        <p:nvSpPr>
          <p:cNvPr id="1048649" name="TextBox 22"/>
          <p:cNvSpPr txBox="1"/>
          <p:nvPr/>
        </p:nvSpPr>
        <p:spPr>
          <a:xfrm>
            <a:off x="10318453" y="5758922"/>
            <a:ext cx="3259119" cy="44059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2830"/>
              </a:lnSpc>
            </a:pPr>
            <a:r>
              <a:rPr sz="304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FINAL SCORE</a:t>
            </a:r>
          </a:p>
        </p:txBody>
      </p:sp>
      <p:sp>
        <p:nvSpPr>
          <p:cNvPr id="1048650" name="TextBox 23"/>
          <p:cNvSpPr txBox="1"/>
          <p:nvPr/>
        </p:nvSpPr>
        <p:spPr>
          <a:xfrm>
            <a:off x="7025383" y="4558874"/>
            <a:ext cx="5471388" cy="545476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476"/>
              </a:lnSpc>
            </a:pPr>
            <a:r>
              <a:rPr sz="3738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DECISION STABILITY</a:t>
            </a:r>
          </a:p>
        </p:txBody>
      </p:sp>
      <p:sp>
        <p:nvSpPr>
          <p:cNvPr id="1048651" name="TextBox 24"/>
          <p:cNvSpPr txBox="1"/>
          <p:nvPr/>
        </p:nvSpPr>
        <p:spPr>
          <a:xfrm>
            <a:off x="6464179" y="3262404"/>
            <a:ext cx="7191108" cy="61386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958"/>
              </a:lnSpc>
            </a:pPr>
            <a:r>
              <a:rPr sz="4256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ADAPTATION &amp; PERSISTENCE</a:t>
            </a:r>
          </a:p>
        </p:txBody>
      </p:sp>
      <p:sp>
        <p:nvSpPr>
          <p:cNvPr id="1048652" name="TextBox 25"/>
          <p:cNvSpPr txBox="1"/>
          <p:nvPr/>
        </p:nvSpPr>
        <p:spPr>
          <a:xfrm>
            <a:off x="11356891" y="973670"/>
            <a:ext cx="6071621" cy="526396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879"/>
              </a:lnSpc>
              <a:spcBef>
                <a:spcPct val="0"/>
              </a:spcBef>
            </a:pPr>
            <a:r>
              <a:rPr sz="39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30%</a:t>
            </a:r>
          </a:p>
        </p:txBody>
      </p:sp>
      <p:sp>
        <p:nvSpPr>
          <p:cNvPr id="1048653" name="TextBox 26"/>
          <p:cNvSpPr txBox="1"/>
          <p:nvPr/>
        </p:nvSpPr>
        <p:spPr>
          <a:xfrm>
            <a:off x="11356891" y="2144184"/>
            <a:ext cx="6071621" cy="526396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879"/>
              </a:lnSpc>
              <a:spcBef>
                <a:spcPct val="0"/>
              </a:spcBef>
            </a:pPr>
            <a:r>
              <a:rPr sz="39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25%</a:t>
            </a:r>
          </a:p>
        </p:txBody>
      </p:sp>
      <p:sp>
        <p:nvSpPr>
          <p:cNvPr id="1048654" name="TextBox 27"/>
          <p:cNvSpPr txBox="1"/>
          <p:nvPr/>
        </p:nvSpPr>
        <p:spPr>
          <a:xfrm>
            <a:off x="11685435" y="3394423"/>
            <a:ext cx="6071621" cy="52641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879"/>
              </a:lnSpc>
              <a:spcBef>
                <a:spcPct val="0"/>
              </a:spcBef>
            </a:pPr>
            <a:r>
              <a:rPr sz="39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25%</a:t>
            </a:r>
          </a:p>
        </p:txBody>
      </p:sp>
      <p:sp>
        <p:nvSpPr>
          <p:cNvPr id="1048655" name="TextBox 28"/>
          <p:cNvSpPr txBox="1"/>
          <p:nvPr/>
        </p:nvSpPr>
        <p:spPr>
          <a:xfrm>
            <a:off x="11594049" y="4604767"/>
            <a:ext cx="6071621" cy="52641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879"/>
              </a:lnSpc>
              <a:spcBef>
                <a:spcPct val="0"/>
              </a:spcBef>
            </a:pPr>
            <a:r>
              <a:rPr sz="39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20%</a:t>
            </a:r>
          </a:p>
        </p:txBody>
      </p:sp>
      <p:sp>
        <p:nvSpPr>
          <p:cNvPr id="1048656" name="TextBox 29"/>
          <p:cNvSpPr txBox="1"/>
          <p:nvPr/>
        </p:nvSpPr>
        <p:spPr>
          <a:xfrm>
            <a:off x="193559" y="2309151"/>
            <a:ext cx="6513969" cy="2056243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7201"/>
              </a:lnSpc>
            </a:pPr>
            <a:r>
              <a:rPr sz="7744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BEHAVIOURAL SCORING</a:t>
            </a:r>
          </a:p>
        </p:txBody>
      </p:sp>
      <p:sp>
        <p:nvSpPr>
          <p:cNvPr id="1048657" name="TextBox 30"/>
          <p:cNvSpPr txBox="1"/>
          <p:nvPr/>
        </p:nvSpPr>
        <p:spPr>
          <a:xfrm>
            <a:off x="10396168" y="7007321"/>
            <a:ext cx="3259119" cy="44059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2830"/>
              </a:lnSpc>
            </a:pPr>
            <a:r>
              <a:rPr sz="304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STUDENT RESULTS</a:t>
            </a:r>
          </a:p>
        </p:txBody>
      </p:sp>
      <p:grpSp>
        <p:nvGrpSpPr>
          <p:cNvPr id="57" name="Group 31"/>
          <p:cNvGrpSpPr/>
          <p:nvPr/>
        </p:nvGrpSpPr>
        <p:grpSpPr>
          <a:xfrm>
            <a:off x="6290530" y="7937093"/>
            <a:ext cx="11137981" cy="1082172"/>
            <a:chOff x="0" y="0"/>
            <a:chExt cx="4359515" cy="423573"/>
          </a:xfrm>
        </p:grpSpPr>
        <p:sp>
          <p:nvSpPr>
            <p:cNvPr id="1048658" name="Freeform 32"/>
            <p:cNvSpPr/>
            <p:nvPr/>
          </p:nvSpPr>
          <p:spPr>
            <a:xfrm>
              <a:off x="0" y="0"/>
              <a:ext cx="4359515" cy="423573"/>
            </a:xfrm>
            <a:custGeom>
              <a:avLst/>
              <a:ahLst/>
              <a:rect l="l" t="t" r="r" b="b"/>
              <a:pathLst>
                <a:path w="4359515" h="423573">
                  <a:moveTo>
                    <a:pt x="20853" y="0"/>
                  </a:moveTo>
                  <a:lnTo>
                    <a:pt x="4338663" y="0"/>
                  </a:lnTo>
                  <a:cubicBezTo>
                    <a:pt x="4350179" y="0"/>
                    <a:pt x="4359515" y="9336"/>
                    <a:pt x="4359515" y="20853"/>
                  </a:cubicBezTo>
                  <a:lnTo>
                    <a:pt x="4359515" y="402720"/>
                  </a:lnTo>
                  <a:cubicBezTo>
                    <a:pt x="4359515" y="414237"/>
                    <a:pt x="4350179" y="423573"/>
                    <a:pt x="4338663" y="423573"/>
                  </a:cubicBezTo>
                  <a:lnTo>
                    <a:pt x="20853" y="423573"/>
                  </a:lnTo>
                  <a:cubicBezTo>
                    <a:pt x="9336" y="423573"/>
                    <a:pt x="0" y="414237"/>
                    <a:pt x="0" y="402720"/>
                  </a:cubicBezTo>
                  <a:lnTo>
                    <a:pt x="0" y="20853"/>
                  </a:lnTo>
                  <a:cubicBezTo>
                    <a:pt x="0" y="9336"/>
                    <a:pt x="9336" y="0"/>
                    <a:pt x="20853" y="0"/>
                  </a:cubicBezTo>
                  <a:close/>
                </a:path>
              </a:pathLst>
            </a:custGeom>
            <a:solidFill>
              <a:srgbClr val="E36C8B"/>
            </a:solidFill>
          </p:spPr>
        </p:sp>
        <p:sp>
          <p:nvSpPr>
            <p:cNvPr id="1048659" name="TextBox 33"/>
            <p:cNvSpPr txBox="1"/>
            <p:nvPr/>
          </p:nvSpPr>
          <p:spPr>
            <a:xfrm>
              <a:off x="0" y="-19050"/>
              <a:ext cx="4359515" cy="442623"/>
            </a:xfrm>
            <a:prstGeom prst="rect"/>
          </p:spPr>
          <p:txBody>
            <a:bodyPr anchor="ctr" bIns="29717" lIns="29717" rIns="29717" rtlCol="0" tIns="29717"/>
            <a:p>
              <a:pPr algn="ctr">
                <a:lnSpc>
                  <a:spcPts val="1556"/>
                </a:lnSpc>
                <a:spcBef>
                  <a:spcPct val="0"/>
                </a:spcBef>
              </a:pPr>
            </a:p>
          </p:txBody>
        </p:sp>
      </p:grpSp>
      <p:sp>
        <p:nvSpPr>
          <p:cNvPr id="1048660" name="TextBox 34"/>
          <p:cNvSpPr txBox="1"/>
          <p:nvPr/>
        </p:nvSpPr>
        <p:spPr>
          <a:xfrm>
            <a:off x="10371587" y="8287978"/>
            <a:ext cx="3259119" cy="440595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2830"/>
              </a:lnSpc>
            </a:pPr>
            <a:r>
              <a:rPr sz="304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ADMIN ANALYTICS</a:t>
            </a:r>
          </a:p>
        </p:txBody>
      </p:sp>
      <p:sp>
        <p:nvSpPr>
          <p:cNvPr id="1048661" name="Freeform 35"/>
          <p:cNvSpPr/>
          <p:nvPr/>
        </p:nvSpPr>
        <p:spPr>
          <a:xfrm>
            <a:off x="1651172" y="5021323"/>
            <a:ext cx="3295072" cy="4333246"/>
          </a:xfrm>
          <a:custGeom>
            <a:avLst/>
            <a:ahLst/>
            <a:rect l="l" t="t" r="r" b="b"/>
            <a:pathLst>
              <a:path w="3295072" h="4333246">
                <a:moveTo>
                  <a:pt x="0" y="0"/>
                </a:moveTo>
                <a:lnTo>
                  <a:pt x="3295072" y="0"/>
                </a:lnTo>
                <a:lnTo>
                  <a:pt x="3295072" y="4333246"/>
                </a:lnTo>
                <a:lnTo>
                  <a:pt x="0" y="433324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Freeform 2"/>
          <p:cNvSpPr/>
          <p:nvPr/>
        </p:nvSpPr>
        <p:spPr>
          <a:xfrm>
            <a:off x="1592919" y="1618672"/>
            <a:ext cx="6219069" cy="8192015"/>
          </a:xfrm>
          <a:custGeom>
            <a:avLst/>
            <a:ahLst/>
            <a:rect l="l" t="t" r="r" b="b"/>
            <a:pathLst>
              <a:path w="6219069" h="8192015">
                <a:moveTo>
                  <a:pt x="0" y="0"/>
                </a:moveTo>
                <a:lnTo>
                  <a:pt x="6219068" y="0"/>
                </a:lnTo>
                <a:lnTo>
                  <a:pt x="6219068" y="8192014"/>
                </a:lnTo>
                <a:lnTo>
                  <a:pt x="0" y="819201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63" name="TextBox 3"/>
          <p:cNvSpPr txBox="1"/>
          <p:nvPr/>
        </p:nvSpPr>
        <p:spPr>
          <a:xfrm>
            <a:off x="591767" y="476828"/>
            <a:ext cx="8814729" cy="1141843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7201"/>
              </a:lnSpc>
            </a:pPr>
            <a:r>
              <a:rPr sz="7744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MVP ARCHITECTURE</a:t>
            </a:r>
          </a:p>
        </p:txBody>
      </p:sp>
      <p:sp>
        <p:nvSpPr>
          <p:cNvPr id="1048664" name="TextBox 4"/>
          <p:cNvSpPr txBox="1"/>
          <p:nvPr/>
        </p:nvSpPr>
        <p:spPr>
          <a:xfrm>
            <a:off x="8145804" y="2708620"/>
            <a:ext cx="6071621" cy="1012190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879"/>
              </a:lnSpc>
              <a:spcBef>
                <a:spcPct val="0"/>
              </a:spcBef>
            </a:pPr>
            <a:r>
              <a:rPr sz="3999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Developed using MERN Stack.</a:t>
            </a:r>
          </a:p>
        </p:txBody>
      </p:sp>
      <p:sp>
        <p:nvSpPr>
          <p:cNvPr id="1048665" name="Freeform 5"/>
          <p:cNvSpPr/>
          <p:nvPr/>
        </p:nvSpPr>
        <p:spPr>
          <a:xfrm>
            <a:off x="10750646" y="4955596"/>
            <a:ext cx="4252235" cy="4487847"/>
          </a:xfrm>
          <a:custGeom>
            <a:avLst/>
            <a:ahLst/>
            <a:rect l="l" t="t" r="r" b="b"/>
            <a:pathLst>
              <a:path w="4252235" h="4487847">
                <a:moveTo>
                  <a:pt x="0" y="0"/>
                </a:moveTo>
                <a:lnTo>
                  <a:pt x="4252235" y="0"/>
                </a:lnTo>
                <a:lnTo>
                  <a:pt x="4252235" y="4487847"/>
                </a:lnTo>
                <a:lnTo>
                  <a:pt x="0" y="448784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Freeform 2"/>
          <p:cNvSpPr/>
          <p:nvPr/>
        </p:nvSpPr>
        <p:spPr>
          <a:xfrm>
            <a:off x="1028700" y="1826747"/>
            <a:ext cx="4534174" cy="5061799"/>
          </a:xfrm>
          <a:custGeom>
            <a:avLst/>
            <a:ahLst/>
            <a:rect l="l" t="t" r="r" b="b"/>
            <a:pathLst>
              <a:path w="4534174" h="5061799">
                <a:moveTo>
                  <a:pt x="0" y="0"/>
                </a:moveTo>
                <a:lnTo>
                  <a:pt x="4534174" y="0"/>
                </a:lnTo>
                <a:lnTo>
                  <a:pt x="4534174" y="5061799"/>
                </a:lnTo>
                <a:lnTo>
                  <a:pt x="0" y="506179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 r="-3263"/>
            </a:stretch>
          </a:blipFill>
        </p:spPr>
      </p:sp>
      <p:sp>
        <p:nvSpPr>
          <p:cNvPr id="1048667" name="Freeform 3"/>
          <p:cNvSpPr/>
          <p:nvPr/>
        </p:nvSpPr>
        <p:spPr>
          <a:xfrm>
            <a:off x="6485898" y="1826747"/>
            <a:ext cx="4710099" cy="5075014"/>
          </a:xfrm>
          <a:custGeom>
            <a:avLst/>
            <a:ahLst/>
            <a:rect l="l" t="t" r="r" b="b"/>
            <a:pathLst>
              <a:path w="4710099" h="5075014">
                <a:moveTo>
                  <a:pt x="0" y="0"/>
                </a:moveTo>
                <a:lnTo>
                  <a:pt x="4710099" y="0"/>
                </a:lnTo>
                <a:lnTo>
                  <a:pt x="4710099" y="5075013"/>
                </a:lnTo>
                <a:lnTo>
                  <a:pt x="0" y="507501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68" name="TextBox 4"/>
          <p:cNvSpPr txBox="1"/>
          <p:nvPr/>
        </p:nvSpPr>
        <p:spPr>
          <a:xfrm>
            <a:off x="774392" y="57874"/>
            <a:ext cx="5235416" cy="806286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dirty="0" sz="4256" lang="en-US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APPLICATION SCREENS</a:t>
            </a:r>
          </a:p>
        </p:txBody>
      </p:sp>
      <p:sp>
        <p:nvSpPr>
          <p:cNvPr id="1048669" name="TextBox 4"/>
          <p:cNvSpPr txBox="1"/>
          <p:nvPr/>
        </p:nvSpPr>
        <p:spPr>
          <a:xfrm>
            <a:off x="4960482" y="7228258"/>
            <a:ext cx="1859805" cy="52322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Login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Freeform 2"/>
          <p:cNvSpPr/>
          <p:nvPr/>
        </p:nvSpPr>
        <p:spPr>
          <a:xfrm>
            <a:off x="12180838" y="1822738"/>
            <a:ext cx="5511573" cy="6619878"/>
          </a:xfrm>
          <a:custGeom>
            <a:avLst/>
            <a:ahLst/>
            <a:rect l="l" t="t" r="r" b="b"/>
            <a:pathLst>
              <a:path w="5511573" h="6619878">
                <a:moveTo>
                  <a:pt x="0" y="0"/>
                </a:moveTo>
                <a:lnTo>
                  <a:pt x="5511573" y="0"/>
                </a:lnTo>
                <a:lnTo>
                  <a:pt x="5511573" y="6619879"/>
                </a:lnTo>
                <a:lnTo>
                  <a:pt x="0" y="661987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71" name="Freeform 3"/>
          <p:cNvSpPr/>
          <p:nvPr/>
        </p:nvSpPr>
        <p:spPr>
          <a:xfrm>
            <a:off x="970655" y="1142825"/>
            <a:ext cx="10760549" cy="5386991"/>
          </a:xfrm>
          <a:custGeom>
            <a:avLst/>
            <a:ahLst/>
            <a:rect l="l" t="t" r="r" b="b"/>
            <a:pathLst>
              <a:path w="10760549" h="5386991">
                <a:moveTo>
                  <a:pt x="0" y="0"/>
                </a:moveTo>
                <a:lnTo>
                  <a:pt x="10760549" y="0"/>
                </a:lnTo>
                <a:lnTo>
                  <a:pt x="10760549" y="5386992"/>
                </a:lnTo>
                <a:lnTo>
                  <a:pt x="0" y="5386992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72" name="Freeform 4"/>
          <p:cNvSpPr/>
          <p:nvPr/>
        </p:nvSpPr>
        <p:spPr>
          <a:xfrm>
            <a:off x="719265" y="6933498"/>
            <a:ext cx="11263330" cy="2658603"/>
          </a:xfrm>
          <a:custGeom>
            <a:avLst/>
            <a:ahLst/>
            <a:rect l="l" t="t" r="r" b="b"/>
            <a:pathLst>
              <a:path w="11263330" h="2658603">
                <a:moveTo>
                  <a:pt x="0" y="0"/>
                </a:moveTo>
                <a:lnTo>
                  <a:pt x="11263329" y="0"/>
                </a:lnTo>
                <a:lnTo>
                  <a:pt x="11263329" y="2658603"/>
                </a:lnTo>
                <a:lnTo>
                  <a:pt x="0" y="265860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3"/>
            <a:stretch>
              <a:fillRect/>
            </a:stretch>
          </a:blipFill>
        </p:spPr>
      </p:sp>
      <p:sp>
        <p:nvSpPr>
          <p:cNvPr id="1048673" name="TextBox 5"/>
          <p:cNvSpPr txBox="1"/>
          <p:nvPr/>
        </p:nvSpPr>
        <p:spPr>
          <a:xfrm>
            <a:off x="5029200" y="549876"/>
            <a:ext cx="9144000" cy="523220"/>
          </a:xfrm>
          <a:prstGeom prst="rect"/>
          <a:noFill/>
        </p:spPr>
        <p:txBody>
          <a:bodyPr wrap="squar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Radar Map</a:t>
            </a:r>
          </a:p>
        </p:txBody>
      </p:sp>
      <p:sp>
        <p:nvSpPr>
          <p:cNvPr id="1048674" name="TextBox 7"/>
          <p:cNvSpPr txBox="1"/>
          <p:nvPr/>
        </p:nvSpPr>
        <p:spPr>
          <a:xfrm>
            <a:off x="13944600" y="8464262"/>
            <a:ext cx="9144000" cy="523220"/>
          </a:xfrm>
          <a:prstGeom prst="rect"/>
          <a:noFill/>
        </p:spPr>
        <p:txBody>
          <a:bodyPr wrap="squar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Incident Feed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Freeform 2"/>
          <p:cNvSpPr/>
          <p:nvPr/>
        </p:nvSpPr>
        <p:spPr>
          <a:xfrm>
            <a:off x="3261671" y="1422727"/>
            <a:ext cx="13081351" cy="6851746"/>
          </a:xfrm>
          <a:custGeom>
            <a:avLst/>
            <a:ahLst/>
            <a:rect l="l" t="t" r="r" b="b"/>
            <a:pathLst>
              <a:path w="13081351" h="6851746">
                <a:moveTo>
                  <a:pt x="0" y="0"/>
                </a:moveTo>
                <a:lnTo>
                  <a:pt x="13081351" y="0"/>
                </a:lnTo>
                <a:lnTo>
                  <a:pt x="13081351" y="6851747"/>
                </a:lnTo>
                <a:lnTo>
                  <a:pt x="0" y="685174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76" name="TextBox 3"/>
          <p:cNvSpPr txBox="1"/>
          <p:nvPr/>
        </p:nvSpPr>
        <p:spPr>
          <a:xfrm>
            <a:off x="8382000" y="8602663"/>
            <a:ext cx="9144000" cy="523220"/>
          </a:xfrm>
          <a:prstGeom prst="rect"/>
          <a:noFill/>
        </p:spPr>
        <p:txBody>
          <a:bodyPr wrap="squar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Results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Freeform 2"/>
          <p:cNvSpPr/>
          <p:nvPr/>
        </p:nvSpPr>
        <p:spPr>
          <a:xfrm>
            <a:off x="2177659" y="1997917"/>
            <a:ext cx="13143077" cy="6339414"/>
          </a:xfrm>
          <a:custGeom>
            <a:avLst/>
            <a:ahLst/>
            <a:rect l="l" t="t" r="r" b="b"/>
            <a:pathLst>
              <a:path w="13143077" h="6339414">
                <a:moveTo>
                  <a:pt x="0" y="0"/>
                </a:moveTo>
                <a:lnTo>
                  <a:pt x="13143077" y="0"/>
                </a:lnTo>
                <a:lnTo>
                  <a:pt x="13143077" y="6339414"/>
                </a:lnTo>
                <a:lnTo>
                  <a:pt x="0" y="633941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78" name="TextBox 3"/>
          <p:cNvSpPr txBox="1"/>
          <p:nvPr/>
        </p:nvSpPr>
        <p:spPr>
          <a:xfrm>
            <a:off x="7391400" y="8496300"/>
            <a:ext cx="9144000" cy="523220"/>
          </a:xfrm>
          <a:prstGeom prst="rect"/>
          <a:noFill/>
        </p:spPr>
        <p:txBody>
          <a:bodyPr wrap="squar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Admin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Freeform 2"/>
          <p:cNvSpPr/>
          <p:nvPr/>
        </p:nvSpPr>
        <p:spPr>
          <a:xfrm>
            <a:off x="825716" y="639691"/>
            <a:ext cx="9018643" cy="4503809"/>
          </a:xfrm>
          <a:custGeom>
            <a:avLst/>
            <a:ahLst/>
            <a:rect l="l" t="t" r="r" b="b"/>
            <a:pathLst>
              <a:path w="9018643" h="4503809">
                <a:moveTo>
                  <a:pt x="0" y="0"/>
                </a:moveTo>
                <a:lnTo>
                  <a:pt x="9018643" y="0"/>
                </a:lnTo>
                <a:lnTo>
                  <a:pt x="9018643" y="4503809"/>
                </a:lnTo>
                <a:lnTo>
                  <a:pt x="0" y="450380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80" name="Freeform 3"/>
          <p:cNvSpPr/>
          <p:nvPr/>
        </p:nvSpPr>
        <p:spPr>
          <a:xfrm>
            <a:off x="8529262" y="5398642"/>
            <a:ext cx="8730038" cy="4064353"/>
          </a:xfrm>
          <a:custGeom>
            <a:avLst/>
            <a:ahLst/>
            <a:rect l="l" t="t" r="r" b="b"/>
            <a:pathLst>
              <a:path w="8730038" h="4064353">
                <a:moveTo>
                  <a:pt x="0" y="0"/>
                </a:moveTo>
                <a:lnTo>
                  <a:pt x="8730038" y="0"/>
                </a:lnTo>
                <a:lnTo>
                  <a:pt x="8730038" y="4064354"/>
                </a:lnTo>
                <a:lnTo>
                  <a:pt x="0" y="406435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81" name="TextBox 4"/>
          <p:cNvSpPr txBox="1"/>
          <p:nvPr/>
        </p:nvSpPr>
        <p:spPr>
          <a:xfrm>
            <a:off x="3429000" y="5143500"/>
            <a:ext cx="9144000" cy="523220"/>
          </a:xfrm>
          <a:prstGeom prst="rect"/>
          <a:noFill/>
        </p:spPr>
        <p:txBody>
          <a:bodyPr wrap="square">
            <a:spAutoFit/>
          </a:bodyPr>
          <a:p>
            <a:r>
              <a:rPr dirty="0" sz="2800" lang="en-US" err="1">
                <a:latin typeface="Core Bandi Face" panose="020B0604020202020204" charset="-127"/>
                <a:ea typeface="Core Bandi Face" panose="020B0604020202020204" charset="-127"/>
              </a:rPr>
              <a:t>Behavioural</a:t>
            </a:r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 Event Logs</a:t>
            </a:r>
          </a:p>
        </p:txBody>
      </p:sp>
      <p:sp>
        <p:nvSpPr>
          <p:cNvPr id="1048682" name="TextBox 5"/>
          <p:cNvSpPr txBox="1"/>
          <p:nvPr/>
        </p:nvSpPr>
        <p:spPr>
          <a:xfrm>
            <a:off x="12120672" y="9462995"/>
            <a:ext cx="1547218" cy="523220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Freeform 2"/>
          <p:cNvSpPr/>
          <p:nvPr/>
        </p:nvSpPr>
        <p:spPr>
          <a:xfrm rot="314369">
            <a:off x="11381620" y="2409992"/>
            <a:ext cx="5253896" cy="1748114"/>
          </a:xfrm>
          <a:custGeom>
            <a:avLst/>
            <a:ahLst/>
            <a:rect l="l" t="t" r="r" b="b"/>
            <a:pathLst>
              <a:path w="5253896" h="1748114">
                <a:moveTo>
                  <a:pt x="0" y="0"/>
                </a:moveTo>
                <a:lnTo>
                  <a:pt x="5253896" y="0"/>
                </a:lnTo>
                <a:lnTo>
                  <a:pt x="5253896" y="1748114"/>
                </a:lnTo>
                <a:lnTo>
                  <a:pt x="0" y="174811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684" name="TextBox 3"/>
          <p:cNvSpPr txBox="1"/>
          <p:nvPr/>
        </p:nvSpPr>
        <p:spPr>
          <a:xfrm rot="345057">
            <a:off x="11939507" y="2830115"/>
            <a:ext cx="4745599" cy="813099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0" marL="0">
              <a:lnSpc>
                <a:spcPts val="6633"/>
              </a:lnSpc>
              <a:spcBef>
                <a:spcPct val="0"/>
              </a:spcBef>
            </a:pPr>
            <a:r>
              <a:rPr sz="4738" lang="en-US">
                <a:solidFill>
                  <a:srgbClr val="000000"/>
                </a:solidFill>
                <a:latin typeface="Gochi Hand"/>
                <a:ea typeface="Gochi Hand"/>
                <a:cs typeface="Gochi Hand"/>
                <a:sym typeface="Gochi Hand"/>
              </a:rPr>
              <a:t>Next Phase</a:t>
            </a:r>
          </a:p>
        </p:txBody>
      </p:sp>
      <p:sp>
        <p:nvSpPr>
          <p:cNvPr id="1048685" name="Freeform 4"/>
          <p:cNvSpPr/>
          <p:nvPr/>
        </p:nvSpPr>
        <p:spPr>
          <a:xfrm rot="312848">
            <a:off x="8476393" y="4496300"/>
            <a:ext cx="9782384" cy="3254866"/>
          </a:xfrm>
          <a:custGeom>
            <a:avLst/>
            <a:ahLst/>
            <a:rect l="l" t="t" r="r" b="b"/>
            <a:pathLst>
              <a:path w="9782384" h="3254866">
                <a:moveTo>
                  <a:pt x="0" y="0"/>
                </a:moveTo>
                <a:lnTo>
                  <a:pt x="9782384" y="0"/>
                </a:lnTo>
                <a:lnTo>
                  <a:pt x="9782384" y="3254867"/>
                </a:lnTo>
                <a:lnTo>
                  <a:pt x="0" y="325486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/>
            <a:stretch>
              <a:fillRect/>
            </a:stretch>
          </a:blipFill>
        </p:spPr>
      </p:sp>
      <p:sp>
        <p:nvSpPr>
          <p:cNvPr id="1048686" name="TextBox 5"/>
          <p:cNvSpPr txBox="1"/>
          <p:nvPr/>
        </p:nvSpPr>
        <p:spPr>
          <a:xfrm rot="312848">
            <a:off x="11194545" y="4568589"/>
            <a:ext cx="5634971" cy="2860973"/>
          </a:xfrm>
          <a:prstGeom prst="rect"/>
        </p:spPr>
        <p:txBody>
          <a:bodyPr anchor="t" bIns="0" lIns="0" rIns="0" rtlCol="0" tIns="0">
            <a:spAutoFit/>
          </a:bodyPr>
          <a:p>
            <a:pPr algn="l" indent="-306390" lvl="1" marL="612781">
              <a:lnSpc>
                <a:spcPts val="3973"/>
              </a:lnSpc>
              <a:spcBef>
                <a:spcPct val="0"/>
              </a:spcBef>
              <a:buFont typeface="Arial"/>
              <a:buChar char="•"/>
            </a:pPr>
            <a:r>
              <a:rPr sz="2838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Session Replay</a:t>
            </a:r>
          </a:p>
          <a:p>
            <a:pPr algn="l" indent="-306390" lvl="1" marL="612781">
              <a:lnSpc>
                <a:spcPts val="3973"/>
              </a:lnSpc>
              <a:spcBef>
                <a:spcPct val="0"/>
              </a:spcBef>
              <a:buFont typeface="Arial"/>
              <a:buChar char="•"/>
            </a:pPr>
            <a:r>
              <a:rPr sz="2838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Advanced Analytics</a:t>
            </a:r>
          </a:p>
          <a:p>
            <a:pPr algn="l" indent="-306390" lvl="1" marL="612781">
              <a:lnSpc>
                <a:spcPts val="3973"/>
              </a:lnSpc>
              <a:spcBef>
                <a:spcPct val="0"/>
              </a:spcBef>
              <a:buFont typeface="Arial"/>
              <a:buChar char="•"/>
            </a:pPr>
            <a:r>
              <a:rPr sz="2838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AI-based Behaviour Prediction</a:t>
            </a:r>
          </a:p>
          <a:p>
            <a:pPr algn="l" indent="-306390" lvl="1" marL="612781">
              <a:lnSpc>
                <a:spcPts val="3973"/>
              </a:lnSpc>
              <a:spcBef>
                <a:spcPct val="0"/>
              </a:spcBef>
              <a:buFont typeface="Arial"/>
              <a:buChar char="•"/>
            </a:pPr>
            <a:r>
              <a:rPr sz="2838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Mobile Support</a:t>
            </a:r>
          </a:p>
          <a:p>
            <a:pPr algn="l" indent="-306390" lvl="1" marL="612781">
              <a:lnSpc>
                <a:spcPts val="3973"/>
              </a:lnSpc>
              <a:spcBef>
                <a:spcPct val="0"/>
              </a:spcBef>
              <a:buFont typeface="Arial"/>
              <a:buChar char="•"/>
            </a:pPr>
            <a:r>
              <a:rPr sz="2838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Cloud Deployment</a:t>
            </a:r>
          </a:p>
          <a:p>
            <a:pPr algn="ctr" indent="0" lvl="0" marL="0">
              <a:lnSpc>
                <a:spcPts val="2993"/>
              </a:lnSpc>
              <a:spcBef>
                <a:spcPct val="0"/>
              </a:spcBef>
            </a:pPr>
            <a:endParaRPr sz="2838" lang="en-US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sp>
        <p:nvSpPr>
          <p:cNvPr id="1048687" name="TextBox 6"/>
          <p:cNvSpPr txBox="1"/>
          <p:nvPr/>
        </p:nvSpPr>
        <p:spPr>
          <a:xfrm>
            <a:off x="1964702" y="2548901"/>
            <a:ext cx="12768064" cy="611172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3685"/>
              </a:lnSpc>
              <a:spcBef>
                <a:spcPct val="0"/>
              </a:spcBef>
            </a:pP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Literature Review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Construct Map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System Workflow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Event Schema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MVP Architecture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Frontend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Backend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Database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Scoring Engine</a:t>
            </a:r>
          </a:p>
          <a:p>
            <a:pPr algn="l" indent="-410139" lvl="1" marL="820278">
              <a:lnSpc>
                <a:spcPts val="3685"/>
              </a:lnSpc>
              <a:buFont typeface="Arial"/>
              <a:buChar char="•"/>
            </a:pPr>
            <a:r>
              <a:rPr sz="3799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Admin Dashboard</a:t>
            </a:r>
          </a:p>
          <a:p>
            <a:pPr algn="l">
              <a:lnSpc>
                <a:spcPts val="3685"/>
              </a:lnSpc>
            </a:pPr>
            <a:endParaRPr sz="3799" lang="en-US" strike="noStrike" u="none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  <a:p>
            <a:pPr algn="l" indent="0" lvl="1" marL="0">
              <a:lnSpc>
                <a:spcPts val="3685"/>
              </a:lnSpc>
              <a:spcBef>
                <a:spcPct val="0"/>
              </a:spcBef>
            </a:pPr>
            <a:endParaRPr sz="3799" lang="en-US" strike="noStrike" u="none">
              <a:solidFill>
                <a:srgbClr val="000000"/>
              </a:solidFill>
              <a:latin typeface="Core Bandi Face"/>
              <a:ea typeface="Core Bandi Face"/>
              <a:cs typeface="Core Bandi Face"/>
              <a:sym typeface="Core Bandi Face"/>
            </a:endParaRPr>
          </a:p>
        </p:txBody>
      </p:sp>
      <p:sp>
        <p:nvSpPr>
          <p:cNvPr id="1048688" name="TextBox 7"/>
          <p:cNvSpPr txBox="1"/>
          <p:nvPr/>
        </p:nvSpPr>
        <p:spPr>
          <a:xfrm>
            <a:off x="923805" y="759420"/>
            <a:ext cx="9856313" cy="1455388"/>
          </a:xfrm>
          <a:prstGeom prst="rect"/>
        </p:spPr>
        <p:txBody>
          <a:bodyPr anchor="t" bIns="0" lIns="0" rIns="0" rtlCol="0" tIns="0">
            <a:spAutoFit/>
          </a:bodyPr>
          <a:p>
            <a:pPr algn="just" indent="0" lvl="1" marL="0">
              <a:lnSpc>
                <a:spcPts val="9247"/>
              </a:lnSpc>
            </a:pPr>
            <a:r>
              <a:rPr sz="994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CURRENT STATUS</a:t>
            </a:r>
          </a:p>
        </p:txBody>
      </p:sp>
      <p:sp>
        <p:nvSpPr>
          <p:cNvPr id="1048689" name="TextBox 8"/>
          <p:cNvSpPr txBox="1"/>
          <p:nvPr/>
        </p:nvSpPr>
        <p:spPr>
          <a:xfrm>
            <a:off x="2258723" y="8985198"/>
            <a:ext cx="9780501" cy="482846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3444"/>
              </a:lnSpc>
              <a:spcBef>
                <a:spcPct val="0"/>
              </a:spcBef>
            </a:pPr>
            <a:r>
              <a:rPr dirty="0" sz="3551" lang="en-US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Ov</a:t>
            </a:r>
            <a:r>
              <a:rPr dirty="0" sz="3551" lang="en-US" strike="noStrike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erall Progress : ~95–100% MVP Completed</a:t>
            </a:r>
          </a:p>
        </p:txBody>
      </p:sp>
      <p:sp>
        <p:nvSpPr>
          <p:cNvPr id="1048690" name="TextBox 8"/>
          <p:cNvSpPr txBox="1"/>
          <p:nvPr/>
        </p:nvSpPr>
        <p:spPr>
          <a:xfrm>
            <a:off x="2981430" y="9406177"/>
            <a:ext cx="8061822" cy="584775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</a:rPr>
              <a:t>Live Demo: </a:t>
            </a:r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  <a:hlinkClick r:id="rId1"/>
              </a:rPr>
              <a:t>https://</a:t>
            </a:r>
            <a:r>
              <a:rPr dirty="0" sz="3200" lang="en-US">
                <a:latin typeface="Core Bandi Face" panose="020B0604020202020204" charset="-127"/>
                <a:ea typeface="Core Bandi Face" panose="020B0604020202020204" charset="-127"/>
                <a:hlinkClick r:id="rId1"/>
              </a:rPr>
              <a:t>Acrisis-dispatcher</a:t>
            </a:r>
            <a:r>
              <a:rPr dirty="0" sz="2800" lang="en-US">
                <a:latin typeface="Core Bandi Face" panose="020B0604020202020204" charset="-127"/>
                <a:ea typeface="Core Bandi Face" panose="020B0604020202020204" charset="-127"/>
                <a:hlinkClick r:id="rId1"/>
              </a:rPr>
              <a:t>.vercel.app/</a:t>
            </a:r>
            <a:endParaRPr dirty="0" sz="2800" lang="en-US">
              <a:latin typeface="Core Bandi Face" panose="020B0604020202020204" charset="-127"/>
              <a:ea typeface="Core Bandi Face" panose="020B0604020202020204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Freeform 2"/>
          <p:cNvSpPr/>
          <p:nvPr/>
        </p:nvSpPr>
        <p:spPr>
          <a:xfrm>
            <a:off x="12697443" y="4601633"/>
            <a:ext cx="4252235" cy="4487847"/>
          </a:xfrm>
          <a:custGeom>
            <a:avLst/>
            <a:ahLst/>
            <a:rect l="l" t="t" r="r" b="b"/>
            <a:pathLst>
              <a:path w="4252235" h="4487847">
                <a:moveTo>
                  <a:pt x="0" y="0"/>
                </a:moveTo>
                <a:lnTo>
                  <a:pt x="4252235" y="0"/>
                </a:lnTo>
                <a:lnTo>
                  <a:pt x="4252235" y="4487847"/>
                </a:lnTo>
                <a:lnTo>
                  <a:pt x="0" y="448784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92" name="TextBox 3"/>
          <p:cNvSpPr txBox="1"/>
          <p:nvPr/>
        </p:nvSpPr>
        <p:spPr>
          <a:xfrm>
            <a:off x="1198325" y="4849766"/>
            <a:ext cx="14342762" cy="1455388"/>
          </a:xfrm>
          <a:prstGeom prst="rect"/>
        </p:spPr>
        <p:txBody>
          <a:bodyPr anchor="t" bIns="0" lIns="0" rIns="0" rtlCol="0" tIns="0">
            <a:spAutoFit/>
          </a:bodyPr>
          <a:p>
            <a:pPr algn="ctr" indent="0" lvl="1" marL="0">
              <a:lnSpc>
                <a:spcPts val="9247"/>
              </a:lnSpc>
              <a:spcBef>
                <a:spcPct val="0"/>
              </a:spcBef>
            </a:pPr>
            <a:r>
              <a:rPr sz="9943" lang="en-US">
                <a:solidFill>
                  <a:srgbClr val="45384A"/>
                </a:solidFill>
                <a:latin typeface="Handyman"/>
                <a:ea typeface="Handyman"/>
                <a:cs typeface="Handyman"/>
                <a:sym typeface="Handyman"/>
              </a:rPr>
              <a:t>THANK YOU</a:t>
            </a:r>
          </a:p>
        </p:txBody>
      </p:sp>
      <p:sp>
        <p:nvSpPr>
          <p:cNvPr id="1048693" name="Freeform 4"/>
          <p:cNvSpPr/>
          <p:nvPr/>
        </p:nvSpPr>
        <p:spPr>
          <a:xfrm>
            <a:off x="530945" y="3961147"/>
            <a:ext cx="4203096" cy="5128333"/>
          </a:xfrm>
          <a:custGeom>
            <a:avLst/>
            <a:ahLst/>
            <a:rect l="l" t="t" r="r" b="b"/>
            <a:pathLst>
              <a:path w="4203096" h="5128333">
                <a:moveTo>
                  <a:pt x="0" y="0"/>
                </a:moveTo>
                <a:lnTo>
                  <a:pt x="4203096" y="0"/>
                </a:lnTo>
                <a:lnTo>
                  <a:pt x="4203096" y="5128333"/>
                </a:lnTo>
                <a:lnTo>
                  <a:pt x="0" y="512833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Pink Playful Critical Thinking Presentation</dc:title>
  <dc:creator>Lakshmi Pramode</dc:creator>
  <cp:lastModifiedBy>Lakshmi Pramode</cp:lastModifiedBy>
  <dcterms:created xsi:type="dcterms:W3CDTF">2006-08-15T13:00:00Z</dcterms:created>
  <dcterms:modified xsi:type="dcterms:W3CDTF">2026-07-09T12:45:17Z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edcbb58a97dd44ff8f094fa8d456961b_23</vt:lpwstr>
  </property>
</Properties>
</file>