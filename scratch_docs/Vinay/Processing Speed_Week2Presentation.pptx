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League Spartan"/>
      <p:regular r:id="rId19"/>
      <p:bold r:id="rId20"/>
    </p:embeddedFont>
    <p:embeddedFont>
      <p:font typeface="Play"/>
      <p:regular r:id="rId21"/>
      <p:bold r:id="rId22"/>
    </p:embeddedFont>
    <p:embeddedFont>
      <p:font typeface="Tomorrow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+A8oygMTvpNz1DgsDrnS1a5wH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8DF3AA5-D1CA-4ACD-B3DD-D511F17DA4B4}">
  <a:tblStyle styleId="{28DF3AA5-D1CA-4ACD-B3DD-D511F17DA4B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agueSpartan-bold.fntdata"/><Relationship Id="rId22" Type="http://schemas.openxmlformats.org/officeDocument/2006/relationships/font" Target="fonts/Play-bold.fntdata"/><Relationship Id="rId21" Type="http://schemas.openxmlformats.org/officeDocument/2006/relationships/font" Target="fonts/Play-regular.fntdata"/><Relationship Id="rId24" Type="http://schemas.openxmlformats.org/officeDocument/2006/relationships/font" Target="fonts/Tomorrow-boldItalic.fntdata"/><Relationship Id="rId23" Type="http://schemas.openxmlformats.org/officeDocument/2006/relationships/font" Target="fonts/Tomo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eagueSpartan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6667" l="0" r="0" t="-166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72717" y="2616163"/>
            <a:ext cx="17342566" cy="2600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06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MentiScope Cognitive Assessment Platform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28700" y="6352229"/>
            <a:ext cx="16230600" cy="503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26">
                <a:solidFill>
                  <a:srgbClr val="EDEDE8"/>
                </a:solidFill>
                <a:latin typeface="Tomorrow"/>
                <a:ea typeface="Tomorrow"/>
                <a:cs typeface="Tomorrow"/>
                <a:sym typeface="Tomorrow"/>
              </a:rPr>
              <a:t>Visual Processing Speed (Gs) 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2344400" y="8115300"/>
            <a:ext cx="5029200" cy="1054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26">
                <a:solidFill>
                  <a:srgbClr val="EDEDE8"/>
                </a:solidFill>
                <a:latin typeface="Tomorrow"/>
                <a:ea typeface="Tomorrow"/>
                <a:cs typeface="Tomorrow"/>
                <a:sym typeface="Tomorrow"/>
              </a:rPr>
              <a:t>Vinay Kartheek Bathala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11" l="0" r="0" t="-51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p2"/>
          <p:cNvGraphicFramePr/>
          <p:nvPr/>
        </p:nvGraphicFramePr>
        <p:xfrm>
          <a:off x="1028700" y="18508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{28DF3AA5-D1CA-4ACD-B3DD-D511F17DA4B4}</a:tableStyleId>
              </a:tblPr>
              <a:tblGrid>
                <a:gridCol w="5410200"/>
                <a:gridCol w="5332950"/>
                <a:gridCol w="5487450"/>
              </a:tblGrid>
              <a:tr h="167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Old MVP Model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 Refined Model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1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 Scope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120-second open-ended session; unlimited trials.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20-trial hard limit (5 trials per module) within 120s limit.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24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1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 1 (Symbols)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Complex strings (3-4 characters); caused visual lag.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Simplified strings (2-3 characters); rapid identification.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1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Progression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risk of getting stuck on a single module.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Guaranteed coverage of all 4 modules (auto-advance).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6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1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Odometer Bounds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Negative math calculations could cause dial misalignment.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Odometer display capped at 0; preserves premium layout.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1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Integrity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Legacy database entries caused empty values on dashboards.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Auto-heal variable mapping for backwards compatibility.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2"/>
          <p:cNvSpPr txBox="1"/>
          <p:nvPr/>
        </p:nvSpPr>
        <p:spPr>
          <a:xfrm>
            <a:off x="1946186" y="179737"/>
            <a:ext cx="14395629" cy="2190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6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Prototype Evolution : </a:t>
            </a:r>
            <a:endParaRPr/>
          </a:p>
          <a:p>
            <a:pPr indent="0" lvl="0" marL="0" marR="0" rtl="0" algn="ctr">
              <a:lnSpc>
                <a:spcPct val="124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6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Old MVP vs New Refined Model</a:t>
            </a:r>
            <a:endParaRPr/>
          </a:p>
          <a:p>
            <a:pPr indent="0" lvl="0" marL="0" marR="0" rtl="0" algn="ctr">
              <a:lnSpc>
                <a:spcPct val="124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56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11" l="0" r="0" t="-51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984323" y="2366646"/>
            <a:ext cx="12686222" cy="2152536"/>
          </a:xfrm>
          <a:custGeom>
            <a:rect b="b" l="l" r="r" t="t"/>
            <a:pathLst>
              <a:path extrusionOk="0" h="2152536" w="12686222">
                <a:moveTo>
                  <a:pt x="0" y="0"/>
                </a:moveTo>
                <a:lnTo>
                  <a:pt x="12686222" y="0"/>
                </a:lnTo>
                <a:lnTo>
                  <a:pt x="12686222" y="2152535"/>
                </a:lnTo>
                <a:lnTo>
                  <a:pt x="0" y="21525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40099" l="-411" r="0" t="-25168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2207076" y="709965"/>
            <a:ext cx="14479156" cy="1892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6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Assessment Workflow &amp; Backend Pipeline</a:t>
            </a:r>
            <a:endParaRPr/>
          </a:p>
          <a:p>
            <a:pPr indent="0" lvl="0" marL="0" marR="0" rtl="0" algn="ctr">
              <a:lnSpc>
                <a:spcPct val="124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96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2009951" y="4359719"/>
            <a:ext cx="14873406" cy="2253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98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Adaptive Progression Tiers:</a:t>
            </a:r>
            <a:endParaRPr/>
          </a:p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98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Promotion : Streak of 3 correct answers advances difficulty level.</a:t>
            </a:r>
            <a:endParaRPr/>
          </a:p>
          <a:p>
            <a:pPr indent="0" lvl="0" marL="0" marR="0" rtl="0" algn="ctr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98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Demotion : Streak of 2 errors/timeouts demotes difficulty level.</a:t>
            </a:r>
            <a:endParaRPr/>
          </a:p>
          <a:p>
            <a:pPr indent="0" lvl="0" marL="0" marR="0" rtl="0" algn="ctr">
              <a:lnSpc>
                <a:spcPct val="1266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98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5388083" y="6587213"/>
            <a:ext cx="7511833" cy="606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83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98" u="sng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Psychometric Scoring Formula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209587" y="7303328"/>
            <a:ext cx="8934413" cy="1646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10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66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Composite Score=(0.30×PS)+(0.25×VSE)+(0.20×RC)+(0.25×SAT)Composite Score=(0.30×PS)+(0.25×VSE)+(0.20×RC)+(0.25×SAT)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9144000" y="7584856"/>
            <a:ext cx="9045176" cy="1800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21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4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Perceptual Speed (PS) </a:t>
            </a:r>
            <a:r>
              <a:rPr lang="en-US" sz="1654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: Matches completed relative to an 800ms baseline.</a:t>
            </a:r>
            <a:endParaRPr/>
          </a:p>
          <a:p>
            <a:pPr indent="0" lvl="0" marL="0" marR="0" rtl="0" algn="ctr">
              <a:lnSpc>
                <a:spcPct val="221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4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Visual Scanning (VSE) </a:t>
            </a:r>
            <a:r>
              <a:rPr lang="en-US" sz="1654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: Targeting speed measured before the first mouse click.</a:t>
            </a:r>
            <a:endParaRPr/>
          </a:p>
          <a:p>
            <a:pPr indent="0" lvl="0" marL="0" marR="0" rtl="0" algn="ctr">
              <a:lnSpc>
                <a:spcPct val="221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4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Rapid Classification (RC) </a:t>
            </a:r>
            <a:r>
              <a:rPr lang="en-US" sz="1654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: Accuracy weighted by average difficulty levels.</a:t>
            </a:r>
            <a:endParaRPr/>
          </a:p>
          <a:p>
            <a:pPr indent="0" lvl="0" marL="0" marR="0" rtl="0" algn="ctr">
              <a:lnSpc>
                <a:spcPct val="221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4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Speed-Accuracy Trade-off (SAT) </a:t>
            </a:r>
            <a:r>
              <a:rPr lang="en-US" sz="1654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: Response precision scaling under pacing pressure.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11" l="0" r="0" t="-51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2207076" y="1000125"/>
            <a:ext cx="14479156" cy="1263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6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Development Status &amp; Roadmap</a:t>
            </a:r>
            <a:endParaRPr/>
          </a:p>
          <a:p>
            <a:pPr indent="0" lvl="0" marL="0" marR="0" rtl="0" algn="ctr">
              <a:lnSpc>
                <a:spcPct val="124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96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4529220" y="2168416"/>
            <a:ext cx="9229560" cy="440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83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98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Current A</a:t>
            </a:r>
            <a:r>
              <a:rPr b="1" lang="en-US" sz="2298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chievements and Next-Stage Prototype Priorities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1028700" y="2879179"/>
            <a:ext cx="16230600" cy="3070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98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What's Completed (Active Prototype):</a:t>
            </a:r>
            <a:endParaRPr/>
          </a:p>
          <a:p>
            <a:pPr indent="-215722" lvl="1" marL="431444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98"/>
              <a:buFont typeface="Arial"/>
              <a:buChar char="•"/>
            </a:pPr>
            <a:r>
              <a:rPr b="1" i="0" lang="en-US" sz="1998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Fully functional adaptive difficulty loop across 4 distinct modules.</a:t>
            </a:r>
            <a:endParaRPr/>
          </a:p>
          <a:p>
            <a:pPr indent="-215722" lvl="1" marL="431444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98"/>
              <a:buFont typeface="Arial"/>
              <a:buChar char="•"/>
            </a:pPr>
            <a:r>
              <a:rPr b="1" i="0" lang="en-US" sz="1998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Visual progress tracker (Q: X/20) and capped odometer.</a:t>
            </a:r>
            <a:endParaRPr/>
          </a:p>
          <a:p>
            <a:pPr indent="-215722" lvl="1" marL="431444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98"/>
              <a:buFont typeface="Arial"/>
              <a:buChar char="•"/>
            </a:pPr>
            <a:r>
              <a:rPr b="1" i="0" lang="en-US" sz="1998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Dynamic admin panels featuring real-time leaderboard, database tab views, SQL/CSV data exporters, and interactive developer documentation.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1028700" y="6216376"/>
            <a:ext cx="16230600" cy="3699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98" u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Next Steps &amp; Roadmap:</a:t>
            </a:r>
            <a:endParaRPr/>
          </a:p>
          <a:p>
            <a:pPr indent="-215722" lvl="1" marL="431444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98"/>
              <a:buFont typeface="Arial"/>
              <a:buChar char="•"/>
            </a:pPr>
            <a:r>
              <a:rPr b="1" i="0" lang="en-US" sz="1998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Phase 1: Student Cohort Norming: Run pilot trials with 100+ students to establish localized processing speed percentiles.</a:t>
            </a:r>
            <a:endParaRPr/>
          </a:p>
          <a:p>
            <a:pPr indent="-215722" lvl="1" marL="431444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98"/>
              <a:buFont typeface="Arial"/>
              <a:buChar char="•"/>
            </a:pPr>
            <a:r>
              <a:rPr b="1" i="0" lang="en-US" sz="1998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Phase 2: Mobile Interface Tuning: Optimize matrix layout and tap targets for tablets and mobile viewports.</a:t>
            </a:r>
            <a:endParaRPr/>
          </a:p>
          <a:p>
            <a:pPr indent="-215722" lvl="1" marL="431444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98"/>
              <a:buFont typeface="Arial"/>
              <a:buChar char="•"/>
            </a:pPr>
            <a:r>
              <a:rPr b="1" i="0" lang="en-US" sz="1998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Phase 3: Cognitive Integration: Link student recommendations with specific learning management system (LMS) modules.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11" l="0" r="0" t="-51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3651870" y="1521233"/>
            <a:ext cx="10984260" cy="634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6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1028700" y="2719402"/>
            <a:ext cx="16376400" cy="7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1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 Robust, Scientifically-Aligned Processing Speed Engine</a:t>
            </a:r>
            <a:endParaRPr/>
          </a:p>
          <a:p>
            <a:pPr indent="-228588" lvl="1" marL="457176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117"/>
              <a:buFont typeface="Arial"/>
              <a:buChar char="•"/>
            </a:pPr>
            <a:r>
              <a:rPr b="1" i="0" lang="en-US" sz="2117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Minimized Construct Contamination: Short strings (&lt;= 4 chars) ensure scores represent scanning speed, not working memory span.</a:t>
            </a:r>
            <a:endParaRPr/>
          </a:p>
          <a:p>
            <a:pPr indent="-228588" lvl="1" marL="457176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117"/>
              <a:buFont typeface="Arial"/>
              <a:buChar char="•"/>
            </a:pPr>
            <a:r>
              <a:rPr b="1" i="0" lang="en-US" sz="2117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Enhanced Engagement: 20-trial </a:t>
            </a:r>
            <a:r>
              <a:rPr b="1" lang="en-US" sz="211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hardbound</a:t>
            </a:r>
            <a:r>
              <a:rPr b="1" i="0" lang="en-US" sz="2117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limits visual fatigue while retaining statistical significance </a:t>
            </a:r>
            <a:endParaRPr/>
          </a:p>
          <a:p>
            <a:pPr indent="0" lvl="0" marL="0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17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          (r≥0.80 split-half reliability).</a:t>
            </a:r>
            <a:endParaRPr/>
          </a:p>
          <a:p>
            <a:pPr indent="-228588" lvl="1" marL="457176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117"/>
              <a:buFont typeface="Arial"/>
              <a:buChar char="•"/>
            </a:pPr>
            <a:r>
              <a:rPr b="1" i="0" lang="en-US" sz="2117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Actionable Interventions: Automates student profiling into 4 cognitive archetypes (e.g. Efficient, Impulsive, Meticulous) with targeted learning recommendations.</a:t>
            </a:r>
            <a:endParaRPr/>
          </a:p>
          <a:p>
            <a:pPr indent="-228588" lvl="1" marL="457176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117"/>
              <a:buFont typeface="Arial"/>
              <a:buChar char="•"/>
            </a:pPr>
            <a:r>
              <a:rPr b="1" i="0" lang="en-US" sz="2117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Developer Ready: Exposes structured SDK clickstream events and compliance schemas for instant database export.</a:t>
            </a:r>
            <a:endParaRPr/>
          </a:p>
          <a:p>
            <a:pPr indent="0" lvl="0" marL="0" marR="0" rtl="0" algn="l">
              <a:lnSpc>
                <a:spcPct val="25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17">
              <a:solidFill>
                <a:srgbClr val="C9C9C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11" l="0" r="0" t="-51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0" y="0"/>
            <a:ext cx="6476162" cy="10066097"/>
          </a:xfrm>
          <a:custGeom>
            <a:rect b="b" l="l" r="r" t="t"/>
            <a:pathLst>
              <a:path extrusionOk="0" h="10066097" w="6476162">
                <a:moveTo>
                  <a:pt x="0" y="0"/>
                </a:moveTo>
                <a:lnTo>
                  <a:pt x="6476162" y="0"/>
                </a:lnTo>
                <a:lnTo>
                  <a:pt x="6476162" y="10066097"/>
                </a:lnTo>
                <a:lnTo>
                  <a:pt x="0" y="100660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867407" y="616578"/>
            <a:ext cx="10662274" cy="5095625"/>
          </a:xfrm>
          <a:custGeom>
            <a:rect b="b" l="l" r="r" t="t"/>
            <a:pathLst>
              <a:path extrusionOk="0" h="5095625" w="10662274">
                <a:moveTo>
                  <a:pt x="0" y="0"/>
                </a:moveTo>
                <a:lnTo>
                  <a:pt x="10662274" y="0"/>
                </a:lnTo>
                <a:lnTo>
                  <a:pt x="10662274" y="5095625"/>
                </a:lnTo>
                <a:lnTo>
                  <a:pt x="0" y="5095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214930" y="5825053"/>
            <a:ext cx="9967228" cy="4461944"/>
          </a:xfrm>
          <a:custGeom>
            <a:rect b="b" l="l" r="r" t="t"/>
            <a:pathLst>
              <a:path extrusionOk="0" h="4461944" w="9967228">
                <a:moveTo>
                  <a:pt x="0" y="0"/>
                </a:moveTo>
                <a:lnTo>
                  <a:pt x="9967228" y="0"/>
                </a:lnTo>
                <a:lnTo>
                  <a:pt x="9967228" y="4461944"/>
                </a:lnTo>
                <a:lnTo>
                  <a:pt x="0" y="4461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8960490" y="242831"/>
            <a:ext cx="6476100" cy="10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475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OLD MVP</a:t>
            </a:r>
            <a:endParaRPr sz="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11" l="0" r="0" t="-511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184879" y="1028700"/>
            <a:ext cx="5665997" cy="8229600"/>
          </a:xfrm>
          <a:custGeom>
            <a:rect b="b" l="l" r="r" t="t"/>
            <a:pathLst>
              <a:path extrusionOk="0" h="8229600" w="5665997">
                <a:moveTo>
                  <a:pt x="0" y="0"/>
                </a:moveTo>
                <a:lnTo>
                  <a:pt x="5665997" y="0"/>
                </a:lnTo>
                <a:lnTo>
                  <a:pt x="566599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984226" y="1609336"/>
            <a:ext cx="5515982" cy="7045544"/>
          </a:xfrm>
          <a:custGeom>
            <a:rect b="b" l="l" r="r" t="t"/>
            <a:pathLst>
              <a:path extrusionOk="0" h="7045544" w="5515982">
                <a:moveTo>
                  <a:pt x="0" y="0"/>
                </a:moveTo>
                <a:lnTo>
                  <a:pt x="5515982" y="0"/>
                </a:lnTo>
                <a:lnTo>
                  <a:pt x="5515982" y="7045543"/>
                </a:lnTo>
                <a:lnTo>
                  <a:pt x="0" y="70455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1633558" y="2285753"/>
            <a:ext cx="6536563" cy="5715494"/>
          </a:xfrm>
          <a:custGeom>
            <a:rect b="b" l="l" r="r" t="t"/>
            <a:pathLst>
              <a:path extrusionOk="0" h="5715494" w="6536563">
                <a:moveTo>
                  <a:pt x="0" y="0"/>
                </a:moveTo>
                <a:lnTo>
                  <a:pt x="6536563" y="0"/>
                </a:lnTo>
                <a:lnTo>
                  <a:pt x="6536563" y="5715494"/>
                </a:lnTo>
                <a:lnTo>
                  <a:pt x="0" y="5715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6570674" y="254874"/>
            <a:ext cx="4097700" cy="13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475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OLD MVP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0"/>
            <a:ext cx="18268510" cy="10503845"/>
          </a:xfrm>
          <a:custGeom>
            <a:rect b="b" l="l" r="r" t="t"/>
            <a:pathLst>
              <a:path extrusionOk="0" h="9441658" w="17565875">
                <a:moveTo>
                  <a:pt x="0" y="0"/>
                </a:moveTo>
                <a:lnTo>
                  <a:pt x="17565874" y="0"/>
                </a:lnTo>
                <a:lnTo>
                  <a:pt x="17565874" y="9441658"/>
                </a:lnTo>
                <a:lnTo>
                  <a:pt x="0" y="94416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6629399" y="0"/>
            <a:ext cx="54948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3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NEW MVP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194310"/>
            <a:ext cx="18288000" cy="9898380"/>
          </a:xfrm>
          <a:custGeom>
            <a:rect b="b" l="l" r="r" t="t"/>
            <a:pathLst>
              <a:path extrusionOk="0" h="9898380" w="18288000">
                <a:moveTo>
                  <a:pt x="0" y="0"/>
                </a:moveTo>
                <a:lnTo>
                  <a:pt x="18288000" y="0"/>
                </a:lnTo>
                <a:lnTo>
                  <a:pt x="18288000" y="9898380"/>
                </a:lnTo>
                <a:lnTo>
                  <a:pt x="0" y="98983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10" l="0" r="0" t="-51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2368050" y="264901"/>
            <a:ext cx="14004584" cy="9805038"/>
          </a:xfrm>
          <a:custGeom>
            <a:rect b="b" l="l" r="r" t="t"/>
            <a:pathLst>
              <a:path extrusionOk="0" h="9805038" w="12021102">
                <a:moveTo>
                  <a:pt x="0" y="0"/>
                </a:moveTo>
                <a:lnTo>
                  <a:pt x="12021102" y="0"/>
                </a:lnTo>
                <a:lnTo>
                  <a:pt x="12021102" y="9805038"/>
                </a:lnTo>
                <a:lnTo>
                  <a:pt x="0" y="9805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10" l="0" r="0" t="-51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2848881" y="228133"/>
            <a:ext cx="12590237" cy="9830733"/>
          </a:xfrm>
          <a:custGeom>
            <a:rect b="b" l="l" r="r" t="t"/>
            <a:pathLst>
              <a:path extrusionOk="0" h="9830733" w="12590237">
                <a:moveTo>
                  <a:pt x="0" y="0"/>
                </a:moveTo>
                <a:lnTo>
                  <a:pt x="12590238" y="0"/>
                </a:lnTo>
                <a:lnTo>
                  <a:pt x="12590238" y="9830734"/>
                </a:lnTo>
                <a:lnTo>
                  <a:pt x="0" y="9830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10" l="0" r="0" t="-51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 txBox="1"/>
          <p:nvPr/>
        </p:nvSpPr>
        <p:spPr>
          <a:xfrm>
            <a:off x="3436346" y="3954150"/>
            <a:ext cx="11415300" cy="23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53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